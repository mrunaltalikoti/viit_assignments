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  <p:embeddedFont>
      <p:font typeface="Liter" charset="-122" pitchFamily="34"/>
      <p:regular r:id="rId21"/>
    </p:embeddedFont>
    <p:embeddedFont>
      <p:font typeface="Mi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agaboutit.com/8ced1aa64ed7315070e516bce473505e8f42443e.jpe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7C59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14350" y="1009650"/>
            <a:ext cx="5422900" cy="520700"/>
          </a:xfrm>
          <a:custGeom>
            <a:avLst/>
            <a:gdLst/>
            <a:ahLst/>
            <a:cxnLst/>
            <a:rect l="l" t="t" r="r" b="b"/>
            <a:pathLst>
              <a:path w="5422900" h="520700">
                <a:moveTo>
                  <a:pt x="101599" y="0"/>
                </a:moveTo>
                <a:lnTo>
                  <a:pt x="5321301" y="0"/>
                </a:lnTo>
                <a:cubicBezTo>
                  <a:pt x="5377413" y="0"/>
                  <a:pt x="5422900" y="45487"/>
                  <a:pt x="5422900" y="101599"/>
                </a:cubicBezTo>
                <a:lnTo>
                  <a:pt x="5422900" y="419101"/>
                </a:lnTo>
                <a:cubicBezTo>
                  <a:pt x="5422900" y="475213"/>
                  <a:pt x="5377413" y="520700"/>
                  <a:pt x="5321301" y="520700"/>
                </a:cubicBezTo>
                <a:lnTo>
                  <a:pt x="101599" y="520700"/>
                </a:lnTo>
                <a:cubicBezTo>
                  <a:pt x="45487" y="520700"/>
                  <a:pt x="0" y="475213"/>
                  <a:pt x="0" y="4191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270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74700" y="1143000"/>
            <a:ext cx="500978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× PERSONAL KNOWLEDGE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1943100"/>
            <a:ext cx="15849600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Retrieval-Augmented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4A7C5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Personalization</a:t>
            </a:r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of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96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8000" y="5816600"/>
            <a:ext cx="2032000" cy="76200"/>
          </a:xfrm>
          <a:custGeom>
            <a:avLst/>
            <a:gdLst/>
            <a:ahLst/>
            <a:cxnLst/>
            <a:rect l="l" t="t" r="r" b="b"/>
            <a:pathLst>
              <a:path w="2032000" h="76200">
                <a:moveTo>
                  <a:pt x="0" y="0"/>
                </a:moveTo>
                <a:lnTo>
                  <a:pt x="2032000" y="0"/>
                </a:lnTo>
                <a:lnTo>
                  <a:pt x="20320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4A7C59"/>
              </a:gs>
              <a:gs pos="5000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508000" y="6299200"/>
            <a:ext cx="115697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Transforming Personal Knowledge into Intelligent,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Context-Aware AI Assistants via Obsidian Vaults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802005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080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Shape 8"/>
          <p:cNvSpPr/>
          <p:nvPr/>
        </p:nvSpPr>
        <p:spPr>
          <a:xfrm>
            <a:off x="8636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Shape 9"/>
          <p:cNvSpPr/>
          <p:nvPr/>
        </p:nvSpPr>
        <p:spPr>
          <a:xfrm>
            <a:off x="1219200" y="840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3" name="Text 10"/>
          <p:cNvSpPr/>
          <p:nvPr/>
        </p:nvSpPr>
        <p:spPr>
          <a:xfrm>
            <a:off x="12720836" y="8331200"/>
            <a:ext cx="312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March 2026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• Technical Deep Dive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 ROADMAP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65200"/>
            <a:ext cx="1562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Agenda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930400"/>
            <a:ext cx="1625600" cy="76200"/>
          </a:xfrm>
          <a:custGeom>
            <a:avLst/>
            <a:gdLst/>
            <a:ahLst/>
            <a:cxnLst/>
            <a:rect l="l" t="t" r="r" b="b"/>
            <a:pathLst>
              <a:path w="1625600" h="76200">
                <a:moveTo>
                  <a:pt x="0" y="0"/>
                </a:moveTo>
                <a:lnTo>
                  <a:pt x="1625600" y="0"/>
                </a:lnTo>
                <a:lnTo>
                  <a:pt x="16256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14350" y="2317750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5500" y="2628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Text 5"/>
          <p:cNvSpPr/>
          <p:nvPr/>
        </p:nvSpPr>
        <p:spPr>
          <a:xfrm>
            <a:off x="749300" y="26289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9900" y="2628900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Personalization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9900" y="3175000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generic AI agents fail to deliver meaningful assistance and the critical gap between public LLM training data and personal context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4350" y="4510683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5500" y="482183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300" y="4821833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9900" y="4821833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Technical Foundation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9900" y="5367933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architecture of Retrieval-Augmented Generation: embeddings, vector search, semantic similarity, and context injection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4350" y="6703616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1270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500" y="701476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7" name="Text 15"/>
          <p:cNvSpPr/>
          <p:nvPr/>
        </p:nvSpPr>
        <p:spPr>
          <a:xfrm>
            <a:off x="749300" y="7014766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9900" y="7014766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Obsidian Vault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9900" y="7560866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Obsidian's markdown-based, local-first vault structure is ideal for AI personalization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61350" y="2317750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72500" y="26289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8496300" y="2628900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86900" y="2628900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Architecture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86900" y="3175000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Multi-layered memory systems: session vs global memory, distillation, consolidation, and injection patterns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61350" y="4510683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72500" y="482183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8496300" y="4821833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86900" y="4821833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Patterns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86900" y="5367933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pathways: MCP Tools, Local REST API, Claude Code integration, and security considerations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61350" y="6703616"/>
            <a:ext cx="7480300" cy="1930400"/>
          </a:xfrm>
          <a:custGeom>
            <a:avLst/>
            <a:gdLst/>
            <a:ahLst/>
            <a:cxnLst/>
            <a:rect l="l" t="t" r="r" b="b"/>
            <a:pathLst>
              <a:path w="7480300" h="1930400">
                <a:moveTo>
                  <a:pt x="152405" y="0"/>
                </a:moveTo>
                <a:lnTo>
                  <a:pt x="7327895" y="0"/>
                </a:lnTo>
                <a:cubicBezTo>
                  <a:pt x="7412066" y="0"/>
                  <a:pt x="7480300" y="68234"/>
                  <a:pt x="7480300" y="152405"/>
                </a:cubicBezTo>
                <a:lnTo>
                  <a:pt x="7480300" y="1777995"/>
                </a:lnTo>
                <a:cubicBezTo>
                  <a:pt x="7480300" y="1862166"/>
                  <a:pt x="7412066" y="1930400"/>
                  <a:pt x="7327895" y="1930400"/>
                </a:cubicBezTo>
                <a:lnTo>
                  <a:pt x="152405" y="1930400"/>
                </a:lnTo>
                <a:cubicBezTo>
                  <a:pt x="68234" y="1930400"/>
                  <a:pt x="0" y="1862166"/>
                  <a:pt x="0" y="1777995"/>
                </a:cubicBezTo>
                <a:lnTo>
                  <a:pt x="0" y="152405"/>
                </a:lnTo>
                <a:cubicBezTo>
                  <a:pt x="0" y="68234"/>
                  <a:pt x="68234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 w="1270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72500" y="7014766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2" name="Text 30"/>
          <p:cNvSpPr/>
          <p:nvPr/>
        </p:nvSpPr>
        <p:spPr>
          <a:xfrm>
            <a:off x="8496300" y="7014766"/>
            <a:ext cx="8636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86900" y="7014766"/>
            <a:ext cx="6096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Applications &amp; Future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86900" y="7560866"/>
            <a:ext cx="6045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use cases, plugin ecosystem comparison, and the future of personal AI assistants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Personalization Challenge: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Generic AI Falls Short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5908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895600"/>
            <a:ext cx="8216900" cy="3263900"/>
          </a:xfrm>
          <a:custGeom>
            <a:avLst/>
            <a:gdLst/>
            <a:ahLst/>
            <a:cxnLst/>
            <a:rect l="l" t="t" r="r" b="b"/>
            <a:pathLst>
              <a:path w="8216900" h="3263900">
                <a:moveTo>
                  <a:pt x="0" y="0"/>
                </a:moveTo>
                <a:lnTo>
                  <a:pt x="8064509" y="0"/>
                </a:lnTo>
                <a:cubicBezTo>
                  <a:pt x="8148672" y="0"/>
                  <a:pt x="8216900" y="68228"/>
                  <a:pt x="8216900" y="152391"/>
                </a:cubicBezTo>
                <a:lnTo>
                  <a:pt x="8216900" y="3111509"/>
                </a:lnTo>
                <a:cubicBezTo>
                  <a:pt x="8216900" y="3195672"/>
                  <a:pt x="8148672" y="3263900"/>
                  <a:pt x="8064509" y="3263900"/>
                </a:cubicBezTo>
                <a:lnTo>
                  <a:pt x="0" y="3263900"/>
                </a:lnTo>
                <a:lnTo>
                  <a:pt x="0" y="0"/>
                </a:ln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895600"/>
            <a:ext cx="50800" cy="3263900"/>
          </a:xfrm>
          <a:custGeom>
            <a:avLst/>
            <a:gdLst/>
            <a:ahLst/>
            <a:cxnLst/>
            <a:rect l="l" t="t" r="r" b="b"/>
            <a:pathLst>
              <a:path w="50800" h="3263900">
                <a:moveTo>
                  <a:pt x="0" y="0"/>
                </a:moveTo>
                <a:lnTo>
                  <a:pt x="50800" y="0"/>
                </a:lnTo>
                <a:lnTo>
                  <a:pt x="50800" y="3263900"/>
                </a:lnTo>
                <a:lnTo>
                  <a:pt x="0" y="32639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850900" y="31940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346200" y="3149600"/>
            <a:ext cx="27051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Core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695700"/>
            <a:ext cx="7785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without personal context produce generic responses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fail to understand individual work styles, preferences, and domain expertise. Each session starts from zero, creating frustrating, repetitive interactions.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838700"/>
            <a:ext cx="2463800" cy="1066800"/>
          </a:xfrm>
          <a:custGeom>
            <a:avLst/>
            <a:gdLst/>
            <a:ahLst/>
            <a:cxnLst/>
            <a:rect l="l" t="t" r="r" b="b"/>
            <a:pathLst>
              <a:path w="2463800" h="1066800">
                <a:moveTo>
                  <a:pt x="101602" y="0"/>
                </a:moveTo>
                <a:lnTo>
                  <a:pt x="2362198" y="0"/>
                </a:lnTo>
                <a:cubicBezTo>
                  <a:pt x="2418311" y="0"/>
                  <a:pt x="2463800" y="45489"/>
                  <a:pt x="2463800" y="101602"/>
                </a:cubicBezTo>
                <a:lnTo>
                  <a:pt x="2463800" y="965198"/>
                </a:lnTo>
                <a:cubicBezTo>
                  <a:pt x="2463800" y="1021311"/>
                  <a:pt x="2418311" y="1066800"/>
                  <a:pt x="2362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9950" y="4991100"/>
            <a:ext cx="23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0750" y="5499100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Continuity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24634" y="4838700"/>
            <a:ext cx="2463800" cy="1066800"/>
          </a:xfrm>
          <a:custGeom>
            <a:avLst/>
            <a:gdLst/>
            <a:ahLst/>
            <a:cxnLst/>
            <a:rect l="l" t="t" r="r" b="b"/>
            <a:pathLst>
              <a:path w="2463800" h="1066800">
                <a:moveTo>
                  <a:pt x="101602" y="0"/>
                </a:moveTo>
                <a:lnTo>
                  <a:pt x="2362198" y="0"/>
                </a:lnTo>
                <a:cubicBezTo>
                  <a:pt x="2418311" y="0"/>
                  <a:pt x="2463800" y="45489"/>
                  <a:pt x="2463800" y="101602"/>
                </a:cubicBezTo>
                <a:lnTo>
                  <a:pt x="2463800" y="965198"/>
                </a:lnTo>
                <a:cubicBezTo>
                  <a:pt x="2463800" y="1021311"/>
                  <a:pt x="2418311" y="1066800"/>
                  <a:pt x="2362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81784" y="4991100"/>
            <a:ext cx="23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2584" y="5499100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 Quality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36667" y="4838700"/>
            <a:ext cx="2463800" cy="1066800"/>
          </a:xfrm>
          <a:custGeom>
            <a:avLst/>
            <a:gdLst/>
            <a:ahLst/>
            <a:cxnLst/>
            <a:rect l="l" t="t" r="r" b="b"/>
            <a:pathLst>
              <a:path w="2463800" h="1066800">
                <a:moveTo>
                  <a:pt x="101602" y="0"/>
                </a:moveTo>
                <a:lnTo>
                  <a:pt x="2362198" y="0"/>
                </a:lnTo>
                <a:cubicBezTo>
                  <a:pt x="2418311" y="0"/>
                  <a:pt x="2463800" y="45489"/>
                  <a:pt x="2463800" y="101602"/>
                </a:cubicBezTo>
                <a:lnTo>
                  <a:pt x="2463800" y="965198"/>
                </a:lnTo>
                <a:cubicBezTo>
                  <a:pt x="2463800" y="1021311"/>
                  <a:pt x="2418311" y="1066800"/>
                  <a:pt x="23621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093817" y="4991100"/>
            <a:ext cx="23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4617" y="5499100"/>
            <a:ext cx="224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Friction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6362700"/>
            <a:ext cx="8242300" cy="4419600"/>
          </a:xfrm>
          <a:custGeom>
            <a:avLst/>
            <a:gdLst/>
            <a:ahLst/>
            <a:cxnLst/>
            <a:rect l="l" t="t" r="r" b="b"/>
            <a:pathLst>
              <a:path w="8242300" h="4419600">
                <a:moveTo>
                  <a:pt x="152388" y="0"/>
                </a:moveTo>
                <a:lnTo>
                  <a:pt x="8089912" y="0"/>
                </a:lnTo>
                <a:cubicBezTo>
                  <a:pt x="8174074" y="0"/>
                  <a:pt x="8242300" y="68226"/>
                  <a:pt x="8242300" y="152388"/>
                </a:cubicBezTo>
                <a:lnTo>
                  <a:pt x="8242300" y="4267212"/>
                </a:lnTo>
                <a:cubicBezTo>
                  <a:pt x="8242300" y="4351374"/>
                  <a:pt x="8174074" y="4419600"/>
                  <a:pt x="8089912" y="4419600"/>
                </a:cubicBezTo>
                <a:lnTo>
                  <a:pt x="152388" y="4419600"/>
                </a:lnTo>
                <a:cubicBezTo>
                  <a:pt x="68226" y="4419600"/>
                  <a:pt x="0" y="4351374"/>
                  <a:pt x="0" y="4267212"/>
                </a:cubicBezTo>
                <a:lnTo>
                  <a:pt x="0" y="152388"/>
                </a:lnTo>
                <a:cubicBezTo>
                  <a:pt x="0" y="68283"/>
                  <a:pt x="68283" y="0"/>
                  <a:pt x="152388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93750" y="666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1" name="Text 19"/>
          <p:cNvSpPr/>
          <p:nvPr/>
        </p:nvSpPr>
        <p:spPr>
          <a:xfrm>
            <a:off x="1079500" y="6616700"/>
            <a:ext cx="754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Limitations of Generic AI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72009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01700" y="73152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4" name="Text 22"/>
          <p:cNvSpPr/>
          <p:nvPr/>
        </p:nvSpPr>
        <p:spPr>
          <a:xfrm>
            <a:off x="1320800" y="7175500"/>
            <a:ext cx="728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Memory Across Sessions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20800" y="7581900"/>
            <a:ext cx="7277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conversation starts fresh. The agent cannot remember your preferences, past decisions, or established context from previous interactions.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8369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01700" y="84836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" y="8343900"/>
            <a:ext cx="728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Lack of Domain Context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20800" y="8750300"/>
            <a:ext cx="7277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Trained on public data, LLMs miss your specialized knowledge: project details, research notes, personal insights, and organizational context.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95377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0"/>
                </a:moveTo>
                <a:lnTo>
                  <a:pt x="304800" y="0"/>
                </a:lnTo>
                <a:cubicBezTo>
                  <a:pt x="360875" y="0"/>
                  <a:pt x="406400" y="45525"/>
                  <a:pt x="406400" y="101600"/>
                </a:cubicBezTo>
                <a:lnTo>
                  <a:pt x="406400" y="304800"/>
                </a:lnTo>
                <a:cubicBezTo>
                  <a:pt x="406400" y="360875"/>
                  <a:pt x="360875" y="406400"/>
                  <a:pt x="304800" y="406400"/>
                </a:cubicBezTo>
                <a:lnTo>
                  <a:pt x="101600" y="406400"/>
                </a:lnTo>
                <a:cubicBezTo>
                  <a:pt x="45525" y="406400"/>
                  <a:pt x="0" y="360875"/>
                  <a:pt x="0" y="3048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01700" y="9652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19134" y="25489"/>
                </a:moveTo>
                <a:cubicBezTo>
                  <a:pt x="14794" y="21148"/>
                  <a:pt x="7744" y="21148"/>
                  <a:pt x="3403" y="25489"/>
                </a:cubicBezTo>
                <a:cubicBezTo>
                  <a:pt x="-938" y="29830"/>
                  <a:pt x="-938" y="36880"/>
                  <a:pt x="3403" y="41220"/>
                </a:cubicBezTo>
                <a:lnTo>
                  <a:pt x="51117" y="88900"/>
                </a:lnTo>
                <a:lnTo>
                  <a:pt x="3438" y="136614"/>
                </a:lnTo>
                <a:cubicBezTo>
                  <a:pt x="-903" y="140955"/>
                  <a:pt x="-903" y="148005"/>
                  <a:pt x="3438" y="152345"/>
                </a:cubicBezTo>
                <a:cubicBezTo>
                  <a:pt x="7779" y="156686"/>
                  <a:pt x="14828" y="156686"/>
                  <a:pt x="19169" y="152345"/>
                </a:cubicBezTo>
                <a:lnTo>
                  <a:pt x="66849" y="104631"/>
                </a:lnTo>
                <a:lnTo>
                  <a:pt x="114563" y="152311"/>
                </a:lnTo>
                <a:cubicBezTo>
                  <a:pt x="118904" y="156652"/>
                  <a:pt x="125953" y="156652"/>
                  <a:pt x="130294" y="152311"/>
                </a:cubicBezTo>
                <a:cubicBezTo>
                  <a:pt x="134635" y="147970"/>
                  <a:pt x="134635" y="140920"/>
                  <a:pt x="130294" y="136580"/>
                </a:cubicBezTo>
                <a:lnTo>
                  <a:pt x="82580" y="88900"/>
                </a:lnTo>
                <a:lnTo>
                  <a:pt x="130259" y="41186"/>
                </a:lnTo>
                <a:cubicBezTo>
                  <a:pt x="134600" y="36845"/>
                  <a:pt x="134600" y="29795"/>
                  <a:pt x="130259" y="25455"/>
                </a:cubicBezTo>
                <a:cubicBezTo>
                  <a:pt x="125919" y="21114"/>
                  <a:pt x="118869" y="21114"/>
                  <a:pt x="114528" y="25455"/>
                </a:cubicBezTo>
                <a:lnTo>
                  <a:pt x="66849" y="73169"/>
                </a:lnTo>
                <a:lnTo>
                  <a:pt x="19134" y="25489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2" name="Text 30"/>
          <p:cNvSpPr/>
          <p:nvPr/>
        </p:nvSpPr>
        <p:spPr>
          <a:xfrm>
            <a:off x="1320800" y="9512300"/>
            <a:ext cx="728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Inability to Learn Preferences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20800" y="9918700"/>
            <a:ext cx="7277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adapt to your communication style, formatting preferences, or evolving requirements over time.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10650" y="2901950"/>
            <a:ext cx="6731000" cy="4330700"/>
          </a:xfrm>
          <a:custGeom>
            <a:avLst/>
            <a:gdLst/>
            <a:ahLst/>
            <a:cxnLst/>
            <a:rect l="l" t="t" r="r" b="b"/>
            <a:pathLst>
              <a:path w="6731000" h="4330700">
                <a:moveTo>
                  <a:pt x="152397" y="0"/>
                </a:moveTo>
                <a:lnTo>
                  <a:pt x="6578603" y="0"/>
                </a:lnTo>
                <a:cubicBezTo>
                  <a:pt x="6662769" y="0"/>
                  <a:pt x="6731000" y="68231"/>
                  <a:pt x="6731000" y="152397"/>
                </a:cubicBezTo>
                <a:lnTo>
                  <a:pt x="6731000" y="4178303"/>
                </a:lnTo>
                <a:cubicBezTo>
                  <a:pt x="6731000" y="4262469"/>
                  <a:pt x="6662769" y="4330700"/>
                  <a:pt x="6578603" y="4330700"/>
                </a:cubicBezTo>
                <a:lnTo>
                  <a:pt x="152397" y="4330700"/>
                </a:lnTo>
                <a:cubicBezTo>
                  <a:pt x="68231" y="4330700"/>
                  <a:pt x="0" y="4262469"/>
                  <a:pt x="0" y="41783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18625" y="3213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6" name="Text 34"/>
          <p:cNvSpPr/>
          <p:nvPr/>
        </p:nvSpPr>
        <p:spPr>
          <a:xfrm>
            <a:off x="9588500" y="3162300"/>
            <a:ext cx="601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Knowledge Gap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9271000" y="3721100"/>
            <a:ext cx="6210300" cy="1295400"/>
          </a:xfrm>
          <a:custGeom>
            <a:avLst/>
            <a:gdLst/>
            <a:ahLst/>
            <a:cxnLst/>
            <a:rect l="l" t="t" r="r" b="b"/>
            <a:pathLst>
              <a:path w="6210300" h="1295400">
                <a:moveTo>
                  <a:pt x="101598" y="0"/>
                </a:moveTo>
                <a:lnTo>
                  <a:pt x="6108702" y="0"/>
                </a:lnTo>
                <a:cubicBezTo>
                  <a:pt x="6164813" y="0"/>
                  <a:pt x="6210300" y="45487"/>
                  <a:pt x="6210300" y="101598"/>
                </a:cubicBezTo>
                <a:lnTo>
                  <a:pt x="6210300" y="1193802"/>
                </a:lnTo>
                <a:cubicBezTo>
                  <a:pt x="6210300" y="1249913"/>
                  <a:pt x="6164813" y="1295400"/>
                  <a:pt x="6108702" y="1295400"/>
                </a:cubicBezTo>
                <a:lnTo>
                  <a:pt x="101598" y="1295400"/>
                </a:lnTo>
                <a:cubicBezTo>
                  <a:pt x="45487" y="1295400"/>
                  <a:pt x="0" y="1249913"/>
                  <a:pt x="0" y="1193802"/>
                </a:cubicBezTo>
                <a:lnTo>
                  <a:pt x="0" y="101598"/>
                </a:lnTo>
                <a:cubicBezTo>
                  <a:pt x="0" y="45525"/>
                  <a:pt x="45525" y="0"/>
                  <a:pt x="1015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474200" y="3924300"/>
            <a:ext cx="238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LLM Training Data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771959" y="394970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Knowledge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474200" y="4330700"/>
            <a:ext cx="5803900" cy="127000"/>
          </a:xfrm>
          <a:custGeom>
            <a:avLst/>
            <a:gdLst/>
            <a:ahLst/>
            <a:cxnLst/>
            <a:rect l="l" t="t" r="r" b="b"/>
            <a:pathLst>
              <a:path w="5803900" h="127000">
                <a:moveTo>
                  <a:pt x="63500" y="0"/>
                </a:moveTo>
                <a:lnTo>
                  <a:pt x="5740400" y="0"/>
                </a:lnTo>
                <a:cubicBezTo>
                  <a:pt x="5775447" y="0"/>
                  <a:pt x="5803900" y="28453"/>
                  <a:pt x="5803900" y="63500"/>
                </a:cubicBezTo>
                <a:lnTo>
                  <a:pt x="5803900" y="63500"/>
                </a:lnTo>
                <a:cubicBezTo>
                  <a:pt x="5803900" y="98547"/>
                  <a:pt x="5775447" y="127000"/>
                  <a:pt x="57404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1" name="Shape 39"/>
          <p:cNvSpPr/>
          <p:nvPr/>
        </p:nvSpPr>
        <p:spPr>
          <a:xfrm>
            <a:off x="9474200" y="4330700"/>
            <a:ext cx="5803900" cy="127000"/>
          </a:xfrm>
          <a:custGeom>
            <a:avLst/>
            <a:gdLst/>
            <a:ahLst/>
            <a:cxnLst/>
            <a:rect l="l" t="t" r="r" b="b"/>
            <a:pathLst>
              <a:path w="5803900" h="127000">
                <a:moveTo>
                  <a:pt x="63500" y="0"/>
                </a:moveTo>
                <a:lnTo>
                  <a:pt x="5740400" y="0"/>
                </a:lnTo>
                <a:cubicBezTo>
                  <a:pt x="5775447" y="0"/>
                  <a:pt x="5803900" y="28453"/>
                  <a:pt x="5803900" y="63500"/>
                </a:cubicBezTo>
                <a:lnTo>
                  <a:pt x="5803900" y="63500"/>
                </a:lnTo>
                <a:cubicBezTo>
                  <a:pt x="5803900" y="98547"/>
                  <a:pt x="5775447" y="127000"/>
                  <a:pt x="57404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2" name="Text 40"/>
          <p:cNvSpPr/>
          <p:nvPr/>
        </p:nvSpPr>
        <p:spPr>
          <a:xfrm>
            <a:off x="9474200" y="4559300"/>
            <a:ext cx="589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Broad but shallow coverage of public information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2261850" y="51689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00846" y="299204"/>
                </a:moveTo>
                <a:cubicBezTo>
                  <a:pt x="108287" y="306645"/>
                  <a:pt x="120372" y="306645"/>
                  <a:pt x="127814" y="299204"/>
                </a:cubicBezTo>
                <a:lnTo>
                  <a:pt x="223064" y="203954"/>
                </a:lnTo>
                <a:cubicBezTo>
                  <a:pt x="230505" y="196513"/>
                  <a:pt x="230505" y="184428"/>
                  <a:pt x="223064" y="176986"/>
                </a:cubicBezTo>
                <a:cubicBezTo>
                  <a:pt x="215622" y="169545"/>
                  <a:pt x="203537" y="169545"/>
                  <a:pt x="196096" y="176986"/>
                </a:cubicBezTo>
                <a:lnTo>
                  <a:pt x="133350" y="239732"/>
                </a:lnTo>
                <a:lnTo>
                  <a:pt x="133350" y="19050"/>
                </a:lnTo>
                <a:cubicBezTo>
                  <a:pt x="133350" y="8513"/>
                  <a:pt x="124837" y="0"/>
                  <a:pt x="114300" y="0"/>
                </a:cubicBezTo>
                <a:cubicBezTo>
                  <a:pt x="103763" y="0"/>
                  <a:pt x="95250" y="8513"/>
                  <a:pt x="95250" y="19050"/>
                </a:cubicBezTo>
                <a:lnTo>
                  <a:pt x="95250" y="239732"/>
                </a:lnTo>
                <a:lnTo>
                  <a:pt x="32504" y="176986"/>
                </a:lnTo>
                <a:cubicBezTo>
                  <a:pt x="25063" y="169545"/>
                  <a:pt x="12978" y="169545"/>
                  <a:pt x="5536" y="176986"/>
                </a:cubicBezTo>
                <a:cubicBezTo>
                  <a:pt x="-1905" y="184428"/>
                  <a:pt x="-1905" y="196513"/>
                  <a:pt x="5536" y="203954"/>
                </a:cubicBezTo>
                <a:lnTo>
                  <a:pt x="100786" y="299204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Shape 42"/>
          <p:cNvSpPr/>
          <p:nvPr/>
        </p:nvSpPr>
        <p:spPr>
          <a:xfrm>
            <a:off x="9283700" y="5638800"/>
            <a:ext cx="6184900" cy="1320800"/>
          </a:xfrm>
          <a:custGeom>
            <a:avLst/>
            <a:gdLst/>
            <a:ahLst/>
            <a:cxnLst/>
            <a:rect l="l" t="t" r="r" b="b"/>
            <a:pathLst>
              <a:path w="6184900" h="1320800">
                <a:moveTo>
                  <a:pt x="101596" y="0"/>
                </a:moveTo>
                <a:lnTo>
                  <a:pt x="6083304" y="0"/>
                </a:lnTo>
                <a:cubicBezTo>
                  <a:pt x="6139414" y="0"/>
                  <a:pt x="6184900" y="45486"/>
                  <a:pt x="6184900" y="101596"/>
                </a:cubicBezTo>
                <a:lnTo>
                  <a:pt x="6184900" y="1219204"/>
                </a:lnTo>
                <a:cubicBezTo>
                  <a:pt x="6184900" y="1275314"/>
                  <a:pt x="6139414" y="1320800"/>
                  <a:pt x="60833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25400">
            <a:solidFill>
              <a:srgbClr val="D4A37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499600" y="5854700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Personal Knowledge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4028738" y="58801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Context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499600" y="6261100"/>
            <a:ext cx="5753100" cy="127000"/>
          </a:xfrm>
          <a:custGeom>
            <a:avLst/>
            <a:gdLst/>
            <a:ahLst/>
            <a:cxnLst/>
            <a:rect l="l" t="t" r="r" b="b"/>
            <a:pathLst>
              <a:path w="5753100" h="127000">
                <a:moveTo>
                  <a:pt x="63500" y="0"/>
                </a:moveTo>
                <a:lnTo>
                  <a:pt x="5689600" y="0"/>
                </a:lnTo>
                <a:cubicBezTo>
                  <a:pt x="5724647" y="0"/>
                  <a:pt x="5753100" y="28453"/>
                  <a:pt x="5753100" y="63500"/>
                </a:cubicBezTo>
                <a:lnTo>
                  <a:pt x="5753100" y="63500"/>
                </a:lnTo>
                <a:cubicBezTo>
                  <a:pt x="5753100" y="98547"/>
                  <a:pt x="5724647" y="127000"/>
                  <a:pt x="56896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8" name="Shape 46"/>
          <p:cNvSpPr/>
          <p:nvPr/>
        </p:nvSpPr>
        <p:spPr>
          <a:xfrm>
            <a:off x="9499600" y="6261100"/>
            <a:ext cx="292100" cy="127000"/>
          </a:xfrm>
          <a:custGeom>
            <a:avLst/>
            <a:gdLst/>
            <a:ahLst/>
            <a:cxnLst/>
            <a:rect l="l" t="t" r="r" b="b"/>
            <a:pathLst>
              <a:path w="292100" h="127000">
                <a:moveTo>
                  <a:pt x="63500" y="0"/>
                </a:moveTo>
                <a:lnTo>
                  <a:pt x="228600" y="0"/>
                </a:lnTo>
                <a:cubicBezTo>
                  <a:pt x="263647" y="0"/>
                  <a:pt x="292100" y="28453"/>
                  <a:pt x="292100" y="63500"/>
                </a:cubicBezTo>
                <a:lnTo>
                  <a:pt x="292100" y="63500"/>
                </a:lnTo>
                <a:cubicBezTo>
                  <a:pt x="292100" y="98547"/>
                  <a:pt x="263647" y="127000"/>
                  <a:pt x="228600" y="127000"/>
                </a:cubicBezTo>
                <a:lnTo>
                  <a:pt x="63500" y="127000"/>
                </a:lnTo>
                <a:cubicBezTo>
                  <a:pt x="28453" y="127000"/>
                  <a:pt x="0" y="98547"/>
                  <a:pt x="0" y="63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7"/>
          <p:cNvSpPr/>
          <p:nvPr/>
        </p:nvSpPr>
        <p:spPr>
          <a:xfrm>
            <a:off x="9499600" y="6489700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Deep, specialized knowledge in your Obsidian vault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10650" y="7448550"/>
            <a:ext cx="6731000" cy="3327400"/>
          </a:xfrm>
          <a:custGeom>
            <a:avLst/>
            <a:gdLst/>
            <a:ahLst/>
            <a:cxnLst/>
            <a:rect l="l" t="t" r="r" b="b"/>
            <a:pathLst>
              <a:path w="6731000" h="3327400">
                <a:moveTo>
                  <a:pt x="152395" y="0"/>
                </a:moveTo>
                <a:lnTo>
                  <a:pt x="6578605" y="0"/>
                </a:lnTo>
                <a:cubicBezTo>
                  <a:pt x="6662770" y="0"/>
                  <a:pt x="6731000" y="68230"/>
                  <a:pt x="6731000" y="152395"/>
                </a:cubicBezTo>
                <a:lnTo>
                  <a:pt x="6731000" y="3175005"/>
                </a:lnTo>
                <a:cubicBezTo>
                  <a:pt x="6731000" y="3259170"/>
                  <a:pt x="6662770" y="3327400"/>
                  <a:pt x="6578605" y="3327400"/>
                </a:cubicBezTo>
                <a:lnTo>
                  <a:pt x="152395" y="3327400"/>
                </a:lnTo>
                <a:cubicBezTo>
                  <a:pt x="68230" y="3327400"/>
                  <a:pt x="0" y="3259170"/>
                  <a:pt x="0" y="31750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34500" y="7759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2" name="Text 50"/>
          <p:cNvSpPr/>
          <p:nvPr/>
        </p:nvSpPr>
        <p:spPr>
          <a:xfrm>
            <a:off x="9588500" y="7708900"/>
            <a:ext cx="601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71000" y="8216900"/>
            <a:ext cx="6311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Retrieval-Augmented Personalization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bridges this gap by grounding AI responses in your curated knowledge base.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296400" y="908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5" name="Text 53"/>
          <p:cNvSpPr/>
          <p:nvPr/>
        </p:nvSpPr>
        <p:spPr>
          <a:xfrm>
            <a:off x="9626600" y="9029700"/>
            <a:ext cx="370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Retrieve relevant context from your vault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296400" y="948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7" name="Text 55"/>
          <p:cNvSpPr/>
          <p:nvPr/>
        </p:nvSpPr>
        <p:spPr>
          <a:xfrm>
            <a:off x="9626600" y="9436100"/>
            <a:ext cx="3746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Inject personal knowledge into AI context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296400" y="9893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9" name="Text 57"/>
          <p:cNvSpPr/>
          <p:nvPr/>
        </p:nvSpPr>
        <p:spPr>
          <a:xfrm>
            <a:off x="9626600" y="9842500"/>
            <a:ext cx="441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personalized, context-aware responses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Retrieval-Augmented Generation: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Technical Foundation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2540000"/>
            <a:ext cx="15240000" cy="2819400"/>
          </a:xfrm>
          <a:custGeom>
            <a:avLst/>
            <a:gdLst/>
            <a:ahLst/>
            <a:cxnLst/>
            <a:rect l="l" t="t" r="r" b="b"/>
            <a:pathLst>
              <a:path w="15240000" h="2819400">
                <a:moveTo>
                  <a:pt x="152389" y="0"/>
                </a:moveTo>
                <a:lnTo>
                  <a:pt x="15087611" y="0"/>
                </a:lnTo>
                <a:cubicBezTo>
                  <a:pt x="15171717" y="0"/>
                  <a:pt x="15240000" y="68283"/>
                  <a:pt x="15240000" y="152389"/>
                </a:cubicBezTo>
                <a:lnTo>
                  <a:pt x="15240000" y="2667011"/>
                </a:lnTo>
                <a:cubicBezTo>
                  <a:pt x="15240000" y="2751173"/>
                  <a:pt x="15171773" y="2819400"/>
                  <a:pt x="15087611" y="2819400"/>
                </a:cubicBezTo>
                <a:lnTo>
                  <a:pt x="152389" y="2819400"/>
                </a:lnTo>
                <a:cubicBezTo>
                  <a:pt x="68283" y="2819400"/>
                  <a:pt x="0" y="2751117"/>
                  <a:pt x="0" y="26670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2743200"/>
            <a:ext cx="149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RAG Architecture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7550" y="3257550"/>
            <a:ext cx="2057400" cy="1892300"/>
          </a:xfrm>
          <a:custGeom>
            <a:avLst/>
            <a:gdLst/>
            <a:ahLst/>
            <a:cxnLst/>
            <a:rect l="l" t="t" r="r" b="b"/>
            <a:pathLst>
              <a:path w="2057400" h="1892300">
                <a:moveTo>
                  <a:pt x="101598" y="0"/>
                </a:moveTo>
                <a:lnTo>
                  <a:pt x="1955802" y="0"/>
                </a:lnTo>
                <a:cubicBezTo>
                  <a:pt x="2011913" y="0"/>
                  <a:pt x="2057400" y="45487"/>
                  <a:pt x="2057400" y="101598"/>
                </a:cubicBezTo>
                <a:lnTo>
                  <a:pt x="2057400" y="1790702"/>
                </a:lnTo>
                <a:cubicBezTo>
                  <a:pt x="2057400" y="1846813"/>
                  <a:pt x="2011913" y="1892300"/>
                  <a:pt x="19558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38672" y="3416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48222" y="3594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150813"/>
                </a:lnTo>
                <a:lnTo>
                  <a:pt x="90339" y="150813"/>
                </a:lnTo>
                <a:lnTo>
                  <a:pt x="74960" y="135434"/>
                </a:lnTo>
                <a:cubicBezTo>
                  <a:pt x="70296" y="130770"/>
                  <a:pt x="70296" y="123230"/>
                  <a:pt x="74960" y="118616"/>
                </a:cubicBezTo>
                <a:cubicBezTo>
                  <a:pt x="79623" y="114002"/>
                  <a:pt x="87164" y="113953"/>
                  <a:pt x="91777" y="118616"/>
                </a:cubicBezTo>
                <a:lnTo>
                  <a:pt x="127496" y="154335"/>
                </a:lnTo>
                <a:cubicBezTo>
                  <a:pt x="132159" y="158998"/>
                  <a:pt x="132159" y="166539"/>
                  <a:pt x="127496" y="171152"/>
                </a:cubicBezTo>
                <a:lnTo>
                  <a:pt x="91777" y="206871"/>
                </a:lnTo>
                <a:cubicBezTo>
                  <a:pt x="87114" y="211534"/>
                  <a:pt x="79573" y="211534"/>
                  <a:pt x="74960" y="206871"/>
                </a:cubicBezTo>
                <a:cubicBezTo>
                  <a:pt x="70346" y="202208"/>
                  <a:pt x="70296" y="194667"/>
                  <a:pt x="74960" y="190054"/>
                </a:cubicBezTo>
                <a:lnTo>
                  <a:pt x="90339" y="174675"/>
                </a:lnTo>
                <a:lnTo>
                  <a:pt x="0" y="174675"/>
                </a:lnTo>
                <a:lnTo>
                  <a:pt x="0" y="222300"/>
                </a:lnTo>
                <a:cubicBezTo>
                  <a:pt x="0" y="239812"/>
                  <a:pt x="14238" y="254050"/>
                  <a:pt x="31750" y="254050"/>
                </a:cubicBezTo>
                <a:lnTo>
                  <a:pt x="158750" y="254050"/>
                </a:lnTo>
                <a:cubicBezTo>
                  <a:pt x="176262" y="254050"/>
                  <a:pt x="190500" y="239812"/>
                  <a:pt x="190500" y="222300"/>
                </a:cubicBezTo>
                <a:lnTo>
                  <a:pt x="190500" y="84634"/>
                </a:lnTo>
                <a:cubicBezTo>
                  <a:pt x="190500" y="76200"/>
                  <a:pt x="187176" y="68114"/>
                  <a:pt x="181223" y="62161"/>
                </a:cubicBezTo>
                <a:lnTo>
                  <a:pt x="128339" y="9277"/>
                </a:lnTo>
                <a:cubicBezTo>
                  <a:pt x="122386" y="3324"/>
                  <a:pt x="114350" y="0"/>
                  <a:pt x="105916" y="0"/>
                </a:cubicBezTo>
                <a:lnTo>
                  <a:pt x="31750" y="0"/>
                </a:lnTo>
                <a:close/>
                <a:moveTo>
                  <a:pt x="161479" y="87313"/>
                </a:moveTo>
                <a:lnTo>
                  <a:pt x="115094" y="87313"/>
                </a:lnTo>
                <a:cubicBezTo>
                  <a:pt x="108496" y="87313"/>
                  <a:pt x="103188" y="82004"/>
                  <a:pt x="103188" y="75406"/>
                </a:cubicBezTo>
                <a:lnTo>
                  <a:pt x="103188" y="29021"/>
                </a:lnTo>
                <a:lnTo>
                  <a:pt x="161479" y="87313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825500" y="4127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Ingest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1850" y="44831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→ Text extraction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09292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71242" y="3257550"/>
            <a:ext cx="2057400" cy="1892300"/>
          </a:xfrm>
          <a:custGeom>
            <a:avLst/>
            <a:gdLst/>
            <a:ahLst/>
            <a:cxnLst/>
            <a:rect l="l" t="t" r="r" b="b"/>
            <a:pathLst>
              <a:path w="2057400" h="1892300">
                <a:moveTo>
                  <a:pt x="101598" y="0"/>
                </a:moveTo>
                <a:lnTo>
                  <a:pt x="1955802" y="0"/>
                </a:lnTo>
                <a:cubicBezTo>
                  <a:pt x="2011913" y="0"/>
                  <a:pt x="2057400" y="45487"/>
                  <a:pt x="2057400" y="101598"/>
                </a:cubicBezTo>
                <a:lnTo>
                  <a:pt x="2057400" y="1790702"/>
                </a:lnTo>
                <a:cubicBezTo>
                  <a:pt x="2057400" y="1846813"/>
                  <a:pt x="2011913" y="1892300"/>
                  <a:pt x="19558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4A7C59">
                <a:alpha val="30196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92364" y="3416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170164" y="3594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127000"/>
                </a:moveTo>
                <a:lnTo>
                  <a:pt x="75654" y="146596"/>
                </a:lnTo>
                <a:cubicBezTo>
                  <a:pt x="69404" y="144165"/>
                  <a:pt x="62657" y="142875"/>
                  <a:pt x="55563" y="142875"/>
                </a:cubicBezTo>
                <a:cubicBezTo>
                  <a:pt x="24854" y="142875"/>
                  <a:pt x="0" y="167729"/>
                  <a:pt x="0" y="198438"/>
                </a:cubicBezTo>
                <a:cubicBezTo>
                  <a:pt x="0" y="229146"/>
                  <a:pt x="24854" y="254000"/>
                  <a:pt x="55563" y="254000"/>
                </a:cubicBezTo>
                <a:cubicBezTo>
                  <a:pt x="86271" y="254000"/>
                  <a:pt x="111125" y="229146"/>
                  <a:pt x="111125" y="198438"/>
                </a:cubicBezTo>
                <a:cubicBezTo>
                  <a:pt x="111125" y="191343"/>
                  <a:pt x="109786" y="184596"/>
                  <a:pt x="107404" y="178346"/>
                </a:cubicBezTo>
                <a:lnTo>
                  <a:pt x="247650" y="38100"/>
                </a:lnTo>
                <a:cubicBezTo>
                  <a:pt x="251172" y="34578"/>
                  <a:pt x="251172" y="28922"/>
                  <a:pt x="247650" y="25400"/>
                </a:cubicBezTo>
                <a:cubicBezTo>
                  <a:pt x="233611" y="11361"/>
                  <a:pt x="210889" y="11361"/>
                  <a:pt x="196850" y="25400"/>
                </a:cubicBezTo>
                <a:lnTo>
                  <a:pt x="127000" y="95250"/>
                </a:lnTo>
                <a:lnTo>
                  <a:pt x="107404" y="75654"/>
                </a:lnTo>
                <a:cubicBezTo>
                  <a:pt x="109835" y="69404"/>
                  <a:pt x="111125" y="62657"/>
                  <a:pt x="111125" y="55563"/>
                </a:cubicBezTo>
                <a:cubicBezTo>
                  <a:pt x="111125" y="24854"/>
                  <a:pt x="86271" y="0"/>
                  <a:pt x="55563" y="0"/>
                </a:cubicBezTo>
                <a:cubicBezTo>
                  <a:pt x="24854" y="0"/>
                  <a:pt x="0" y="24854"/>
                  <a:pt x="0" y="55563"/>
                </a:cubicBezTo>
                <a:cubicBezTo>
                  <a:pt x="0" y="86271"/>
                  <a:pt x="24854" y="111125"/>
                  <a:pt x="55563" y="111125"/>
                </a:cubicBezTo>
                <a:cubicBezTo>
                  <a:pt x="62657" y="111125"/>
                  <a:pt x="69404" y="109786"/>
                  <a:pt x="75654" y="107404"/>
                </a:cubicBezTo>
                <a:lnTo>
                  <a:pt x="95250" y="127000"/>
                </a:lnTo>
                <a:close/>
                <a:moveTo>
                  <a:pt x="143818" y="175568"/>
                </a:moveTo>
                <a:lnTo>
                  <a:pt x="196850" y="228600"/>
                </a:lnTo>
                <a:cubicBezTo>
                  <a:pt x="210889" y="242639"/>
                  <a:pt x="233611" y="242639"/>
                  <a:pt x="247650" y="228600"/>
                </a:cubicBezTo>
                <a:cubicBezTo>
                  <a:pt x="251172" y="225078"/>
                  <a:pt x="251172" y="219422"/>
                  <a:pt x="247650" y="215900"/>
                </a:cubicBezTo>
                <a:lnTo>
                  <a:pt x="175568" y="143818"/>
                </a:lnTo>
                <a:lnTo>
                  <a:pt x="143818" y="175568"/>
                </a:lnTo>
                <a:close/>
                <a:moveTo>
                  <a:pt x="31750" y="55563"/>
                </a:moveTo>
                <a:cubicBezTo>
                  <a:pt x="31750" y="42420"/>
                  <a:pt x="42420" y="31750"/>
                  <a:pt x="55562" y="31750"/>
                </a:cubicBezTo>
                <a:cubicBezTo>
                  <a:pt x="68705" y="31750"/>
                  <a:pt x="79375" y="42420"/>
                  <a:pt x="79375" y="55562"/>
                </a:cubicBezTo>
                <a:cubicBezTo>
                  <a:pt x="79375" y="68705"/>
                  <a:pt x="68705" y="79375"/>
                  <a:pt x="55563" y="79375"/>
                </a:cubicBezTo>
                <a:cubicBezTo>
                  <a:pt x="42420" y="79375"/>
                  <a:pt x="31750" y="68705"/>
                  <a:pt x="31750" y="55563"/>
                </a:cubicBezTo>
                <a:close/>
                <a:moveTo>
                  <a:pt x="55563" y="174625"/>
                </a:moveTo>
                <a:cubicBezTo>
                  <a:pt x="68705" y="174625"/>
                  <a:pt x="79375" y="185295"/>
                  <a:pt x="79375" y="198438"/>
                </a:cubicBezTo>
                <a:cubicBezTo>
                  <a:pt x="79375" y="211580"/>
                  <a:pt x="68705" y="222250"/>
                  <a:pt x="55563" y="222250"/>
                </a:cubicBezTo>
                <a:cubicBezTo>
                  <a:pt x="42420" y="222250"/>
                  <a:pt x="31750" y="211580"/>
                  <a:pt x="31750" y="198438"/>
                </a:cubicBezTo>
                <a:cubicBezTo>
                  <a:pt x="31750" y="185295"/>
                  <a:pt x="42420" y="174625"/>
                  <a:pt x="55562" y="17462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6" name="Text 14"/>
          <p:cNvSpPr/>
          <p:nvPr/>
        </p:nvSpPr>
        <p:spPr>
          <a:xfrm>
            <a:off x="3379192" y="4127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Chunk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5542" y="44831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500-1000 chars + overlap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62984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5824934" y="3384550"/>
            <a:ext cx="2057400" cy="1638300"/>
          </a:xfrm>
          <a:custGeom>
            <a:avLst/>
            <a:gdLst/>
            <a:ahLst/>
            <a:cxnLst/>
            <a:rect l="l" t="t" r="r" b="b"/>
            <a:pathLst>
              <a:path w="2057400" h="1638300">
                <a:moveTo>
                  <a:pt x="101607" y="0"/>
                </a:moveTo>
                <a:lnTo>
                  <a:pt x="1955793" y="0"/>
                </a:lnTo>
                <a:cubicBezTo>
                  <a:pt x="2011909" y="0"/>
                  <a:pt x="2057400" y="45491"/>
                  <a:pt x="2057400" y="101607"/>
                </a:cubicBezTo>
                <a:lnTo>
                  <a:pt x="2057400" y="1536693"/>
                </a:lnTo>
                <a:cubicBezTo>
                  <a:pt x="2057400" y="1592809"/>
                  <a:pt x="2011909" y="1638300"/>
                  <a:pt x="1955793" y="1638300"/>
                </a:cubicBezTo>
                <a:lnTo>
                  <a:pt x="101607" y="1638300"/>
                </a:lnTo>
                <a:cubicBezTo>
                  <a:pt x="45491" y="1638300"/>
                  <a:pt x="0" y="1592809"/>
                  <a:pt x="0" y="15366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46056" y="354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23856" y="3721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Text 20"/>
          <p:cNvSpPr/>
          <p:nvPr/>
        </p:nvSpPr>
        <p:spPr>
          <a:xfrm>
            <a:off x="5932884" y="4254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Embed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39234" y="4610100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300-1500D vectors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16677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78627" y="3384550"/>
            <a:ext cx="2057400" cy="1638300"/>
          </a:xfrm>
          <a:custGeom>
            <a:avLst/>
            <a:gdLst/>
            <a:ahLst/>
            <a:cxnLst/>
            <a:rect l="l" t="t" r="r" b="b"/>
            <a:pathLst>
              <a:path w="2057400" h="1638300">
                <a:moveTo>
                  <a:pt x="101607" y="0"/>
                </a:moveTo>
                <a:lnTo>
                  <a:pt x="1955793" y="0"/>
                </a:lnTo>
                <a:cubicBezTo>
                  <a:pt x="2011909" y="0"/>
                  <a:pt x="2057400" y="45491"/>
                  <a:pt x="2057400" y="101607"/>
                </a:cubicBezTo>
                <a:lnTo>
                  <a:pt x="2057400" y="1536693"/>
                </a:lnTo>
                <a:cubicBezTo>
                  <a:pt x="2057400" y="1592809"/>
                  <a:pt x="2011909" y="1638300"/>
                  <a:pt x="1955793" y="1638300"/>
                </a:cubicBezTo>
                <a:lnTo>
                  <a:pt x="101607" y="1638300"/>
                </a:lnTo>
                <a:cubicBezTo>
                  <a:pt x="45491" y="1638300"/>
                  <a:pt x="0" y="1592809"/>
                  <a:pt x="0" y="15366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D4A373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9748" y="354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293423" y="3721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Text 26"/>
          <p:cNvSpPr/>
          <p:nvPr/>
        </p:nvSpPr>
        <p:spPr>
          <a:xfrm>
            <a:off x="8486577" y="4254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 Store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92927" y="4610100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 database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570369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32319" y="3384550"/>
            <a:ext cx="2057400" cy="1638300"/>
          </a:xfrm>
          <a:custGeom>
            <a:avLst/>
            <a:gdLst/>
            <a:ahLst/>
            <a:cxnLst/>
            <a:rect l="l" t="t" r="r" b="b"/>
            <a:pathLst>
              <a:path w="2057400" h="1638300">
                <a:moveTo>
                  <a:pt x="101607" y="0"/>
                </a:moveTo>
                <a:lnTo>
                  <a:pt x="1955793" y="0"/>
                </a:lnTo>
                <a:cubicBezTo>
                  <a:pt x="2011909" y="0"/>
                  <a:pt x="2057400" y="45491"/>
                  <a:pt x="2057400" y="101607"/>
                </a:cubicBezTo>
                <a:lnTo>
                  <a:pt x="2057400" y="1536693"/>
                </a:lnTo>
                <a:cubicBezTo>
                  <a:pt x="2057400" y="1592809"/>
                  <a:pt x="2011909" y="1638300"/>
                  <a:pt x="1955793" y="1638300"/>
                </a:cubicBezTo>
                <a:lnTo>
                  <a:pt x="101607" y="1638300"/>
                </a:lnTo>
                <a:cubicBezTo>
                  <a:pt x="45491" y="1638300"/>
                  <a:pt x="0" y="1592809"/>
                  <a:pt x="0" y="1536693"/>
                </a:cubicBezTo>
                <a:lnTo>
                  <a:pt x="0" y="101607"/>
                </a:lnTo>
                <a:cubicBezTo>
                  <a:pt x="0" y="45491"/>
                  <a:pt x="45491" y="0"/>
                  <a:pt x="10160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653441" y="3543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831241" y="3721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6375" y="103188"/>
                </a:moveTo>
                <a:cubicBezTo>
                  <a:pt x="206375" y="125958"/>
                  <a:pt x="198983" y="146993"/>
                  <a:pt x="186531" y="164058"/>
                </a:cubicBezTo>
                <a:lnTo>
                  <a:pt x="249337" y="226913"/>
                </a:lnTo>
                <a:cubicBezTo>
                  <a:pt x="255538" y="233114"/>
                  <a:pt x="255538" y="243185"/>
                  <a:pt x="249337" y="249386"/>
                </a:cubicBezTo>
                <a:cubicBezTo>
                  <a:pt x="243136" y="255588"/>
                  <a:pt x="233065" y="255588"/>
                  <a:pt x="226864" y="249386"/>
                </a:cubicBezTo>
                <a:lnTo>
                  <a:pt x="164058" y="186531"/>
                </a:lnTo>
                <a:cubicBezTo>
                  <a:pt x="146993" y="198983"/>
                  <a:pt x="125958" y="206375"/>
                  <a:pt x="103188" y="206375"/>
                </a:cubicBezTo>
                <a:cubicBezTo>
                  <a:pt x="46186" y="206375"/>
                  <a:pt x="0" y="160189"/>
                  <a:pt x="0" y="103188"/>
                </a:cubicBezTo>
                <a:cubicBezTo>
                  <a:pt x="0" y="46186"/>
                  <a:pt x="46186" y="0"/>
                  <a:pt x="103188" y="0"/>
                </a:cubicBezTo>
                <a:cubicBezTo>
                  <a:pt x="160189" y="0"/>
                  <a:pt x="206375" y="46186"/>
                  <a:pt x="206375" y="103188"/>
                </a:cubicBezTo>
                <a:close/>
                <a:moveTo>
                  <a:pt x="103188" y="174625"/>
                </a:moveTo>
                <a:cubicBezTo>
                  <a:pt x="142615" y="174625"/>
                  <a:pt x="174625" y="142615"/>
                  <a:pt x="174625" y="103188"/>
                </a:cubicBezTo>
                <a:cubicBezTo>
                  <a:pt x="174625" y="63760"/>
                  <a:pt x="142615" y="31750"/>
                  <a:pt x="103188" y="31750"/>
                </a:cubicBezTo>
                <a:cubicBezTo>
                  <a:pt x="63760" y="31750"/>
                  <a:pt x="31750" y="63760"/>
                  <a:pt x="31750" y="103187"/>
                </a:cubicBezTo>
                <a:cubicBezTo>
                  <a:pt x="31750" y="142615"/>
                  <a:pt x="63760" y="174625"/>
                  <a:pt x="103187" y="174625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4" name="Text 32"/>
          <p:cNvSpPr/>
          <p:nvPr/>
        </p:nvSpPr>
        <p:spPr>
          <a:xfrm>
            <a:off x="11040269" y="4254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 Retrieve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46619" y="4610100"/>
            <a:ext cx="1828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search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3124061" y="408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7" name="Shape 35"/>
          <p:cNvSpPr/>
          <p:nvPr/>
        </p:nvSpPr>
        <p:spPr>
          <a:xfrm>
            <a:off x="13486011" y="3257550"/>
            <a:ext cx="2057400" cy="1892300"/>
          </a:xfrm>
          <a:custGeom>
            <a:avLst/>
            <a:gdLst/>
            <a:ahLst/>
            <a:cxnLst/>
            <a:rect l="l" t="t" r="r" b="b"/>
            <a:pathLst>
              <a:path w="2057400" h="1892300">
                <a:moveTo>
                  <a:pt x="101598" y="0"/>
                </a:moveTo>
                <a:lnTo>
                  <a:pt x="1955802" y="0"/>
                </a:lnTo>
                <a:cubicBezTo>
                  <a:pt x="2011913" y="0"/>
                  <a:pt x="2057400" y="45487"/>
                  <a:pt x="2057400" y="101598"/>
                </a:cubicBezTo>
                <a:lnTo>
                  <a:pt x="2057400" y="1790702"/>
                </a:lnTo>
                <a:cubicBezTo>
                  <a:pt x="2057400" y="1846813"/>
                  <a:pt x="2011913" y="1892300"/>
                  <a:pt x="1955802" y="1892300"/>
                </a:cubicBezTo>
                <a:lnTo>
                  <a:pt x="101598" y="1892300"/>
                </a:lnTo>
                <a:cubicBezTo>
                  <a:pt x="45487" y="1892300"/>
                  <a:pt x="0" y="1846813"/>
                  <a:pt x="0" y="1790702"/>
                </a:cubicBezTo>
                <a:lnTo>
                  <a:pt x="0" y="101598"/>
                </a:lnTo>
                <a:cubicBezTo>
                  <a:pt x="0" y="45524"/>
                  <a:pt x="45524" y="0"/>
                  <a:pt x="10159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07133" y="3416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384933" y="3594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97693" y="6052"/>
                </a:moveTo>
                <a:lnTo>
                  <a:pt x="153938" y="49808"/>
                </a:lnTo>
                <a:lnTo>
                  <a:pt x="204192" y="100062"/>
                </a:lnTo>
                <a:lnTo>
                  <a:pt x="247948" y="56307"/>
                </a:lnTo>
                <a:cubicBezTo>
                  <a:pt x="251817" y="52388"/>
                  <a:pt x="254000" y="47129"/>
                  <a:pt x="254000" y="41672"/>
                </a:cubicBezTo>
                <a:cubicBezTo>
                  <a:pt x="254000" y="36215"/>
                  <a:pt x="251817" y="30956"/>
                  <a:pt x="247948" y="27037"/>
                </a:cubicBezTo>
                <a:lnTo>
                  <a:pt x="226963" y="6052"/>
                </a:lnTo>
                <a:cubicBezTo>
                  <a:pt x="223044" y="2183"/>
                  <a:pt x="217785" y="0"/>
                  <a:pt x="212328" y="0"/>
                </a:cubicBezTo>
                <a:cubicBezTo>
                  <a:pt x="206871" y="0"/>
                  <a:pt x="201613" y="2183"/>
                  <a:pt x="197693" y="6052"/>
                </a:cubicBezTo>
                <a:close/>
                <a:moveTo>
                  <a:pt x="137120" y="66625"/>
                </a:moveTo>
                <a:lnTo>
                  <a:pt x="6052" y="197693"/>
                </a:lnTo>
                <a:cubicBezTo>
                  <a:pt x="2183" y="201613"/>
                  <a:pt x="0" y="206871"/>
                  <a:pt x="0" y="212328"/>
                </a:cubicBezTo>
                <a:cubicBezTo>
                  <a:pt x="0" y="217785"/>
                  <a:pt x="2183" y="223044"/>
                  <a:pt x="6052" y="226963"/>
                </a:cubicBezTo>
                <a:lnTo>
                  <a:pt x="27037" y="247948"/>
                </a:lnTo>
                <a:cubicBezTo>
                  <a:pt x="30956" y="251817"/>
                  <a:pt x="36215" y="254000"/>
                  <a:pt x="41672" y="254000"/>
                </a:cubicBezTo>
                <a:cubicBezTo>
                  <a:pt x="47129" y="254000"/>
                  <a:pt x="52388" y="251817"/>
                  <a:pt x="56307" y="247948"/>
                </a:cubicBezTo>
                <a:lnTo>
                  <a:pt x="187375" y="116880"/>
                </a:lnTo>
                <a:lnTo>
                  <a:pt x="137120" y="6662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0" name="Text 38"/>
          <p:cNvSpPr/>
          <p:nvPr/>
        </p:nvSpPr>
        <p:spPr>
          <a:xfrm>
            <a:off x="13593961" y="4127500"/>
            <a:ext cx="184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6. Generate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600311" y="4483100"/>
            <a:ext cx="1828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+ LLM → Answer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3400" y="5562600"/>
            <a:ext cx="7493000" cy="3810000"/>
          </a:xfrm>
          <a:custGeom>
            <a:avLst/>
            <a:gdLst/>
            <a:ahLst/>
            <a:cxnLst/>
            <a:rect l="l" t="t" r="r" b="b"/>
            <a:pathLst>
              <a:path w="7493000" h="3810000">
                <a:moveTo>
                  <a:pt x="508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3657600"/>
                </a:lnTo>
                <a:cubicBezTo>
                  <a:pt x="7493000" y="3741712"/>
                  <a:pt x="7424712" y="3810000"/>
                  <a:pt x="7340600" y="3810000"/>
                </a:cubicBezTo>
                <a:lnTo>
                  <a:pt x="50800" y="3810000"/>
                </a:lnTo>
                <a:cubicBezTo>
                  <a:pt x="22744" y="3810000"/>
                  <a:pt x="0" y="3787256"/>
                  <a:pt x="0" y="375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" y="5562600"/>
            <a:ext cx="50800" cy="3810000"/>
          </a:xfrm>
          <a:custGeom>
            <a:avLst/>
            <a:gdLst/>
            <a:ahLst/>
            <a:cxnLst/>
            <a:rect l="l" t="t" r="r" b="b"/>
            <a:pathLst>
              <a:path w="50800" h="3810000">
                <a:moveTo>
                  <a:pt x="50800" y="0"/>
                </a:moveTo>
                <a:lnTo>
                  <a:pt x="50800" y="0"/>
                </a:lnTo>
                <a:lnTo>
                  <a:pt x="50800" y="3810000"/>
                </a:lnTo>
                <a:lnTo>
                  <a:pt x="50800" y="3810000"/>
                </a:lnTo>
                <a:cubicBezTo>
                  <a:pt x="22763" y="3810000"/>
                  <a:pt x="0" y="3787237"/>
                  <a:pt x="0" y="375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4" name="Shape 42"/>
          <p:cNvSpPr/>
          <p:nvPr/>
        </p:nvSpPr>
        <p:spPr>
          <a:xfrm>
            <a:off x="793750" y="582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146" y="-1116"/>
                </a:moveTo>
                <a:cubicBezTo>
                  <a:pt x="108987" y="-6206"/>
                  <a:pt x="119881" y="-6206"/>
                  <a:pt x="128721" y="-1116"/>
                </a:cubicBezTo>
                <a:lnTo>
                  <a:pt x="207258" y="44202"/>
                </a:lnTo>
                <a:cubicBezTo>
                  <a:pt x="216098" y="49292"/>
                  <a:pt x="221546" y="58757"/>
                  <a:pt x="221546" y="68937"/>
                </a:cubicBezTo>
                <a:lnTo>
                  <a:pt x="221546" y="159574"/>
                </a:lnTo>
                <a:cubicBezTo>
                  <a:pt x="221546" y="169798"/>
                  <a:pt x="216098" y="179219"/>
                  <a:pt x="207258" y="184309"/>
                </a:cubicBezTo>
                <a:lnTo>
                  <a:pt x="128721" y="229716"/>
                </a:lnTo>
                <a:cubicBezTo>
                  <a:pt x="119881" y="234806"/>
                  <a:pt x="108987" y="234806"/>
                  <a:pt x="100146" y="229716"/>
                </a:cubicBezTo>
                <a:lnTo>
                  <a:pt x="21654" y="184398"/>
                </a:lnTo>
                <a:cubicBezTo>
                  <a:pt x="12814" y="179308"/>
                  <a:pt x="7367" y="169843"/>
                  <a:pt x="7367" y="159663"/>
                </a:cubicBezTo>
                <a:lnTo>
                  <a:pt x="7367" y="69026"/>
                </a:lnTo>
                <a:cubicBezTo>
                  <a:pt x="7367" y="58802"/>
                  <a:pt x="12814" y="49381"/>
                  <a:pt x="21654" y="44291"/>
                </a:cubicBezTo>
                <a:lnTo>
                  <a:pt x="100146" y="-1116"/>
                </a:lnTo>
                <a:close/>
                <a:moveTo>
                  <a:pt x="192926" y="159618"/>
                </a:moveTo>
                <a:lnTo>
                  <a:pt x="192926" y="85457"/>
                </a:lnTo>
                <a:lnTo>
                  <a:pt x="128721" y="122515"/>
                </a:lnTo>
                <a:lnTo>
                  <a:pt x="128721" y="196676"/>
                </a:lnTo>
                <a:lnTo>
                  <a:pt x="192926" y="159618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5" name="Text 43"/>
          <p:cNvSpPr/>
          <p:nvPr/>
        </p:nvSpPr>
        <p:spPr>
          <a:xfrm>
            <a:off x="1054100" y="57658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Embeddings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000" y="62738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is converted into high-dimensional vectors (300-1500 dimensions) that capture semantic meaning. Similar concepts cluster together in vector space.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2000" y="7086600"/>
            <a:ext cx="7061200" cy="965200"/>
          </a:xfrm>
          <a:custGeom>
            <a:avLst/>
            <a:gdLst/>
            <a:ahLst/>
            <a:cxnLst/>
            <a:rect l="l" t="t" r="r" b="b"/>
            <a:pathLst>
              <a:path w="7061200" h="965200">
                <a:moveTo>
                  <a:pt x="101597" y="0"/>
                </a:moveTo>
                <a:lnTo>
                  <a:pt x="6959603" y="0"/>
                </a:lnTo>
                <a:cubicBezTo>
                  <a:pt x="7015713" y="0"/>
                  <a:pt x="7061200" y="45487"/>
                  <a:pt x="7061200" y="101597"/>
                </a:cubicBezTo>
                <a:lnTo>
                  <a:pt x="7061200" y="863603"/>
                </a:lnTo>
                <a:cubicBezTo>
                  <a:pt x="7061200" y="919713"/>
                  <a:pt x="7015713" y="965200"/>
                  <a:pt x="6959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14400" y="72390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"car" vs "automobile"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4400" y="7696200"/>
            <a:ext cx="5295900" cy="101600"/>
          </a:xfrm>
          <a:custGeom>
            <a:avLst/>
            <a:gdLst/>
            <a:ahLst/>
            <a:cxnLst/>
            <a:rect l="l" t="t" r="r" b="b"/>
            <a:pathLst>
              <a:path w="5295900" h="101600">
                <a:moveTo>
                  <a:pt x="50800" y="0"/>
                </a:moveTo>
                <a:lnTo>
                  <a:pt x="5245100" y="0"/>
                </a:lnTo>
                <a:cubicBezTo>
                  <a:pt x="5273137" y="0"/>
                  <a:pt x="5295900" y="22763"/>
                  <a:pt x="5295900" y="50800"/>
                </a:cubicBezTo>
                <a:lnTo>
                  <a:pt x="5295900" y="50800"/>
                </a:lnTo>
                <a:cubicBezTo>
                  <a:pt x="5295900" y="78837"/>
                  <a:pt x="5273137" y="101600"/>
                  <a:pt x="5245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" y="7696200"/>
            <a:ext cx="5029200" cy="101600"/>
          </a:xfrm>
          <a:custGeom>
            <a:avLst/>
            <a:gdLst/>
            <a:ahLst/>
            <a:cxnLst/>
            <a:rect l="l" t="t" r="r" b="b"/>
            <a:pathLst>
              <a:path w="5029200" h="101600">
                <a:moveTo>
                  <a:pt x="0" y="0"/>
                </a:moveTo>
                <a:lnTo>
                  <a:pt x="5029200" y="0"/>
                </a:lnTo>
                <a:lnTo>
                  <a:pt x="50292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1" name="Text 49"/>
          <p:cNvSpPr/>
          <p:nvPr/>
        </p:nvSpPr>
        <p:spPr>
          <a:xfrm>
            <a:off x="6361113" y="7594600"/>
            <a:ext cx="1409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similarity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33400" y="9575800"/>
            <a:ext cx="7493000" cy="2387600"/>
          </a:xfrm>
          <a:custGeom>
            <a:avLst/>
            <a:gdLst/>
            <a:ahLst/>
            <a:cxnLst/>
            <a:rect l="l" t="t" r="r" b="b"/>
            <a:pathLst>
              <a:path w="7493000" h="2387600">
                <a:moveTo>
                  <a:pt x="50800" y="0"/>
                </a:moveTo>
                <a:lnTo>
                  <a:pt x="7340599" y="0"/>
                </a:lnTo>
                <a:cubicBezTo>
                  <a:pt x="7424768" y="0"/>
                  <a:pt x="7493000" y="68232"/>
                  <a:pt x="7493000" y="152401"/>
                </a:cubicBezTo>
                <a:lnTo>
                  <a:pt x="7493000" y="2235199"/>
                </a:lnTo>
                <a:cubicBezTo>
                  <a:pt x="7493000" y="2319368"/>
                  <a:pt x="7424768" y="2387600"/>
                  <a:pt x="7340599" y="2387600"/>
                </a:cubicBezTo>
                <a:lnTo>
                  <a:pt x="50800" y="2387600"/>
                </a:lnTo>
                <a:cubicBezTo>
                  <a:pt x="22744" y="2387600"/>
                  <a:pt x="0" y="2364856"/>
                  <a:pt x="0" y="233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33400" y="9575800"/>
            <a:ext cx="50800" cy="2387600"/>
          </a:xfrm>
          <a:custGeom>
            <a:avLst/>
            <a:gdLst/>
            <a:ahLst/>
            <a:cxnLst/>
            <a:rect l="l" t="t" r="r" b="b"/>
            <a:pathLst>
              <a:path w="50800" h="2387600">
                <a:moveTo>
                  <a:pt x="50800" y="0"/>
                </a:moveTo>
                <a:lnTo>
                  <a:pt x="50800" y="0"/>
                </a:lnTo>
                <a:lnTo>
                  <a:pt x="50800" y="2387600"/>
                </a:lnTo>
                <a:lnTo>
                  <a:pt x="50800" y="2387600"/>
                </a:lnTo>
                <a:cubicBezTo>
                  <a:pt x="22763" y="2387600"/>
                  <a:pt x="0" y="2364837"/>
                  <a:pt x="0" y="233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4" name="Shape 52"/>
          <p:cNvSpPr/>
          <p:nvPr/>
        </p:nvSpPr>
        <p:spPr>
          <a:xfrm>
            <a:off x="793750" y="9842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5" name="Text 53"/>
          <p:cNvSpPr/>
          <p:nvPr/>
        </p:nvSpPr>
        <p:spPr>
          <a:xfrm>
            <a:off x="1054100" y="97790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Chunking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62000" y="102870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Documents are split at semantic boundaries (sentences, paragraphs) with overlap to preserve context across chunks.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62000" y="11049000"/>
            <a:ext cx="3479800" cy="711200"/>
          </a:xfrm>
          <a:custGeom>
            <a:avLst/>
            <a:gdLst/>
            <a:ahLst/>
            <a:cxnLst/>
            <a:rect l="l" t="t" r="r" b="b"/>
            <a:pathLst>
              <a:path w="3479800" h="711200">
                <a:moveTo>
                  <a:pt x="50801" y="0"/>
                </a:moveTo>
                <a:lnTo>
                  <a:pt x="3428999" y="0"/>
                </a:lnTo>
                <a:cubicBezTo>
                  <a:pt x="3457056" y="0"/>
                  <a:pt x="3479800" y="22744"/>
                  <a:pt x="3479800" y="50801"/>
                </a:cubicBezTo>
                <a:lnTo>
                  <a:pt x="3479800" y="660399"/>
                </a:lnTo>
                <a:cubicBezTo>
                  <a:pt x="3479800" y="688456"/>
                  <a:pt x="3457056" y="711200"/>
                  <a:pt x="34289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2029999" y="11176000"/>
            <a:ext cx="94380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500-1000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19150" y="114046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chars/chunk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343400" y="11049000"/>
            <a:ext cx="3479800" cy="711200"/>
          </a:xfrm>
          <a:custGeom>
            <a:avLst/>
            <a:gdLst/>
            <a:ahLst/>
            <a:cxnLst/>
            <a:rect l="l" t="t" r="r" b="b"/>
            <a:pathLst>
              <a:path w="3479800" h="711200">
                <a:moveTo>
                  <a:pt x="50801" y="0"/>
                </a:moveTo>
                <a:lnTo>
                  <a:pt x="3428999" y="0"/>
                </a:lnTo>
                <a:cubicBezTo>
                  <a:pt x="3457056" y="0"/>
                  <a:pt x="3479800" y="22744"/>
                  <a:pt x="3479800" y="50801"/>
                </a:cubicBezTo>
                <a:lnTo>
                  <a:pt x="3479800" y="660399"/>
                </a:lnTo>
                <a:cubicBezTo>
                  <a:pt x="3479800" y="688456"/>
                  <a:pt x="3457056" y="711200"/>
                  <a:pt x="3428999" y="711200"/>
                </a:cubicBezTo>
                <a:lnTo>
                  <a:pt x="50801" y="711200"/>
                </a:lnTo>
                <a:cubicBezTo>
                  <a:pt x="22744" y="711200"/>
                  <a:pt x="0" y="688456"/>
                  <a:pt x="0" y="6603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4400550" y="111506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50-100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4400550" y="11404600"/>
            <a:ext cx="336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 overlap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55000" y="5562600"/>
            <a:ext cx="7493000" cy="3479800"/>
          </a:xfrm>
          <a:custGeom>
            <a:avLst/>
            <a:gdLst/>
            <a:ahLst/>
            <a:cxnLst/>
            <a:rect l="l" t="t" r="r" b="b"/>
            <a:pathLst>
              <a:path w="7493000" h="3479800">
                <a:moveTo>
                  <a:pt x="50800" y="0"/>
                </a:moveTo>
                <a:lnTo>
                  <a:pt x="7340585" y="0"/>
                </a:lnTo>
                <a:cubicBezTo>
                  <a:pt x="7424761" y="0"/>
                  <a:pt x="7493000" y="68239"/>
                  <a:pt x="7493000" y="152415"/>
                </a:cubicBezTo>
                <a:lnTo>
                  <a:pt x="7493000" y="3327385"/>
                </a:lnTo>
                <a:cubicBezTo>
                  <a:pt x="7493000" y="3411561"/>
                  <a:pt x="7424761" y="3479800"/>
                  <a:pt x="7340585" y="3479800"/>
                </a:cubicBezTo>
                <a:lnTo>
                  <a:pt x="50800" y="3479800"/>
                </a:lnTo>
                <a:cubicBezTo>
                  <a:pt x="22763" y="3479800"/>
                  <a:pt x="0" y="3457037"/>
                  <a:pt x="0" y="342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255000" y="5562600"/>
            <a:ext cx="50800" cy="3479800"/>
          </a:xfrm>
          <a:custGeom>
            <a:avLst/>
            <a:gdLst/>
            <a:ahLst/>
            <a:cxnLst/>
            <a:rect l="l" t="t" r="r" b="b"/>
            <a:pathLst>
              <a:path w="50800" h="3479800">
                <a:moveTo>
                  <a:pt x="50800" y="0"/>
                </a:moveTo>
                <a:lnTo>
                  <a:pt x="50800" y="0"/>
                </a:lnTo>
                <a:lnTo>
                  <a:pt x="50800" y="3479800"/>
                </a:lnTo>
                <a:lnTo>
                  <a:pt x="50800" y="3479800"/>
                </a:lnTo>
                <a:cubicBezTo>
                  <a:pt x="22763" y="3479800"/>
                  <a:pt x="0" y="3457037"/>
                  <a:pt x="0" y="342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5" name="Shape 63"/>
          <p:cNvSpPr/>
          <p:nvPr/>
        </p:nvSpPr>
        <p:spPr>
          <a:xfrm>
            <a:off x="8543925" y="58293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6" name="Text 64"/>
          <p:cNvSpPr/>
          <p:nvPr/>
        </p:nvSpPr>
        <p:spPr>
          <a:xfrm>
            <a:off x="8775700" y="57658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Cosine Similarity Search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483600" y="6273800"/>
            <a:ext cx="7162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 are embedded and compared to document chunks using cosine similarity. Top-k results (typically k=5) with highest similarity scores are retrieved.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83600" y="7416800"/>
            <a:ext cx="7061200" cy="1422400"/>
          </a:xfrm>
          <a:custGeom>
            <a:avLst/>
            <a:gdLst/>
            <a:ahLst/>
            <a:cxnLst/>
            <a:rect l="l" t="t" r="r" b="b"/>
            <a:pathLst>
              <a:path w="7061200" h="1422400">
                <a:moveTo>
                  <a:pt x="101602" y="0"/>
                </a:moveTo>
                <a:lnTo>
                  <a:pt x="6959598" y="0"/>
                </a:lnTo>
                <a:cubicBezTo>
                  <a:pt x="7015711" y="0"/>
                  <a:pt x="7061200" y="45489"/>
                  <a:pt x="7061200" y="101602"/>
                </a:cubicBezTo>
                <a:lnTo>
                  <a:pt x="7061200" y="1320798"/>
                </a:lnTo>
                <a:cubicBezTo>
                  <a:pt x="7061200" y="1376911"/>
                  <a:pt x="7015711" y="1422400"/>
                  <a:pt x="6959598" y="1422400"/>
                </a:cubicBezTo>
                <a:lnTo>
                  <a:pt x="101602" y="1422400"/>
                </a:lnTo>
                <a:cubicBezTo>
                  <a:pt x="45489" y="1422400"/>
                  <a:pt x="0" y="1376911"/>
                  <a:pt x="0" y="13207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636000" y="75946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Similarity Threshold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4935994" y="7569200"/>
            <a:ext cx="55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 0.7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636000" y="80010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Top-k Retrieval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4736564" y="7975600"/>
            <a:ext cx="76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 = 3-8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36000" y="8407400"/>
            <a:ext cx="1257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Latency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4238288" y="8382000"/>
            <a:ext cx="125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200-500ms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35950" y="9251950"/>
            <a:ext cx="7505700" cy="2705100"/>
          </a:xfrm>
          <a:custGeom>
            <a:avLst/>
            <a:gdLst/>
            <a:ahLst/>
            <a:cxnLst/>
            <a:rect l="l" t="t" r="r" b="b"/>
            <a:pathLst>
              <a:path w="7505700" h="2705100">
                <a:moveTo>
                  <a:pt x="152405" y="0"/>
                </a:moveTo>
                <a:lnTo>
                  <a:pt x="7353295" y="0"/>
                </a:lnTo>
                <a:cubicBezTo>
                  <a:pt x="7437466" y="0"/>
                  <a:pt x="7505700" y="68234"/>
                  <a:pt x="7505700" y="152405"/>
                </a:cubicBezTo>
                <a:lnTo>
                  <a:pt x="7505700" y="2552695"/>
                </a:lnTo>
                <a:cubicBezTo>
                  <a:pt x="7505700" y="2636866"/>
                  <a:pt x="7437466" y="2705100"/>
                  <a:pt x="7353295" y="2705100"/>
                </a:cubicBezTo>
                <a:lnTo>
                  <a:pt x="152405" y="2705100"/>
                </a:lnTo>
                <a:cubicBezTo>
                  <a:pt x="68234" y="2705100"/>
                  <a:pt x="0" y="2636866"/>
                  <a:pt x="0" y="2552695"/>
                </a:cubicBezTo>
                <a:lnTo>
                  <a:pt x="0" y="152405"/>
                </a:lnTo>
                <a:cubicBezTo>
                  <a:pt x="0" y="68291"/>
                  <a:pt x="68291" y="0"/>
                  <a:pt x="15240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77250" y="9525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7" name="Text 75"/>
          <p:cNvSpPr/>
          <p:nvPr/>
        </p:nvSpPr>
        <p:spPr>
          <a:xfrm>
            <a:off x="8737600" y="94615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8445500" y="9969500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Combines semantic similarity with keyword matching for optimal retrieval accuracy.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445500" y="108585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0" name="Text 78"/>
          <p:cNvSpPr/>
          <p:nvPr/>
        </p:nvSpPr>
        <p:spPr>
          <a:xfrm>
            <a:off x="8648700" y="10782300"/>
            <a:ext cx="2616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Vector semantic search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445500" y="112141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2" name="Text 80"/>
          <p:cNvSpPr/>
          <p:nvPr/>
        </p:nvSpPr>
        <p:spPr>
          <a:xfrm>
            <a:off x="8648700" y="11137900"/>
            <a:ext cx="229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Fallback: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 matching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445500" y="11569700"/>
            <a:ext cx="101600" cy="101600"/>
          </a:xfrm>
          <a:custGeom>
            <a:avLst/>
            <a:gdLst/>
            <a:ahLst/>
            <a:cxnLst/>
            <a:rect l="l" t="t" r="r" b="b"/>
            <a:pathLst>
              <a:path w="101600" h="101600">
                <a:moveTo>
                  <a:pt x="50800" y="0"/>
                </a:moveTo>
                <a:lnTo>
                  <a:pt x="50800" y="0"/>
                </a:lnTo>
                <a:cubicBezTo>
                  <a:pt x="78837" y="0"/>
                  <a:pt x="101600" y="22763"/>
                  <a:pt x="101600" y="50800"/>
                </a:cubicBezTo>
                <a:lnTo>
                  <a:pt x="101600" y="50800"/>
                </a:lnTo>
                <a:cubicBezTo>
                  <a:pt x="101600" y="78837"/>
                  <a:pt x="78837" y="101600"/>
                  <a:pt x="50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84" name="Text 82"/>
          <p:cNvSpPr/>
          <p:nvPr/>
        </p:nvSpPr>
        <p:spPr>
          <a:xfrm>
            <a:off x="8648700" y="11493500"/>
            <a:ext cx="2641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85%+ relevance accuracy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Obsidian Vaults: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Structured Personal Knowledge Repositories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540000"/>
            <a:ext cx="9042400" cy="3657600"/>
          </a:xfrm>
          <a:custGeom>
            <a:avLst/>
            <a:gdLst/>
            <a:ahLst/>
            <a:cxnLst/>
            <a:rect l="l" t="t" r="r" b="b"/>
            <a:pathLst>
              <a:path w="9042400" h="3657600">
                <a:moveTo>
                  <a:pt x="50800" y="0"/>
                </a:moveTo>
                <a:lnTo>
                  <a:pt x="8889988" y="0"/>
                </a:lnTo>
                <a:cubicBezTo>
                  <a:pt x="8974163" y="0"/>
                  <a:pt x="9042400" y="68237"/>
                  <a:pt x="9042400" y="152412"/>
                </a:cubicBezTo>
                <a:lnTo>
                  <a:pt x="9042400" y="3505188"/>
                </a:lnTo>
                <a:cubicBezTo>
                  <a:pt x="9042400" y="3589363"/>
                  <a:pt x="8974163" y="3657600"/>
                  <a:pt x="8889988" y="3657600"/>
                </a:cubicBezTo>
                <a:lnTo>
                  <a:pt x="50800" y="3657600"/>
                </a:lnTo>
                <a:cubicBezTo>
                  <a:pt x="22763" y="3657600"/>
                  <a:pt x="0" y="3634837"/>
                  <a:pt x="0" y="360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540000"/>
            <a:ext cx="50800" cy="3657600"/>
          </a:xfrm>
          <a:custGeom>
            <a:avLst/>
            <a:gdLst/>
            <a:ahLst/>
            <a:cxnLst/>
            <a:rect l="l" t="t" r="r" b="b"/>
            <a:pathLst>
              <a:path w="50800" h="3657600">
                <a:moveTo>
                  <a:pt x="50800" y="0"/>
                </a:moveTo>
                <a:lnTo>
                  <a:pt x="50800" y="0"/>
                </a:lnTo>
                <a:lnTo>
                  <a:pt x="50800" y="3657600"/>
                </a:lnTo>
                <a:lnTo>
                  <a:pt x="50800" y="3657600"/>
                </a:lnTo>
                <a:cubicBezTo>
                  <a:pt x="22763" y="3657600"/>
                  <a:pt x="0" y="3634837"/>
                  <a:pt x="0" y="3606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828675" y="2844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7781" y="111919"/>
                </a:moveTo>
                <a:lnTo>
                  <a:pt x="16073" y="146943"/>
                </a:lnTo>
                <a:lnTo>
                  <a:pt x="16073" y="47625"/>
                </a:lnTo>
                <a:cubicBezTo>
                  <a:pt x="16073" y="30113"/>
                  <a:pt x="30311" y="15875"/>
                  <a:pt x="47823" y="15875"/>
                </a:cubicBezTo>
                <a:lnTo>
                  <a:pt x="116632" y="15875"/>
                </a:lnTo>
                <a:cubicBezTo>
                  <a:pt x="123478" y="15875"/>
                  <a:pt x="130175" y="18107"/>
                  <a:pt x="135682" y="22225"/>
                </a:cubicBezTo>
                <a:lnTo>
                  <a:pt x="154732" y="36513"/>
                </a:lnTo>
                <a:cubicBezTo>
                  <a:pt x="157460" y="38596"/>
                  <a:pt x="160834" y="39688"/>
                  <a:pt x="164257" y="39688"/>
                </a:cubicBezTo>
                <a:lnTo>
                  <a:pt x="222448" y="39688"/>
                </a:lnTo>
                <a:cubicBezTo>
                  <a:pt x="239961" y="39688"/>
                  <a:pt x="254198" y="53925"/>
                  <a:pt x="254198" y="71438"/>
                </a:cubicBezTo>
                <a:lnTo>
                  <a:pt x="254198" y="79375"/>
                </a:lnTo>
                <a:lnTo>
                  <a:pt x="72926" y="79375"/>
                </a:lnTo>
                <a:cubicBezTo>
                  <a:pt x="52437" y="79375"/>
                  <a:pt x="34230" y="92472"/>
                  <a:pt x="27732" y="111919"/>
                </a:cubicBezTo>
                <a:close/>
                <a:moveTo>
                  <a:pt x="237034" y="222250"/>
                </a:moveTo>
                <a:lnTo>
                  <a:pt x="49113" y="222250"/>
                </a:lnTo>
                <a:cubicBezTo>
                  <a:pt x="32841" y="222250"/>
                  <a:pt x="21382" y="206325"/>
                  <a:pt x="26541" y="190897"/>
                </a:cubicBezTo>
                <a:lnTo>
                  <a:pt x="50354" y="119459"/>
                </a:lnTo>
                <a:cubicBezTo>
                  <a:pt x="53578" y="109736"/>
                  <a:pt x="62706" y="103188"/>
                  <a:pt x="72926" y="103188"/>
                </a:cubicBezTo>
                <a:lnTo>
                  <a:pt x="260846" y="103188"/>
                </a:lnTo>
                <a:cubicBezTo>
                  <a:pt x="277118" y="103188"/>
                  <a:pt x="288578" y="119112"/>
                  <a:pt x="283418" y="134541"/>
                </a:cubicBezTo>
                <a:lnTo>
                  <a:pt x="259606" y="205978"/>
                </a:lnTo>
                <a:cubicBezTo>
                  <a:pt x="256381" y="215702"/>
                  <a:pt x="247253" y="222250"/>
                  <a:pt x="237034" y="2222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2794000"/>
            <a:ext cx="831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Obsidian is Ideal for RAG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3528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101596" y="0"/>
                </a:moveTo>
                <a:lnTo>
                  <a:pt x="4076704" y="0"/>
                </a:lnTo>
                <a:cubicBezTo>
                  <a:pt x="4132814" y="0"/>
                  <a:pt x="4178300" y="45486"/>
                  <a:pt x="4178300" y="101596"/>
                </a:cubicBezTo>
                <a:lnTo>
                  <a:pt x="4178300" y="1117604"/>
                </a:lnTo>
                <a:cubicBezTo>
                  <a:pt x="4178300" y="1173714"/>
                  <a:pt x="4132814" y="1219200"/>
                  <a:pt x="40767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35560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61198" y="117316"/>
                </a:moveTo>
                <a:cubicBezTo>
                  <a:pt x="64611" y="113308"/>
                  <a:pt x="64175" y="107315"/>
                  <a:pt x="60166" y="103902"/>
                </a:cubicBezTo>
                <a:cubicBezTo>
                  <a:pt x="56158" y="100489"/>
                  <a:pt x="50165" y="100925"/>
                  <a:pt x="46752" y="104934"/>
                </a:cubicBezTo>
                <a:lnTo>
                  <a:pt x="27702" y="127159"/>
                </a:lnTo>
                <a:cubicBezTo>
                  <a:pt x="24646" y="130731"/>
                  <a:pt x="24646" y="135969"/>
                  <a:pt x="27702" y="139541"/>
                </a:cubicBezTo>
                <a:lnTo>
                  <a:pt x="46752" y="161766"/>
                </a:lnTo>
                <a:cubicBezTo>
                  <a:pt x="50165" y="165775"/>
                  <a:pt x="56198" y="166211"/>
                  <a:pt x="60166" y="162798"/>
                </a:cubicBezTo>
                <a:cubicBezTo>
                  <a:pt x="64135" y="159385"/>
                  <a:pt x="64611" y="153353"/>
                  <a:pt x="61198" y="149384"/>
                </a:cubicBezTo>
                <a:lnTo>
                  <a:pt x="47466" y="133350"/>
                </a:lnTo>
                <a:lnTo>
                  <a:pt x="61198" y="117316"/>
                </a:lnTo>
                <a:close/>
                <a:moveTo>
                  <a:pt x="105648" y="104934"/>
                </a:moveTo>
                <a:cubicBezTo>
                  <a:pt x="102235" y="100925"/>
                  <a:pt x="96202" y="100489"/>
                  <a:pt x="92234" y="103902"/>
                </a:cubicBezTo>
                <a:cubicBezTo>
                  <a:pt x="88265" y="107315"/>
                  <a:pt x="87789" y="113348"/>
                  <a:pt x="91202" y="117316"/>
                </a:cubicBezTo>
                <a:lnTo>
                  <a:pt x="104934" y="133350"/>
                </a:lnTo>
                <a:lnTo>
                  <a:pt x="91202" y="149384"/>
                </a:lnTo>
                <a:cubicBezTo>
                  <a:pt x="87789" y="153392"/>
                  <a:pt x="88225" y="159385"/>
                  <a:pt x="92234" y="162798"/>
                </a:cubicBezTo>
                <a:cubicBezTo>
                  <a:pt x="96242" y="166211"/>
                  <a:pt x="102235" y="165775"/>
                  <a:pt x="105648" y="161766"/>
                </a:cubicBezTo>
                <a:lnTo>
                  <a:pt x="124698" y="139541"/>
                </a:lnTo>
                <a:cubicBezTo>
                  <a:pt x="127754" y="135969"/>
                  <a:pt x="127754" y="130731"/>
                  <a:pt x="124698" y="127159"/>
                </a:cubicBezTo>
                <a:lnTo>
                  <a:pt x="105648" y="104934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9"/>
          <p:cNvSpPr/>
          <p:nvPr/>
        </p:nvSpPr>
        <p:spPr>
          <a:xfrm>
            <a:off x="1320800" y="3505200"/>
            <a:ext cx="158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Pure Markdown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39116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Human-readable, machine-parseable, future-proof format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40920" y="33528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101596" y="0"/>
                </a:moveTo>
                <a:lnTo>
                  <a:pt x="4076704" y="0"/>
                </a:lnTo>
                <a:cubicBezTo>
                  <a:pt x="4132814" y="0"/>
                  <a:pt x="4178300" y="45486"/>
                  <a:pt x="4178300" y="101596"/>
                </a:cubicBezTo>
                <a:lnTo>
                  <a:pt x="4178300" y="1117604"/>
                </a:lnTo>
                <a:cubicBezTo>
                  <a:pt x="4178300" y="1173714"/>
                  <a:pt x="4132814" y="1219200"/>
                  <a:pt x="40767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318720" y="3556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5648920" y="35052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93320" y="39116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Privacy, ownership, offline access, zero data retention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" y="47244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101596" y="0"/>
                </a:moveTo>
                <a:lnTo>
                  <a:pt x="4076704" y="0"/>
                </a:lnTo>
                <a:cubicBezTo>
                  <a:pt x="4132814" y="0"/>
                  <a:pt x="4178300" y="45486"/>
                  <a:pt x="4178300" y="101596"/>
                </a:cubicBezTo>
                <a:lnTo>
                  <a:pt x="4178300" y="1117604"/>
                </a:lnTo>
                <a:cubicBezTo>
                  <a:pt x="4178300" y="1173714"/>
                  <a:pt x="4132814" y="1219200"/>
                  <a:pt x="40767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77900" y="4927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1320800" y="4876800"/>
            <a:ext cx="96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Wikilinks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5200" y="52832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 linking [[Note]] creates knowledge graphs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40920" y="4724400"/>
            <a:ext cx="4178300" cy="1219200"/>
          </a:xfrm>
          <a:custGeom>
            <a:avLst/>
            <a:gdLst/>
            <a:ahLst/>
            <a:cxnLst/>
            <a:rect l="l" t="t" r="r" b="b"/>
            <a:pathLst>
              <a:path w="4178300" h="1219200">
                <a:moveTo>
                  <a:pt x="101596" y="0"/>
                </a:moveTo>
                <a:lnTo>
                  <a:pt x="4076704" y="0"/>
                </a:lnTo>
                <a:cubicBezTo>
                  <a:pt x="4132814" y="0"/>
                  <a:pt x="4178300" y="45486"/>
                  <a:pt x="4178300" y="101596"/>
                </a:cubicBezTo>
                <a:lnTo>
                  <a:pt x="4178300" y="1117604"/>
                </a:lnTo>
                <a:cubicBezTo>
                  <a:pt x="4178300" y="1173714"/>
                  <a:pt x="4132814" y="1219200"/>
                  <a:pt x="40767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06020" y="49276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59226" y="15518"/>
                </a:moveTo>
                <a:lnTo>
                  <a:pt x="218043" y="75168"/>
                </a:lnTo>
                <a:cubicBezTo>
                  <a:pt x="229037" y="86320"/>
                  <a:pt x="229037" y="104180"/>
                  <a:pt x="218043" y="115332"/>
                </a:cubicBezTo>
                <a:lnTo>
                  <a:pt x="155972" y="178157"/>
                </a:lnTo>
                <a:cubicBezTo>
                  <a:pt x="152281" y="181888"/>
                  <a:pt x="146248" y="181928"/>
                  <a:pt x="142518" y="178237"/>
                </a:cubicBezTo>
                <a:cubicBezTo>
                  <a:pt x="138787" y="174546"/>
                  <a:pt x="138748" y="168513"/>
                  <a:pt x="142438" y="164783"/>
                </a:cubicBezTo>
                <a:lnTo>
                  <a:pt x="204510" y="101918"/>
                </a:lnTo>
                <a:cubicBezTo>
                  <a:pt x="208161" y="98227"/>
                  <a:pt x="208161" y="92234"/>
                  <a:pt x="204510" y="88543"/>
                </a:cubicBezTo>
                <a:lnTo>
                  <a:pt x="145653" y="28932"/>
                </a:lnTo>
                <a:cubicBezTo>
                  <a:pt x="141962" y="25202"/>
                  <a:pt x="142002" y="19169"/>
                  <a:pt x="145733" y="15478"/>
                </a:cubicBezTo>
                <a:cubicBezTo>
                  <a:pt x="149463" y="11787"/>
                  <a:pt x="155496" y="11827"/>
                  <a:pt x="159187" y="15558"/>
                </a:cubicBezTo>
                <a:close/>
                <a:moveTo>
                  <a:pt x="12740" y="91083"/>
                </a:moveTo>
                <a:lnTo>
                  <a:pt x="12740" y="38100"/>
                </a:lnTo>
                <a:cubicBezTo>
                  <a:pt x="12740" y="24090"/>
                  <a:pt x="24130" y="12700"/>
                  <a:pt x="38140" y="12700"/>
                </a:cubicBezTo>
                <a:lnTo>
                  <a:pt x="91123" y="12700"/>
                </a:lnTo>
                <a:cubicBezTo>
                  <a:pt x="97869" y="12700"/>
                  <a:pt x="104338" y="15359"/>
                  <a:pt x="109101" y="20122"/>
                </a:cubicBezTo>
                <a:lnTo>
                  <a:pt x="166251" y="77272"/>
                </a:lnTo>
                <a:cubicBezTo>
                  <a:pt x="176173" y="87193"/>
                  <a:pt x="176173" y="103267"/>
                  <a:pt x="166251" y="113189"/>
                </a:cubicBezTo>
                <a:lnTo>
                  <a:pt x="113268" y="166172"/>
                </a:lnTo>
                <a:cubicBezTo>
                  <a:pt x="103346" y="176093"/>
                  <a:pt x="87273" y="176093"/>
                  <a:pt x="77351" y="166172"/>
                </a:cubicBezTo>
                <a:lnTo>
                  <a:pt x="20201" y="109022"/>
                </a:lnTo>
                <a:cubicBezTo>
                  <a:pt x="15438" y="104259"/>
                  <a:pt x="12779" y="97790"/>
                  <a:pt x="12779" y="91043"/>
                </a:cubicBezTo>
                <a:close/>
                <a:moveTo>
                  <a:pt x="69890" y="57150"/>
                </a:moveTo>
                <a:cubicBezTo>
                  <a:pt x="69890" y="50141"/>
                  <a:pt x="64199" y="44450"/>
                  <a:pt x="57190" y="44450"/>
                </a:cubicBezTo>
                <a:cubicBezTo>
                  <a:pt x="50180" y="44450"/>
                  <a:pt x="44490" y="50141"/>
                  <a:pt x="44490" y="57150"/>
                </a:cubicBezTo>
                <a:cubicBezTo>
                  <a:pt x="44490" y="64159"/>
                  <a:pt x="50180" y="69850"/>
                  <a:pt x="57190" y="69850"/>
                </a:cubicBezTo>
                <a:cubicBezTo>
                  <a:pt x="64199" y="69850"/>
                  <a:pt x="69890" y="64159"/>
                  <a:pt x="69890" y="571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5648920" y="4876800"/>
            <a:ext cx="146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Rich Metadata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93320" y="5283200"/>
            <a:ext cx="396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YAML frontmatter enables structured data extraction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8000" y="6400800"/>
            <a:ext cx="9067800" cy="5194300"/>
          </a:xfrm>
          <a:custGeom>
            <a:avLst/>
            <a:gdLst/>
            <a:ahLst/>
            <a:cxnLst/>
            <a:rect l="l" t="t" r="r" b="b"/>
            <a:pathLst>
              <a:path w="9067800" h="5194300">
                <a:moveTo>
                  <a:pt x="152401" y="0"/>
                </a:moveTo>
                <a:lnTo>
                  <a:pt x="8915399" y="0"/>
                </a:lnTo>
                <a:cubicBezTo>
                  <a:pt x="8999568" y="0"/>
                  <a:pt x="9067800" y="68232"/>
                  <a:pt x="9067800" y="152401"/>
                </a:cubicBezTo>
                <a:lnTo>
                  <a:pt x="9067800" y="5041899"/>
                </a:lnTo>
                <a:cubicBezTo>
                  <a:pt x="9067800" y="5126068"/>
                  <a:pt x="8999568" y="5194300"/>
                  <a:pt x="8915399" y="5194300"/>
                </a:cubicBezTo>
                <a:lnTo>
                  <a:pt x="152401" y="5194300"/>
                </a:lnTo>
                <a:cubicBezTo>
                  <a:pt x="68232" y="5194300"/>
                  <a:pt x="0" y="5126068"/>
                  <a:pt x="0" y="5041899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93750" y="6705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6654800"/>
            <a:ext cx="836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Vault Structure Example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7213600"/>
            <a:ext cx="8559800" cy="3962400"/>
          </a:xfrm>
          <a:custGeom>
            <a:avLst/>
            <a:gdLst/>
            <a:ahLst/>
            <a:cxnLst/>
            <a:rect l="l" t="t" r="r" b="b"/>
            <a:pathLst>
              <a:path w="8559800" h="3962400">
                <a:moveTo>
                  <a:pt x="101596" y="0"/>
                </a:moveTo>
                <a:lnTo>
                  <a:pt x="8458204" y="0"/>
                </a:lnTo>
                <a:cubicBezTo>
                  <a:pt x="8514314" y="0"/>
                  <a:pt x="8559800" y="45486"/>
                  <a:pt x="8559800" y="101596"/>
                </a:cubicBezTo>
                <a:lnTo>
                  <a:pt x="8559800" y="3860804"/>
                </a:lnTo>
                <a:cubicBezTo>
                  <a:pt x="8559800" y="3916914"/>
                  <a:pt x="8514314" y="3962400"/>
                  <a:pt x="8458204" y="3962400"/>
                </a:cubicBezTo>
                <a:lnTo>
                  <a:pt x="101596" y="3962400"/>
                </a:lnTo>
                <a:cubicBezTo>
                  <a:pt x="45486" y="3962400"/>
                  <a:pt x="0" y="3916914"/>
                  <a:pt x="0" y="38608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65200" y="7416800"/>
            <a:ext cx="824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MyVault/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68400" y="7670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📁 01_Inbox/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68400" y="7924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└── quick-captures.md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68400" y="8178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📁 02_Projects/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68400" y="8432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project-alpha/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68400" y="8686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│ ├── requirements.md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68400" y="8940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│ ├── [[meeting-notes]]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68400" y="9194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│ └── decisions.md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68400" y="9448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📁 03_Research/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68400" y="9702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├── papers/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68400" y="9956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└── insights.md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68400" y="10210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├──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📁 04_Daily/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68400" y="10464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│ └── 2026-03-25.md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68400" y="10718800"/>
            <a:ext cx="803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└── 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📄 templates/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780191" y="2546350"/>
            <a:ext cx="5956300" cy="3771900"/>
          </a:xfrm>
          <a:custGeom>
            <a:avLst/>
            <a:gdLst/>
            <a:ahLst/>
            <a:cxnLst/>
            <a:rect l="l" t="t" r="r" b="b"/>
            <a:pathLst>
              <a:path w="5956300" h="3771900">
                <a:moveTo>
                  <a:pt x="152385" y="0"/>
                </a:moveTo>
                <a:lnTo>
                  <a:pt x="5803915" y="0"/>
                </a:lnTo>
                <a:cubicBezTo>
                  <a:pt x="5888075" y="0"/>
                  <a:pt x="5956300" y="68225"/>
                  <a:pt x="5956300" y="152385"/>
                </a:cubicBezTo>
                <a:lnTo>
                  <a:pt x="5956300" y="3619515"/>
                </a:lnTo>
                <a:cubicBezTo>
                  <a:pt x="5956300" y="3703675"/>
                  <a:pt x="5888075" y="3771900"/>
                  <a:pt x="5803915" y="3771900"/>
                </a:cubicBezTo>
                <a:lnTo>
                  <a:pt x="152385" y="3771900"/>
                </a:lnTo>
                <a:cubicBezTo>
                  <a:pt x="68225" y="3771900"/>
                  <a:pt x="0" y="3703675"/>
                  <a:pt x="0" y="3619515"/>
                </a:cubicBezTo>
                <a:lnTo>
                  <a:pt x="0" y="152385"/>
                </a:lnTo>
                <a:cubicBezTo>
                  <a:pt x="0" y="68281"/>
                  <a:pt x="68281" y="0"/>
                  <a:pt x="15238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058003" y="2870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5" name="Text 43"/>
          <p:cNvSpPr/>
          <p:nvPr/>
        </p:nvSpPr>
        <p:spPr>
          <a:xfrm>
            <a:off x="10332641" y="2806700"/>
            <a:ext cx="525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Markdown + Frontmatter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40541" y="3314700"/>
            <a:ext cx="5435600" cy="2743200"/>
          </a:xfrm>
          <a:custGeom>
            <a:avLst/>
            <a:gdLst/>
            <a:ahLst/>
            <a:cxnLst/>
            <a:rect l="l" t="t" r="r" b="b"/>
            <a:pathLst>
              <a:path w="5435600" h="2743200">
                <a:moveTo>
                  <a:pt x="101608" y="0"/>
                </a:moveTo>
                <a:lnTo>
                  <a:pt x="5333992" y="0"/>
                </a:lnTo>
                <a:cubicBezTo>
                  <a:pt x="5390108" y="0"/>
                  <a:pt x="5435600" y="45492"/>
                  <a:pt x="5435600" y="101608"/>
                </a:cubicBezTo>
                <a:lnTo>
                  <a:pt x="5435600" y="2641592"/>
                </a:lnTo>
                <a:cubicBezTo>
                  <a:pt x="5435600" y="2697708"/>
                  <a:pt x="5390108" y="2743200"/>
                  <a:pt x="5333992" y="2743200"/>
                </a:cubicBezTo>
                <a:lnTo>
                  <a:pt x="101608" y="2743200"/>
                </a:lnTo>
                <a:cubicBezTo>
                  <a:pt x="45492" y="2743200"/>
                  <a:pt x="0" y="2697708"/>
                  <a:pt x="0" y="26415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192941" y="34671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---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192941" y="36576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title: "Project Alpha"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92941" y="38481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status: "active"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92941" y="40386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priority: "high"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192941" y="42291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tags: ["dev", "ai"]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192941" y="44196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created: "2026-03-20"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92941" y="46101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---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192941" y="49022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Project Overview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192941" y="50927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requirements for...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192941" y="52832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Feature A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92941" y="54737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- Feature B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0192941" y="5715000"/>
            <a:ext cx="520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See also: [[related-project]]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780191" y="6534150"/>
            <a:ext cx="5956300" cy="2794000"/>
          </a:xfrm>
          <a:custGeom>
            <a:avLst/>
            <a:gdLst/>
            <a:ahLst/>
            <a:cxnLst/>
            <a:rect l="l" t="t" r="r" b="b"/>
            <a:pathLst>
              <a:path w="5956300" h="2794000">
                <a:moveTo>
                  <a:pt x="152413" y="0"/>
                </a:moveTo>
                <a:lnTo>
                  <a:pt x="5803887" y="0"/>
                </a:lnTo>
                <a:cubicBezTo>
                  <a:pt x="5888063" y="0"/>
                  <a:pt x="5956300" y="68237"/>
                  <a:pt x="5956300" y="152413"/>
                </a:cubicBezTo>
                <a:lnTo>
                  <a:pt x="5956300" y="2641587"/>
                </a:lnTo>
                <a:cubicBezTo>
                  <a:pt x="5956300" y="2725763"/>
                  <a:pt x="5888063" y="2794000"/>
                  <a:pt x="5803887" y="2794000"/>
                </a:cubicBezTo>
                <a:lnTo>
                  <a:pt x="152413" y="2794000"/>
                </a:lnTo>
                <a:cubicBezTo>
                  <a:pt x="68237" y="2794000"/>
                  <a:pt x="0" y="2725763"/>
                  <a:pt x="0" y="2641587"/>
                </a:cubicBezTo>
                <a:lnTo>
                  <a:pt x="0" y="152413"/>
                </a:lnTo>
                <a:cubicBezTo>
                  <a:pt x="0" y="68237"/>
                  <a:pt x="68237" y="0"/>
                  <a:pt x="152413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72291" y="6858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9"/>
          <p:cNvSpPr/>
          <p:nvPr/>
        </p:nvSpPr>
        <p:spPr>
          <a:xfrm>
            <a:off x="10332641" y="6794500"/>
            <a:ext cx="5257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 View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040541" y="7302500"/>
            <a:ext cx="553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Obsidian's graph view visualizes note connections, revealing relationships and clusters in your knowledge base.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040541" y="8115300"/>
            <a:ext cx="5435600" cy="952500"/>
          </a:xfrm>
          <a:custGeom>
            <a:avLst/>
            <a:gdLst/>
            <a:ahLst/>
            <a:cxnLst/>
            <a:rect l="l" t="t" r="r" b="b"/>
            <a:pathLst>
              <a:path w="5435600" h="952500">
                <a:moveTo>
                  <a:pt x="101603" y="0"/>
                </a:moveTo>
                <a:lnTo>
                  <a:pt x="5333997" y="0"/>
                </a:lnTo>
                <a:cubicBezTo>
                  <a:pt x="5390111" y="0"/>
                  <a:pt x="5435600" y="45489"/>
                  <a:pt x="5435600" y="101603"/>
                </a:cubicBezTo>
                <a:lnTo>
                  <a:pt x="5435600" y="850897"/>
                </a:lnTo>
                <a:cubicBezTo>
                  <a:pt x="5435600" y="907011"/>
                  <a:pt x="5390111" y="952500"/>
                  <a:pt x="5333997" y="952500"/>
                </a:cubicBezTo>
                <a:lnTo>
                  <a:pt x="101603" y="952500"/>
                </a:lnTo>
                <a:cubicBezTo>
                  <a:pt x="45489" y="952500"/>
                  <a:pt x="0" y="907011"/>
                  <a:pt x="0" y="8508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116741" y="8267700"/>
            <a:ext cx="2667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148491" y="86614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Notes = Entities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2735322" y="8267700"/>
            <a:ext cx="26670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2767072" y="8661400"/>
            <a:ext cx="260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Links = Relations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773841" y="9537700"/>
            <a:ext cx="5969000" cy="2057400"/>
          </a:xfrm>
          <a:custGeom>
            <a:avLst/>
            <a:gdLst/>
            <a:ahLst/>
            <a:cxnLst/>
            <a:rect l="l" t="t" r="r" b="b"/>
            <a:pathLst>
              <a:path w="5969000" h="2057400">
                <a:moveTo>
                  <a:pt x="152392" y="0"/>
                </a:moveTo>
                <a:lnTo>
                  <a:pt x="5816608" y="0"/>
                </a:lnTo>
                <a:cubicBezTo>
                  <a:pt x="5900772" y="0"/>
                  <a:pt x="5969000" y="68228"/>
                  <a:pt x="5969000" y="152392"/>
                </a:cubicBezTo>
                <a:lnTo>
                  <a:pt x="5969000" y="1905008"/>
                </a:lnTo>
                <a:cubicBezTo>
                  <a:pt x="5969000" y="1989172"/>
                  <a:pt x="5900772" y="2057400"/>
                  <a:pt x="5816608" y="2057400"/>
                </a:cubicBezTo>
                <a:lnTo>
                  <a:pt x="152392" y="2057400"/>
                </a:lnTo>
                <a:cubicBezTo>
                  <a:pt x="68228" y="2057400"/>
                  <a:pt x="0" y="1989172"/>
                  <a:pt x="0" y="1905008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002441" y="9791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0" name="Text 68"/>
          <p:cNvSpPr/>
          <p:nvPr/>
        </p:nvSpPr>
        <p:spPr>
          <a:xfrm>
            <a:off x="10231041" y="9740900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AI-Ready Features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046891" y="101854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2" name="Text 70"/>
          <p:cNvSpPr/>
          <p:nvPr/>
        </p:nvSpPr>
        <p:spPr>
          <a:xfrm>
            <a:off x="10300891" y="101473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Plain text = easy parsing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46891" y="105156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4" name="Text 72"/>
          <p:cNvSpPr/>
          <p:nvPr/>
        </p:nvSpPr>
        <p:spPr>
          <a:xfrm>
            <a:off x="10300891" y="10477500"/>
            <a:ext cx="248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metadata extraction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046891" y="108458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6" name="Text 74"/>
          <p:cNvSpPr/>
          <p:nvPr/>
        </p:nvSpPr>
        <p:spPr>
          <a:xfrm>
            <a:off x="10300891" y="10807700"/>
            <a:ext cx="176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Link graph for context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046891" y="11176000"/>
            <a:ext cx="88900" cy="177800"/>
          </a:xfrm>
          <a:custGeom>
            <a:avLst/>
            <a:gdLst/>
            <a:ahLst/>
            <a:cxnLst/>
            <a:rect l="l" t="t" r="r" b="b"/>
            <a:pathLst>
              <a:path w="88900" h="177800">
                <a:moveTo>
                  <a:pt x="85809" y="81052"/>
                </a:moveTo>
                <a:cubicBezTo>
                  <a:pt x="90150" y="85393"/>
                  <a:pt x="90150" y="92442"/>
                  <a:pt x="85809" y="96783"/>
                </a:cubicBezTo>
                <a:lnTo>
                  <a:pt x="30247" y="152345"/>
                </a:lnTo>
                <a:cubicBezTo>
                  <a:pt x="25906" y="156686"/>
                  <a:pt x="18857" y="156686"/>
                  <a:pt x="14516" y="152345"/>
                </a:cubicBezTo>
                <a:cubicBezTo>
                  <a:pt x="10175" y="148005"/>
                  <a:pt x="10175" y="140955"/>
                  <a:pt x="14516" y="136614"/>
                </a:cubicBezTo>
                <a:lnTo>
                  <a:pt x="62230" y="88900"/>
                </a:lnTo>
                <a:lnTo>
                  <a:pt x="14550" y="41186"/>
                </a:lnTo>
                <a:cubicBezTo>
                  <a:pt x="10210" y="36845"/>
                  <a:pt x="10210" y="29795"/>
                  <a:pt x="14550" y="25455"/>
                </a:cubicBezTo>
                <a:cubicBezTo>
                  <a:pt x="18891" y="21114"/>
                  <a:pt x="25941" y="21114"/>
                  <a:pt x="30282" y="25455"/>
                </a:cubicBezTo>
                <a:lnTo>
                  <a:pt x="85844" y="8101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8" name="Text 76"/>
          <p:cNvSpPr/>
          <p:nvPr/>
        </p:nvSpPr>
        <p:spPr>
          <a:xfrm>
            <a:off x="10300891" y="11137900"/>
            <a:ext cx="229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Folder hierarchy = categories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0e7bd82811a60f1ae48260e6b785d51f4b6ac78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9821" b="982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Memory Architecture: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Building Blocks of AI Personalization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4"/>
          <p:cNvSpPr/>
          <p:nvPr/>
        </p:nvSpPr>
        <p:spPr>
          <a:xfrm>
            <a:off x="508000" y="2565400"/>
            <a:ext cx="4940300" cy="4114800"/>
          </a:xfrm>
          <a:custGeom>
            <a:avLst/>
            <a:gdLst/>
            <a:ahLst/>
            <a:cxnLst/>
            <a:rect l="l" t="t" r="r" b="b"/>
            <a:pathLst>
              <a:path w="4940300" h="4114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3962388"/>
                </a:lnTo>
                <a:cubicBezTo>
                  <a:pt x="4940300" y="4046563"/>
                  <a:pt x="4872063" y="4114800"/>
                  <a:pt x="4787888" y="4114800"/>
                </a:cubicBezTo>
                <a:lnTo>
                  <a:pt x="152412" y="4114800"/>
                </a:lnTo>
                <a:cubicBezTo>
                  <a:pt x="68237" y="4114800"/>
                  <a:pt x="0" y="4046563"/>
                  <a:pt x="0" y="39623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8000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Shape 6"/>
          <p:cNvSpPr/>
          <p:nvPr/>
        </p:nvSpPr>
        <p:spPr>
          <a:xfrm>
            <a:off x="711200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04875" y="3022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68077" y="-4911"/>
                </a:moveTo>
                <a:cubicBezTo>
                  <a:pt x="173980" y="-645"/>
                  <a:pt x="176163" y="7094"/>
                  <a:pt x="173484" y="13841"/>
                </a:cubicBezTo>
                <a:lnTo>
                  <a:pt x="134590" y="111125"/>
                </a:lnTo>
                <a:lnTo>
                  <a:pt x="206375" y="111125"/>
                </a:lnTo>
                <a:cubicBezTo>
                  <a:pt x="213072" y="111125"/>
                  <a:pt x="219025" y="115292"/>
                  <a:pt x="221307" y="121593"/>
                </a:cubicBezTo>
                <a:cubicBezTo>
                  <a:pt x="223589" y="127893"/>
                  <a:pt x="221655" y="134938"/>
                  <a:pt x="216545" y="139204"/>
                </a:cubicBezTo>
                <a:lnTo>
                  <a:pt x="73670" y="258266"/>
                </a:lnTo>
                <a:cubicBezTo>
                  <a:pt x="68064" y="262930"/>
                  <a:pt x="60077" y="263178"/>
                  <a:pt x="54173" y="258911"/>
                </a:cubicBezTo>
                <a:cubicBezTo>
                  <a:pt x="48270" y="254645"/>
                  <a:pt x="46087" y="246906"/>
                  <a:pt x="48766" y="240159"/>
                </a:cubicBezTo>
                <a:lnTo>
                  <a:pt x="87660" y="142875"/>
                </a:lnTo>
                <a:lnTo>
                  <a:pt x="15875" y="142875"/>
                </a:lnTo>
                <a:cubicBezTo>
                  <a:pt x="9178" y="142875"/>
                  <a:pt x="3225" y="138708"/>
                  <a:pt x="943" y="132407"/>
                </a:cubicBezTo>
                <a:cubicBezTo>
                  <a:pt x="-1339" y="126107"/>
                  <a:pt x="595" y="119062"/>
                  <a:pt x="5705" y="114796"/>
                </a:cubicBezTo>
                <a:lnTo>
                  <a:pt x="148580" y="-4266"/>
                </a:lnTo>
                <a:cubicBezTo>
                  <a:pt x="154186" y="-8930"/>
                  <a:pt x="162173" y="-9178"/>
                  <a:pt x="168077" y="-4911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8"/>
          <p:cNvSpPr/>
          <p:nvPr/>
        </p:nvSpPr>
        <p:spPr>
          <a:xfrm>
            <a:off x="1473200" y="2794000"/>
            <a:ext cx="209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Short-Term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Memory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200" y="36576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immediate context, temporary preferences, and transient information during active conversations.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1200" y="4800600"/>
            <a:ext cx="4533900" cy="812800"/>
          </a:xfrm>
          <a:custGeom>
            <a:avLst/>
            <a:gdLst/>
            <a:ahLst/>
            <a:cxnLst/>
            <a:rect l="l" t="t" r="r" b="b"/>
            <a:pathLst>
              <a:path w="4533900" h="812800">
                <a:moveTo>
                  <a:pt x="101600" y="0"/>
                </a:moveTo>
                <a:lnTo>
                  <a:pt x="4432300" y="0"/>
                </a:lnTo>
                <a:cubicBezTo>
                  <a:pt x="4488375" y="0"/>
                  <a:pt x="4533900" y="45525"/>
                  <a:pt x="4533900" y="101600"/>
                </a:cubicBezTo>
                <a:lnTo>
                  <a:pt x="4533900" y="711200"/>
                </a:lnTo>
                <a:cubicBezTo>
                  <a:pt x="4533900" y="767275"/>
                  <a:pt x="4488375" y="812800"/>
                  <a:pt x="4432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12800" y="49022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Lifespan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2800" y="5207000"/>
            <a:ext cx="443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Session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11200" y="5715000"/>
            <a:ext cx="4533900" cy="762000"/>
          </a:xfrm>
          <a:custGeom>
            <a:avLst/>
            <a:gdLst/>
            <a:ahLst/>
            <a:cxnLst/>
            <a:rect l="l" t="t" r="r" b="b"/>
            <a:pathLst>
              <a:path w="4533900" h="762000">
                <a:moveTo>
                  <a:pt x="101597" y="0"/>
                </a:moveTo>
                <a:lnTo>
                  <a:pt x="4432303" y="0"/>
                </a:lnTo>
                <a:cubicBezTo>
                  <a:pt x="4488413" y="0"/>
                  <a:pt x="4533900" y="45487"/>
                  <a:pt x="4533900" y="101597"/>
                </a:cubicBezTo>
                <a:lnTo>
                  <a:pt x="4533900" y="660403"/>
                </a:lnTo>
                <a:cubicBezTo>
                  <a:pt x="4533900" y="716513"/>
                  <a:pt x="4488413" y="762000"/>
                  <a:pt x="4432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12800" y="58166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12800" y="61214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Temporary overrides, immediate context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55667" y="2565400"/>
            <a:ext cx="4940300" cy="4114800"/>
          </a:xfrm>
          <a:custGeom>
            <a:avLst/>
            <a:gdLst/>
            <a:ahLst/>
            <a:cxnLst/>
            <a:rect l="l" t="t" r="r" b="b"/>
            <a:pathLst>
              <a:path w="4940300" h="4114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3962388"/>
                </a:lnTo>
                <a:cubicBezTo>
                  <a:pt x="4940300" y="4046563"/>
                  <a:pt x="4872063" y="4114800"/>
                  <a:pt x="4787888" y="4114800"/>
                </a:cubicBezTo>
                <a:lnTo>
                  <a:pt x="152412" y="4114800"/>
                </a:lnTo>
                <a:cubicBezTo>
                  <a:pt x="68237" y="4114800"/>
                  <a:pt x="0" y="4046563"/>
                  <a:pt x="0" y="39623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655667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1" name="Shape 18"/>
          <p:cNvSpPr/>
          <p:nvPr/>
        </p:nvSpPr>
        <p:spPr>
          <a:xfrm>
            <a:off x="5858867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052542" y="3022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Text 20"/>
          <p:cNvSpPr/>
          <p:nvPr/>
        </p:nvSpPr>
        <p:spPr>
          <a:xfrm>
            <a:off x="6620867" y="2794000"/>
            <a:ext cx="1917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Memory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8867" y="3657600"/>
            <a:ext cx="4635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durable user preferences, facts, and behavioral patterns that persist across all sessions.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58867" y="4470400"/>
            <a:ext cx="4533900" cy="812800"/>
          </a:xfrm>
          <a:custGeom>
            <a:avLst/>
            <a:gdLst/>
            <a:ahLst/>
            <a:cxnLst/>
            <a:rect l="l" t="t" r="r" b="b"/>
            <a:pathLst>
              <a:path w="4533900" h="812800">
                <a:moveTo>
                  <a:pt x="101600" y="0"/>
                </a:moveTo>
                <a:lnTo>
                  <a:pt x="4432300" y="0"/>
                </a:lnTo>
                <a:cubicBezTo>
                  <a:pt x="4488375" y="0"/>
                  <a:pt x="4533900" y="45525"/>
                  <a:pt x="4533900" y="101600"/>
                </a:cubicBezTo>
                <a:lnTo>
                  <a:pt x="4533900" y="711200"/>
                </a:lnTo>
                <a:cubicBezTo>
                  <a:pt x="4533900" y="767275"/>
                  <a:pt x="4488375" y="812800"/>
                  <a:pt x="4432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960467" y="45720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Lifespan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960467" y="4876800"/>
            <a:ext cx="443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58867" y="5384800"/>
            <a:ext cx="4533900" cy="762000"/>
          </a:xfrm>
          <a:custGeom>
            <a:avLst/>
            <a:gdLst/>
            <a:ahLst/>
            <a:cxnLst/>
            <a:rect l="l" t="t" r="r" b="b"/>
            <a:pathLst>
              <a:path w="4533900" h="762000">
                <a:moveTo>
                  <a:pt x="101597" y="0"/>
                </a:moveTo>
                <a:lnTo>
                  <a:pt x="4432303" y="0"/>
                </a:lnTo>
                <a:cubicBezTo>
                  <a:pt x="4488413" y="0"/>
                  <a:pt x="4533900" y="45487"/>
                  <a:pt x="4533900" y="101597"/>
                </a:cubicBezTo>
                <a:lnTo>
                  <a:pt x="4533900" y="660403"/>
                </a:lnTo>
                <a:cubicBezTo>
                  <a:pt x="4533900" y="716513"/>
                  <a:pt x="4488413" y="762000"/>
                  <a:pt x="44323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960467" y="54864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960467" y="57912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Preferences, facts, patterns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0803334" y="2565400"/>
            <a:ext cx="4940300" cy="4114800"/>
          </a:xfrm>
          <a:custGeom>
            <a:avLst/>
            <a:gdLst/>
            <a:ahLst/>
            <a:cxnLst/>
            <a:rect l="l" t="t" r="r" b="b"/>
            <a:pathLst>
              <a:path w="4940300" h="4114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3962388"/>
                </a:lnTo>
                <a:cubicBezTo>
                  <a:pt x="4940300" y="4046563"/>
                  <a:pt x="4872063" y="4114800"/>
                  <a:pt x="4787888" y="4114800"/>
                </a:cubicBezTo>
                <a:lnTo>
                  <a:pt x="152412" y="4114800"/>
                </a:lnTo>
                <a:cubicBezTo>
                  <a:pt x="68237" y="4114800"/>
                  <a:pt x="0" y="4046563"/>
                  <a:pt x="0" y="3962388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10803334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3" name="Shape 30"/>
          <p:cNvSpPr/>
          <p:nvPr/>
        </p:nvSpPr>
        <p:spPr>
          <a:xfrm>
            <a:off x="11006534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1184334" y="302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5" name="Text 32"/>
          <p:cNvSpPr/>
          <p:nvPr/>
        </p:nvSpPr>
        <p:spPr>
          <a:xfrm>
            <a:off x="11768534" y="2794000"/>
            <a:ext cx="11049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11006534" y="3657600"/>
            <a:ext cx="4533900" cy="812800"/>
          </a:xfrm>
          <a:custGeom>
            <a:avLst/>
            <a:gdLst/>
            <a:ahLst/>
            <a:cxnLst/>
            <a:rect l="l" t="t" r="r" b="b"/>
            <a:pathLst>
              <a:path w="4533900" h="812800">
                <a:moveTo>
                  <a:pt x="101600" y="0"/>
                </a:moveTo>
                <a:lnTo>
                  <a:pt x="4432300" y="0"/>
                </a:lnTo>
                <a:cubicBezTo>
                  <a:pt x="4488375" y="0"/>
                  <a:pt x="4533900" y="45525"/>
                  <a:pt x="4533900" y="101600"/>
                </a:cubicBezTo>
                <a:lnTo>
                  <a:pt x="4533900" y="711200"/>
                </a:lnTo>
                <a:cubicBezTo>
                  <a:pt x="4533900" y="767275"/>
                  <a:pt x="4488375" y="812800"/>
                  <a:pt x="4432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11122422" y="3822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00013" y="22225"/>
                </a:moveTo>
                <a:cubicBezTo>
                  <a:pt x="136823" y="22225"/>
                  <a:pt x="166688" y="52090"/>
                  <a:pt x="166688" y="88900"/>
                </a:cubicBezTo>
                <a:cubicBezTo>
                  <a:pt x="166688" y="125710"/>
                  <a:pt x="136823" y="155575"/>
                  <a:pt x="100013" y="155575"/>
                </a:cubicBezTo>
                <a:cubicBezTo>
                  <a:pt x="77371" y="155575"/>
                  <a:pt x="57334" y="144289"/>
                  <a:pt x="45283" y="126995"/>
                </a:cubicBezTo>
                <a:cubicBezTo>
                  <a:pt x="41776" y="121960"/>
                  <a:pt x="34831" y="120744"/>
                  <a:pt x="29795" y="124252"/>
                </a:cubicBezTo>
                <a:cubicBezTo>
                  <a:pt x="24760" y="127759"/>
                  <a:pt x="23545" y="134704"/>
                  <a:pt x="27052" y="139740"/>
                </a:cubicBezTo>
                <a:cubicBezTo>
                  <a:pt x="43096" y="162729"/>
                  <a:pt x="69800" y="177800"/>
                  <a:pt x="100013" y="177800"/>
                </a:cubicBezTo>
                <a:cubicBezTo>
                  <a:pt x="149116" y="177800"/>
                  <a:pt x="188913" y="138003"/>
                  <a:pt x="188913" y="88900"/>
                </a:cubicBezTo>
                <a:cubicBezTo>
                  <a:pt x="188913" y="39797"/>
                  <a:pt x="149116" y="0"/>
                  <a:pt x="100013" y="0"/>
                </a:cubicBezTo>
                <a:cubicBezTo>
                  <a:pt x="70252" y="0"/>
                  <a:pt x="43929" y="14620"/>
                  <a:pt x="27781" y="37053"/>
                </a:cubicBezTo>
                <a:lnTo>
                  <a:pt x="27781" y="27781"/>
                </a:lnTo>
                <a:cubicBezTo>
                  <a:pt x="27781" y="21635"/>
                  <a:pt x="22815" y="16669"/>
                  <a:pt x="16669" y="16669"/>
                </a:cubicBezTo>
                <a:cubicBezTo>
                  <a:pt x="10522" y="16669"/>
                  <a:pt x="5556" y="21635"/>
                  <a:pt x="5556" y="27781"/>
                </a:cubicBezTo>
                <a:lnTo>
                  <a:pt x="5556" y="66675"/>
                </a:lnTo>
                <a:cubicBezTo>
                  <a:pt x="5556" y="72822"/>
                  <a:pt x="10522" y="77788"/>
                  <a:pt x="16669" y="77788"/>
                </a:cubicBezTo>
                <a:lnTo>
                  <a:pt x="25211" y="77788"/>
                </a:lnTo>
                <a:cubicBezTo>
                  <a:pt x="25385" y="77788"/>
                  <a:pt x="25559" y="77788"/>
                  <a:pt x="25732" y="77788"/>
                </a:cubicBezTo>
                <a:lnTo>
                  <a:pt x="55597" y="77788"/>
                </a:lnTo>
                <a:cubicBezTo>
                  <a:pt x="61744" y="77788"/>
                  <a:pt x="66710" y="72822"/>
                  <a:pt x="66710" y="66675"/>
                </a:cubicBezTo>
                <a:cubicBezTo>
                  <a:pt x="66710" y="60528"/>
                  <a:pt x="61744" y="55563"/>
                  <a:pt x="55597" y="55563"/>
                </a:cubicBezTo>
                <a:lnTo>
                  <a:pt x="42297" y="55563"/>
                </a:lnTo>
                <a:cubicBezTo>
                  <a:pt x="53791" y="35629"/>
                  <a:pt x="75357" y="22225"/>
                  <a:pt x="100013" y="22225"/>
                </a:cubicBezTo>
                <a:close/>
                <a:moveTo>
                  <a:pt x="108347" y="52784"/>
                </a:moveTo>
                <a:cubicBezTo>
                  <a:pt x="108347" y="48166"/>
                  <a:pt x="104631" y="44450"/>
                  <a:pt x="100013" y="44450"/>
                </a:cubicBezTo>
                <a:cubicBezTo>
                  <a:pt x="95394" y="44450"/>
                  <a:pt x="91678" y="48166"/>
                  <a:pt x="91678" y="52784"/>
                </a:cubicBezTo>
                <a:lnTo>
                  <a:pt x="91678" y="88900"/>
                </a:lnTo>
                <a:cubicBezTo>
                  <a:pt x="91678" y="91122"/>
                  <a:pt x="92546" y="93241"/>
                  <a:pt x="94109" y="94804"/>
                </a:cubicBezTo>
                <a:lnTo>
                  <a:pt x="119112" y="119807"/>
                </a:lnTo>
                <a:cubicBezTo>
                  <a:pt x="122376" y="123071"/>
                  <a:pt x="127655" y="123071"/>
                  <a:pt x="130884" y="119807"/>
                </a:cubicBezTo>
                <a:cubicBezTo>
                  <a:pt x="134114" y="116542"/>
                  <a:pt x="134149" y="111264"/>
                  <a:pt x="130884" y="108034"/>
                </a:cubicBezTo>
                <a:lnTo>
                  <a:pt x="108312" y="85462"/>
                </a:lnTo>
                <a:lnTo>
                  <a:pt x="108312" y="52784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8" name="Text 35"/>
          <p:cNvSpPr/>
          <p:nvPr/>
        </p:nvSpPr>
        <p:spPr>
          <a:xfrm>
            <a:off x="11431984" y="3759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Episodic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11108134" y="41148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Specific experiences, events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11006534" y="4572000"/>
            <a:ext cx="4533900" cy="812800"/>
          </a:xfrm>
          <a:custGeom>
            <a:avLst/>
            <a:gdLst/>
            <a:ahLst/>
            <a:cxnLst/>
            <a:rect l="l" t="t" r="r" b="b"/>
            <a:pathLst>
              <a:path w="4533900" h="812800">
                <a:moveTo>
                  <a:pt x="101600" y="0"/>
                </a:moveTo>
                <a:lnTo>
                  <a:pt x="4432300" y="0"/>
                </a:lnTo>
                <a:cubicBezTo>
                  <a:pt x="4488375" y="0"/>
                  <a:pt x="4533900" y="45525"/>
                  <a:pt x="4533900" y="101600"/>
                </a:cubicBezTo>
                <a:lnTo>
                  <a:pt x="4533900" y="711200"/>
                </a:lnTo>
                <a:cubicBezTo>
                  <a:pt x="4533900" y="767275"/>
                  <a:pt x="4488375" y="812800"/>
                  <a:pt x="4432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11144647" y="47371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33350" y="177800"/>
                </a:moveTo>
                <a:lnTo>
                  <a:pt x="33337" y="177800"/>
                </a:lnTo>
                <a:cubicBezTo>
                  <a:pt x="14932" y="177800"/>
                  <a:pt x="0" y="162868"/>
                  <a:pt x="0" y="144463"/>
                </a:cubicBezTo>
                <a:lnTo>
                  <a:pt x="0" y="33337"/>
                </a:lnTo>
                <a:cubicBezTo>
                  <a:pt x="0" y="14932"/>
                  <a:pt x="14932" y="0"/>
                  <a:pt x="33337" y="0"/>
                </a:cubicBezTo>
                <a:lnTo>
                  <a:pt x="138906" y="0"/>
                </a:lnTo>
                <a:cubicBezTo>
                  <a:pt x="148109" y="0"/>
                  <a:pt x="155575" y="7466"/>
                  <a:pt x="155575" y="16669"/>
                </a:cubicBezTo>
                <a:lnTo>
                  <a:pt x="155575" y="116681"/>
                </a:lnTo>
                <a:cubicBezTo>
                  <a:pt x="155575" y="123939"/>
                  <a:pt x="150922" y="130120"/>
                  <a:pt x="144463" y="132412"/>
                </a:cubicBezTo>
                <a:lnTo>
                  <a:pt x="144463" y="155575"/>
                </a:lnTo>
                <a:cubicBezTo>
                  <a:pt x="150609" y="155575"/>
                  <a:pt x="155575" y="160541"/>
                  <a:pt x="155575" y="166688"/>
                </a:cubicBezTo>
                <a:cubicBezTo>
                  <a:pt x="155575" y="172834"/>
                  <a:pt x="150609" y="177800"/>
                  <a:pt x="144463" y="177800"/>
                </a:cubicBezTo>
                <a:lnTo>
                  <a:pt x="133350" y="177800"/>
                </a:lnTo>
                <a:close/>
                <a:moveTo>
                  <a:pt x="33337" y="133350"/>
                </a:moveTo>
                <a:cubicBezTo>
                  <a:pt x="27191" y="133350"/>
                  <a:pt x="22225" y="138316"/>
                  <a:pt x="22225" y="144463"/>
                </a:cubicBezTo>
                <a:cubicBezTo>
                  <a:pt x="22225" y="150609"/>
                  <a:pt x="27191" y="155575"/>
                  <a:pt x="33337" y="155575"/>
                </a:cubicBezTo>
                <a:lnTo>
                  <a:pt x="122238" y="155575"/>
                </a:lnTo>
                <a:lnTo>
                  <a:pt x="122238" y="133350"/>
                </a:lnTo>
                <a:lnTo>
                  <a:pt x="33337" y="133350"/>
                </a:lnTo>
                <a:close/>
                <a:moveTo>
                  <a:pt x="44450" y="52784"/>
                </a:moveTo>
                <a:cubicBezTo>
                  <a:pt x="44450" y="57403"/>
                  <a:pt x="48166" y="61119"/>
                  <a:pt x="52784" y="61119"/>
                </a:cubicBezTo>
                <a:lnTo>
                  <a:pt x="113903" y="61119"/>
                </a:lnTo>
                <a:cubicBezTo>
                  <a:pt x="118522" y="61119"/>
                  <a:pt x="122238" y="57403"/>
                  <a:pt x="122238" y="52784"/>
                </a:cubicBezTo>
                <a:cubicBezTo>
                  <a:pt x="122238" y="48166"/>
                  <a:pt x="118522" y="44450"/>
                  <a:pt x="113903" y="44450"/>
                </a:cubicBezTo>
                <a:lnTo>
                  <a:pt x="52784" y="44450"/>
                </a:lnTo>
                <a:cubicBezTo>
                  <a:pt x="48166" y="44450"/>
                  <a:pt x="44450" y="48166"/>
                  <a:pt x="44450" y="52784"/>
                </a:cubicBezTo>
                <a:close/>
                <a:moveTo>
                  <a:pt x="52784" y="77788"/>
                </a:moveTo>
                <a:cubicBezTo>
                  <a:pt x="48166" y="77788"/>
                  <a:pt x="44450" y="81503"/>
                  <a:pt x="44450" y="86122"/>
                </a:cubicBezTo>
                <a:cubicBezTo>
                  <a:pt x="44450" y="90741"/>
                  <a:pt x="48166" y="94456"/>
                  <a:pt x="52784" y="94456"/>
                </a:cubicBezTo>
                <a:lnTo>
                  <a:pt x="113903" y="94456"/>
                </a:lnTo>
                <a:cubicBezTo>
                  <a:pt x="118522" y="94456"/>
                  <a:pt x="122238" y="90741"/>
                  <a:pt x="122238" y="86122"/>
                </a:cubicBezTo>
                <a:cubicBezTo>
                  <a:pt x="122238" y="81503"/>
                  <a:pt x="118522" y="77788"/>
                  <a:pt x="113903" y="77788"/>
                </a:cubicBezTo>
                <a:lnTo>
                  <a:pt x="52784" y="77788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2" name="Text 39"/>
          <p:cNvSpPr/>
          <p:nvPr/>
        </p:nvSpPr>
        <p:spPr>
          <a:xfrm>
            <a:off x="11431984" y="4673600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11108134" y="50292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facts, knowledge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11006534" y="5486400"/>
            <a:ext cx="4533900" cy="812800"/>
          </a:xfrm>
          <a:custGeom>
            <a:avLst/>
            <a:gdLst/>
            <a:ahLst/>
            <a:cxnLst/>
            <a:rect l="l" t="t" r="r" b="b"/>
            <a:pathLst>
              <a:path w="4533900" h="812800">
                <a:moveTo>
                  <a:pt x="101600" y="0"/>
                </a:moveTo>
                <a:lnTo>
                  <a:pt x="4432300" y="0"/>
                </a:lnTo>
                <a:cubicBezTo>
                  <a:pt x="4488375" y="0"/>
                  <a:pt x="4533900" y="45525"/>
                  <a:pt x="4533900" y="101600"/>
                </a:cubicBezTo>
                <a:lnTo>
                  <a:pt x="4533900" y="711200"/>
                </a:lnTo>
                <a:cubicBezTo>
                  <a:pt x="4533900" y="767275"/>
                  <a:pt x="4488375" y="812800"/>
                  <a:pt x="44323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11111309" y="56515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6" name="Text 43"/>
          <p:cNvSpPr/>
          <p:nvPr/>
        </p:nvSpPr>
        <p:spPr>
          <a:xfrm>
            <a:off x="11431984" y="5588000"/>
            <a:ext cx="113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1108134" y="5943600"/>
            <a:ext cx="441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How-to knowledge, workflows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508000" y="6883400"/>
            <a:ext cx="15240000" cy="4140200"/>
          </a:xfrm>
          <a:custGeom>
            <a:avLst/>
            <a:gdLst/>
            <a:ahLst/>
            <a:cxnLst/>
            <a:rect l="l" t="t" r="r" b="b"/>
            <a:pathLst>
              <a:path w="15240000" h="4140200">
                <a:moveTo>
                  <a:pt x="152401" y="0"/>
                </a:moveTo>
                <a:lnTo>
                  <a:pt x="15087599" y="0"/>
                </a:lnTo>
                <a:cubicBezTo>
                  <a:pt x="15171768" y="0"/>
                  <a:pt x="15240000" y="68232"/>
                  <a:pt x="15240000" y="152401"/>
                </a:cubicBezTo>
                <a:lnTo>
                  <a:pt x="15240000" y="3987799"/>
                </a:lnTo>
                <a:cubicBezTo>
                  <a:pt x="15240000" y="4071968"/>
                  <a:pt x="15171768" y="4140200"/>
                  <a:pt x="15087599" y="4140200"/>
                </a:cubicBezTo>
                <a:lnTo>
                  <a:pt x="152401" y="4140200"/>
                </a:lnTo>
                <a:cubicBezTo>
                  <a:pt x="68232" y="4140200"/>
                  <a:pt x="0" y="4071968"/>
                  <a:pt x="0" y="3987799"/>
                </a:cubicBezTo>
                <a:lnTo>
                  <a:pt x="0" y="152401"/>
                </a:lnTo>
                <a:cubicBezTo>
                  <a:pt x="0" y="68288"/>
                  <a:pt x="68288" y="0"/>
                  <a:pt x="152401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698500" y="7137400"/>
            <a:ext cx="148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Lifecycle: From Capture to Injection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74700" y="7785100"/>
            <a:ext cx="4432300" cy="2895600"/>
          </a:xfrm>
          <a:custGeom>
            <a:avLst/>
            <a:gdLst/>
            <a:ahLst/>
            <a:cxnLst/>
            <a:rect l="l" t="t" r="r" b="b"/>
            <a:pathLst>
              <a:path w="4432300" h="2895600">
                <a:moveTo>
                  <a:pt x="152395" y="0"/>
                </a:moveTo>
                <a:lnTo>
                  <a:pt x="4279905" y="0"/>
                </a:lnTo>
                <a:cubicBezTo>
                  <a:pt x="4364014" y="0"/>
                  <a:pt x="4432300" y="68286"/>
                  <a:pt x="4432300" y="152395"/>
                </a:cubicBezTo>
                <a:lnTo>
                  <a:pt x="4432300" y="2743205"/>
                </a:lnTo>
                <a:cubicBezTo>
                  <a:pt x="4432300" y="2827314"/>
                  <a:pt x="4364014" y="2895600"/>
                  <a:pt x="4279905" y="2895600"/>
                </a:cubicBezTo>
                <a:lnTo>
                  <a:pt x="152395" y="2895600"/>
                </a:lnTo>
                <a:cubicBezTo>
                  <a:pt x="68286" y="2895600"/>
                  <a:pt x="0" y="2827314"/>
                  <a:pt x="0" y="27432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25400">
            <a:solidFill>
              <a:srgbClr val="4A7C59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90600" y="8001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2" name="Text 49"/>
          <p:cNvSpPr/>
          <p:nvPr/>
        </p:nvSpPr>
        <p:spPr>
          <a:xfrm>
            <a:off x="939800" y="80010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1651000" y="80772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Distillation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990600" y="8661400"/>
            <a:ext cx="4102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During conversation, AI captures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memories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a dedicated tool when high-signal information emerges.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990600" y="9753600"/>
            <a:ext cx="4000500" cy="711200"/>
          </a:xfrm>
          <a:custGeom>
            <a:avLst/>
            <a:gdLst/>
            <a:ahLst/>
            <a:cxnLst/>
            <a:rect l="l" t="t" r="r" b="b"/>
            <a:pathLst>
              <a:path w="4000500" h="711200">
                <a:moveTo>
                  <a:pt x="101602" y="0"/>
                </a:moveTo>
                <a:lnTo>
                  <a:pt x="3898898" y="0"/>
                </a:lnTo>
                <a:cubicBezTo>
                  <a:pt x="3955011" y="0"/>
                  <a:pt x="4000500" y="45489"/>
                  <a:pt x="4000500" y="101602"/>
                </a:cubicBezTo>
                <a:lnTo>
                  <a:pt x="4000500" y="609598"/>
                </a:lnTo>
                <a:cubicBezTo>
                  <a:pt x="4000500" y="665711"/>
                  <a:pt x="3955011" y="711200"/>
                  <a:pt x="38988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990600" y="9753600"/>
            <a:ext cx="40894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"User prefers aisle seats" → saved to session memory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5406033" y="908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8" name="Shape 55"/>
          <p:cNvSpPr/>
          <p:nvPr/>
        </p:nvSpPr>
        <p:spPr>
          <a:xfrm>
            <a:off x="5914033" y="7708900"/>
            <a:ext cx="4432300" cy="3048000"/>
          </a:xfrm>
          <a:custGeom>
            <a:avLst/>
            <a:gdLst/>
            <a:ahLst/>
            <a:cxnLst/>
            <a:rect l="l" t="t" r="r" b="b"/>
            <a:pathLst>
              <a:path w="4432300" h="3048000">
                <a:moveTo>
                  <a:pt x="152400" y="0"/>
                </a:moveTo>
                <a:lnTo>
                  <a:pt x="4279900" y="0"/>
                </a:lnTo>
                <a:cubicBezTo>
                  <a:pt x="4364012" y="0"/>
                  <a:pt x="4432300" y="68288"/>
                  <a:pt x="4432300" y="152400"/>
                </a:cubicBezTo>
                <a:lnTo>
                  <a:pt x="4432300" y="2895600"/>
                </a:lnTo>
                <a:cubicBezTo>
                  <a:pt x="4432300" y="2979712"/>
                  <a:pt x="4364012" y="3048000"/>
                  <a:pt x="4279900" y="3048000"/>
                </a:cubicBezTo>
                <a:lnTo>
                  <a:pt x="152400" y="3048000"/>
                </a:lnTo>
                <a:cubicBezTo>
                  <a:pt x="68288" y="3048000"/>
                  <a:pt x="0" y="2979712"/>
                  <a:pt x="0" y="2895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25400">
            <a:solidFill>
              <a:srgbClr val="D4A373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6129933" y="7924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0" name="Text 57"/>
          <p:cNvSpPr/>
          <p:nvPr/>
        </p:nvSpPr>
        <p:spPr>
          <a:xfrm>
            <a:off x="6079133" y="79248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61" name="Text 58"/>
          <p:cNvSpPr/>
          <p:nvPr/>
        </p:nvSpPr>
        <p:spPr>
          <a:xfrm>
            <a:off x="6790333" y="8001000"/>
            <a:ext cx="1587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Consolidation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6129933" y="8585200"/>
            <a:ext cx="4102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Session ends → memories are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merged into global memory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deduplication and conflict resolution.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158508" y="9728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Text 61"/>
          <p:cNvSpPr/>
          <p:nvPr/>
        </p:nvSpPr>
        <p:spPr>
          <a:xfrm>
            <a:off x="6422033" y="9677400"/>
            <a:ext cx="154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duplicates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6158508" y="10033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6" name="Text 63"/>
          <p:cNvSpPr/>
          <p:nvPr/>
        </p:nvSpPr>
        <p:spPr>
          <a:xfrm>
            <a:off x="6422033" y="9982200"/>
            <a:ext cx="255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Resolve conflicts (recency wins)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6158508" y="10337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8" name="Text 65"/>
          <p:cNvSpPr/>
          <p:nvPr/>
        </p:nvSpPr>
        <p:spPr>
          <a:xfrm>
            <a:off x="6422033" y="102870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Prune stale memories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10545366" y="9080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70" name="Shape 67"/>
          <p:cNvSpPr/>
          <p:nvPr/>
        </p:nvSpPr>
        <p:spPr>
          <a:xfrm>
            <a:off x="11053366" y="7912100"/>
            <a:ext cx="4432300" cy="2641600"/>
          </a:xfrm>
          <a:custGeom>
            <a:avLst/>
            <a:gdLst/>
            <a:ahLst/>
            <a:cxnLst/>
            <a:rect l="l" t="t" r="r" b="b"/>
            <a:pathLst>
              <a:path w="4432300" h="2641600">
                <a:moveTo>
                  <a:pt x="152394" y="0"/>
                </a:moveTo>
                <a:lnTo>
                  <a:pt x="4279906" y="0"/>
                </a:lnTo>
                <a:cubicBezTo>
                  <a:pt x="4364071" y="0"/>
                  <a:pt x="4432300" y="68229"/>
                  <a:pt x="4432300" y="152394"/>
                </a:cubicBezTo>
                <a:lnTo>
                  <a:pt x="4432300" y="2489206"/>
                </a:lnTo>
                <a:cubicBezTo>
                  <a:pt x="4432300" y="2573371"/>
                  <a:pt x="4364071" y="2641600"/>
                  <a:pt x="4279906" y="2641600"/>
                </a:cubicBezTo>
                <a:lnTo>
                  <a:pt x="152394" y="2641600"/>
                </a:lnTo>
                <a:cubicBezTo>
                  <a:pt x="68229" y="2641600"/>
                  <a:pt x="0" y="2573371"/>
                  <a:pt x="0" y="24892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 w="25400">
            <a:solidFill>
              <a:srgbClr val="788A9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1269266" y="812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72" name="Text 69"/>
          <p:cNvSpPr/>
          <p:nvPr/>
        </p:nvSpPr>
        <p:spPr>
          <a:xfrm>
            <a:off x="11218466" y="8128000"/>
            <a:ext cx="609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11929666" y="82042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Injection</a:t>
            </a:r>
            <a:endParaRPr lang="en-US" sz="1600" dirty="0"/>
          </a:p>
        </p:txBody>
      </p:sp>
      <p:sp>
        <p:nvSpPr>
          <p:cNvPr id="74" name="Text 71"/>
          <p:cNvSpPr/>
          <p:nvPr/>
        </p:nvSpPr>
        <p:spPr>
          <a:xfrm>
            <a:off x="11269266" y="8788400"/>
            <a:ext cx="41021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session starts →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relevant memories are injected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the system prompt for context.</a:t>
            </a:r>
            <a:endParaRPr lang="en-US" sz="1600" dirty="0"/>
          </a:p>
        </p:txBody>
      </p:sp>
      <p:sp>
        <p:nvSpPr>
          <p:cNvPr id="75" name="Shape 72"/>
          <p:cNvSpPr/>
          <p:nvPr/>
        </p:nvSpPr>
        <p:spPr>
          <a:xfrm>
            <a:off x="11269266" y="9880600"/>
            <a:ext cx="4000500" cy="457200"/>
          </a:xfrm>
          <a:custGeom>
            <a:avLst/>
            <a:gdLst/>
            <a:ahLst/>
            <a:cxnLst/>
            <a:rect l="l" t="t" r="r" b="b"/>
            <a:pathLst>
              <a:path w="4000500" h="457200">
                <a:moveTo>
                  <a:pt x="101599" y="0"/>
                </a:moveTo>
                <a:lnTo>
                  <a:pt x="3898901" y="0"/>
                </a:lnTo>
                <a:cubicBezTo>
                  <a:pt x="3955013" y="0"/>
                  <a:pt x="4000500" y="45487"/>
                  <a:pt x="4000500" y="101599"/>
                </a:cubicBezTo>
                <a:lnTo>
                  <a:pt x="4000500" y="355601"/>
                </a:lnTo>
                <a:cubicBezTo>
                  <a:pt x="4000500" y="411713"/>
                  <a:pt x="3955013" y="457200"/>
                  <a:pt x="38989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76" name="Text 73"/>
          <p:cNvSpPr/>
          <p:nvPr/>
        </p:nvSpPr>
        <p:spPr>
          <a:xfrm>
            <a:off x="11269266" y="9880600"/>
            <a:ext cx="40894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Format: YAML frontmatter + Markdown list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Context Window Optimization: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Managing Limited Attention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540000"/>
            <a:ext cx="7467600" cy="4343400"/>
          </a:xfrm>
          <a:custGeom>
            <a:avLst/>
            <a:gdLst/>
            <a:ahLst/>
            <a:cxnLst/>
            <a:rect l="l" t="t" r="r" b="b"/>
            <a:pathLst>
              <a:path w="7467600" h="4343400">
                <a:moveTo>
                  <a:pt x="50800" y="0"/>
                </a:moveTo>
                <a:lnTo>
                  <a:pt x="7315190" y="0"/>
                </a:lnTo>
                <a:cubicBezTo>
                  <a:pt x="7399364" y="0"/>
                  <a:pt x="7467600" y="68236"/>
                  <a:pt x="7467600" y="152410"/>
                </a:cubicBezTo>
                <a:lnTo>
                  <a:pt x="7467600" y="4190990"/>
                </a:lnTo>
                <a:cubicBezTo>
                  <a:pt x="7467600" y="4275164"/>
                  <a:pt x="7399364" y="4343400"/>
                  <a:pt x="7315190" y="4343400"/>
                </a:cubicBezTo>
                <a:lnTo>
                  <a:pt x="50800" y="4343400"/>
                </a:lnTo>
                <a:cubicBezTo>
                  <a:pt x="22763" y="4343400"/>
                  <a:pt x="0" y="4320637"/>
                  <a:pt x="0" y="429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540000"/>
            <a:ext cx="50800" cy="4343400"/>
          </a:xfrm>
          <a:custGeom>
            <a:avLst/>
            <a:gdLst/>
            <a:ahLst/>
            <a:cxnLst/>
            <a:rect l="l" t="t" r="r" b="b"/>
            <a:pathLst>
              <a:path w="50800" h="4343400">
                <a:moveTo>
                  <a:pt x="50800" y="0"/>
                </a:moveTo>
                <a:lnTo>
                  <a:pt x="50800" y="0"/>
                </a:lnTo>
                <a:lnTo>
                  <a:pt x="50800" y="4343400"/>
                </a:lnTo>
                <a:lnTo>
                  <a:pt x="50800" y="4343400"/>
                </a:lnTo>
                <a:cubicBezTo>
                  <a:pt x="22763" y="4343400"/>
                  <a:pt x="0" y="4320637"/>
                  <a:pt x="0" y="429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Shape 5"/>
          <p:cNvSpPr/>
          <p:nvPr/>
        </p:nvSpPr>
        <p:spPr>
          <a:xfrm>
            <a:off x="844550" y="284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2794000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"Lost in the Middle"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352800"/>
            <a:ext cx="703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 context length increases,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degrades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LLMs struggle to attend to information in the middle of long contexts. Performance drops significantly beyond certain thresholds.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546600"/>
            <a:ext cx="6934200" cy="2082800"/>
          </a:xfrm>
          <a:custGeom>
            <a:avLst/>
            <a:gdLst/>
            <a:ahLst/>
            <a:cxnLst/>
            <a:rect l="l" t="t" r="r" b="b"/>
            <a:pathLst>
              <a:path w="6934200" h="2082800">
                <a:moveTo>
                  <a:pt x="101599" y="0"/>
                </a:moveTo>
                <a:lnTo>
                  <a:pt x="6832601" y="0"/>
                </a:lnTo>
                <a:cubicBezTo>
                  <a:pt x="6888713" y="0"/>
                  <a:pt x="6934200" y="45487"/>
                  <a:pt x="6934200" y="101599"/>
                </a:cubicBezTo>
                <a:lnTo>
                  <a:pt x="6934200" y="1981201"/>
                </a:lnTo>
                <a:cubicBezTo>
                  <a:pt x="6934200" y="2037313"/>
                  <a:pt x="6888713" y="2082800"/>
                  <a:pt x="6832601" y="2082800"/>
                </a:cubicBezTo>
                <a:lnTo>
                  <a:pt x="101599" y="2082800"/>
                </a:lnTo>
                <a:cubicBezTo>
                  <a:pt x="45487" y="2082800"/>
                  <a:pt x="0" y="2037313"/>
                  <a:pt x="0" y="19812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7752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4K tokens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2844" y="47498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95% accuracy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6000" y="5105400"/>
            <a:ext cx="6527800" cy="101600"/>
          </a:xfrm>
          <a:custGeom>
            <a:avLst/>
            <a:gdLst/>
            <a:ahLst/>
            <a:cxnLst/>
            <a:rect l="l" t="t" r="r" b="b"/>
            <a:pathLst>
              <a:path w="6527800" h="101600">
                <a:moveTo>
                  <a:pt x="50800" y="0"/>
                </a:moveTo>
                <a:lnTo>
                  <a:pt x="6477000" y="0"/>
                </a:lnTo>
                <a:cubicBezTo>
                  <a:pt x="6505037" y="0"/>
                  <a:pt x="6527800" y="22763"/>
                  <a:pt x="6527800" y="50800"/>
                </a:cubicBezTo>
                <a:lnTo>
                  <a:pt x="6527800" y="50800"/>
                </a:lnTo>
                <a:cubicBezTo>
                  <a:pt x="6527800" y="78837"/>
                  <a:pt x="6505037" y="101600"/>
                  <a:pt x="6477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105400"/>
            <a:ext cx="6197600" cy="101600"/>
          </a:xfrm>
          <a:custGeom>
            <a:avLst/>
            <a:gdLst/>
            <a:ahLst/>
            <a:cxnLst/>
            <a:rect l="l" t="t" r="r" b="b"/>
            <a:pathLst>
              <a:path w="6197600" h="101600">
                <a:moveTo>
                  <a:pt x="50800" y="0"/>
                </a:moveTo>
                <a:lnTo>
                  <a:pt x="6146800" y="0"/>
                </a:lnTo>
                <a:cubicBezTo>
                  <a:pt x="6174837" y="0"/>
                  <a:pt x="6197600" y="22763"/>
                  <a:pt x="6197600" y="50800"/>
                </a:cubicBezTo>
                <a:lnTo>
                  <a:pt x="6197600" y="50800"/>
                </a:lnTo>
                <a:cubicBezTo>
                  <a:pt x="6197600" y="78837"/>
                  <a:pt x="6174837" y="101600"/>
                  <a:pt x="61468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38480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16K tokens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7925" y="5359400"/>
            <a:ext cx="138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78% accuracy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16000" y="5715000"/>
            <a:ext cx="6527800" cy="101600"/>
          </a:xfrm>
          <a:custGeom>
            <a:avLst/>
            <a:gdLst/>
            <a:ahLst/>
            <a:cxnLst/>
            <a:rect l="l" t="t" r="r" b="b"/>
            <a:pathLst>
              <a:path w="6527800" h="101600">
                <a:moveTo>
                  <a:pt x="50800" y="0"/>
                </a:moveTo>
                <a:lnTo>
                  <a:pt x="6477000" y="0"/>
                </a:lnTo>
                <a:cubicBezTo>
                  <a:pt x="6505037" y="0"/>
                  <a:pt x="6527800" y="22763"/>
                  <a:pt x="6527800" y="50800"/>
                </a:cubicBezTo>
                <a:lnTo>
                  <a:pt x="6527800" y="50800"/>
                </a:lnTo>
                <a:cubicBezTo>
                  <a:pt x="6527800" y="78837"/>
                  <a:pt x="6505037" y="101600"/>
                  <a:pt x="6477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5715000"/>
            <a:ext cx="5092700" cy="101600"/>
          </a:xfrm>
          <a:custGeom>
            <a:avLst/>
            <a:gdLst/>
            <a:ahLst/>
            <a:cxnLst/>
            <a:rect l="l" t="t" r="r" b="b"/>
            <a:pathLst>
              <a:path w="5092700" h="101600">
                <a:moveTo>
                  <a:pt x="50800" y="0"/>
                </a:moveTo>
                <a:lnTo>
                  <a:pt x="5041900" y="0"/>
                </a:lnTo>
                <a:cubicBezTo>
                  <a:pt x="5069937" y="0"/>
                  <a:pt x="5092700" y="22763"/>
                  <a:pt x="5092700" y="50800"/>
                </a:cubicBezTo>
                <a:lnTo>
                  <a:pt x="5092700" y="50800"/>
                </a:lnTo>
                <a:cubicBezTo>
                  <a:pt x="5092700" y="78837"/>
                  <a:pt x="5069937" y="101600"/>
                  <a:pt x="50419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9944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Context: 32K tokens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48797" y="5969000"/>
            <a:ext cx="139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 accuracy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6324600"/>
            <a:ext cx="6527800" cy="101600"/>
          </a:xfrm>
          <a:custGeom>
            <a:avLst/>
            <a:gdLst/>
            <a:ahLst/>
            <a:cxnLst/>
            <a:rect l="l" t="t" r="r" b="b"/>
            <a:pathLst>
              <a:path w="6527800" h="101600">
                <a:moveTo>
                  <a:pt x="50800" y="0"/>
                </a:moveTo>
                <a:lnTo>
                  <a:pt x="6477000" y="0"/>
                </a:lnTo>
                <a:cubicBezTo>
                  <a:pt x="6505037" y="0"/>
                  <a:pt x="6527800" y="22763"/>
                  <a:pt x="6527800" y="50800"/>
                </a:cubicBezTo>
                <a:lnTo>
                  <a:pt x="6527800" y="50800"/>
                </a:lnTo>
                <a:cubicBezTo>
                  <a:pt x="6527800" y="78837"/>
                  <a:pt x="6505037" y="101600"/>
                  <a:pt x="6477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6000" y="6324600"/>
            <a:ext cx="4051300" cy="101600"/>
          </a:xfrm>
          <a:custGeom>
            <a:avLst/>
            <a:gdLst/>
            <a:ahLst/>
            <a:cxnLst/>
            <a:rect l="l" t="t" r="r" b="b"/>
            <a:pathLst>
              <a:path w="4051300" h="101600">
                <a:moveTo>
                  <a:pt x="50800" y="0"/>
                </a:moveTo>
                <a:lnTo>
                  <a:pt x="4000500" y="0"/>
                </a:lnTo>
                <a:cubicBezTo>
                  <a:pt x="4028537" y="0"/>
                  <a:pt x="4051300" y="22763"/>
                  <a:pt x="4051300" y="50800"/>
                </a:cubicBezTo>
                <a:lnTo>
                  <a:pt x="4051300" y="50800"/>
                </a:lnTo>
                <a:cubicBezTo>
                  <a:pt x="4051300" y="78837"/>
                  <a:pt x="4028537" y="101600"/>
                  <a:pt x="40005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3" name="Shape 21"/>
          <p:cNvSpPr/>
          <p:nvPr/>
        </p:nvSpPr>
        <p:spPr>
          <a:xfrm>
            <a:off x="514350" y="7092950"/>
            <a:ext cx="7480300" cy="3949700"/>
          </a:xfrm>
          <a:custGeom>
            <a:avLst/>
            <a:gdLst/>
            <a:ahLst/>
            <a:cxnLst/>
            <a:rect l="l" t="t" r="r" b="b"/>
            <a:pathLst>
              <a:path w="7480300" h="3949700">
                <a:moveTo>
                  <a:pt x="152419" y="0"/>
                </a:moveTo>
                <a:lnTo>
                  <a:pt x="7327881" y="0"/>
                </a:lnTo>
                <a:cubicBezTo>
                  <a:pt x="7412060" y="0"/>
                  <a:pt x="7480300" y="68240"/>
                  <a:pt x="7480300" y="152419"/>
                </a:cubicBezTo>
                <a:lnTo>
                  <a:pt x="7480300" y="3797281"/>
                </a:lnTo>
                <a:cubicBezTo>
                  <a:pt x="7480300" y="3881460"/>
                  <a:pt x="7412060" y="3949700"/>
                  <a:pt x="7327881" y="3949700"/>
                </a:cubicBezTo>
                <a:lnTo>
                  <a:pt x="152419" y="3949700"/>
                </a:lnTo>
                <a:cubicBezTo>
                  <a:pt x="68240" y="3949700"/>
                  <a:pt x="0" y="3881460"/>
                  <a:pt x="0" y="3797281"/>
                </a:cubicBezTo>
                <a:lnTo>
                  <a:pt x="0" y="152419"/>
                </a:lnTo>
                <a:cubicBezTo>
                  <a:pt x="0" y="68240"/>
                  <a:pt x="68240" y="0"/>
                  <a:pt x="15241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4700" y="74041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" y="735330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Trade-offs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4700" y="7861300"/>
            <a:ext cx="2222500" cy="1320800"/>
          </a:xfrm>
          <a:custGeom>
            <a:avLst/>
            <a:gdLst/>
            <a:ahLst/>
            <a:cxnLst/>
            <a:rect l="l" t="t" r="r" b="b"/>
            <a:pathLst>
              <a:path w="2222500" h="1320800">
                <a:moveTo>
                  <a:pt x="101596" y="0"/>
                </a:moveTo>
                <a:lnTo>
                  <a:pt x="2120904" y="0"/>
                </a:lnTo>
                <a:cubicBezTo>
                  <a:pt x="2177014" y="0"/>
                  <a:pt x="2222500" y="45486"/>
                  <a:pt x="2222500" y="101596"/>
                </a:cubicBezTo>
                <a:lnTo>
                  <a:pt x="2222500" y="1219204"/>
                </a:lnTo>
                <a:cubicBezTo>
                  <a:pt x="2222500" y="1275314"/>
                  <a:pt x="2177014" y="1320800"/>
                  <a:pt x="21209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31367" y="801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00" y="84201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Latency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2650" y="87757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context = slower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145234" y="7861300"/>
            <a:ext cx="2222500" cy="1320800"/>
          </a:xfrm>
          <a:custGeom>
            <a:avLst/>
            <a:gdLst/>
            <a:ahLst/>
            <a:cxnLst/>
            <a:rect l="l" t="t" r="r" b="b"/>
            <a:pathLst>
              <a:path w="2222500" h="1320800">
                <a:moveTo>
                  <a:pt x="101596" y="0"/>
                </a:moveTo>
                <a:lnTo>
                  <a:pt x="2120904" y="0"/>
                </a:lnTo>
                <a:cubicBezTo>
                  <a:pt x="2177014" y="0"/>
                  <a:pt x="2222500" y="45486"/>
                  <a:pt x="2222500" y="101596"/>
                </a:cubicBezTo>
                <a:lnTo>
                  <a:pt x="2222500" y="1219204"/>
                </a:lnTo>
                <a:cubicBezTo>
                  <a:pt x="2222500" y="1275314"/>
                  <a:pt x="2177014" y="1320800"/>
                  <a:pt x="21209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59052" y="80137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80962" y="14288"/>
                </a:moveTo>
                <a:cubicBezTo>
                  <a:pt x="80962" y="6370"/>
                  <a:pt x="87332" y="0"/>
                  <a:pt x="95250" y="0"/>
                </a:cubicBezTo>
                <a:cubicBezTo>
                  <a:pt x="103168" y="0"/>
                  <a:pt x="109537" y="6370"/>
                  <a:pt x="109537" y="14288"/>
                </a:cubicBezTo>
                <a:lnTo>
                  <a:pt x="109537" y="38100"/>
                </a:lnTo>
                <a:lnTo>
                  <a:pt x="142875" y="38100"/>
                </a:lnTo>
                <a:cubicBezTo>
                  <a:pt x="153412" y="38100"/>
                  <a:pt x="161925" y="46613"/>
                  <a:pt x="161925" y="57150"/>
                </a:cubicBezTo>
                <a:cubicBezTo>
                  <a:pt x="161925" y="67687"/>
                  <a:pt x="153412" y="76200"/>
                  <a:pt x="142875" y="76200"/>
                </a:cubicBezTo>
                <a:lnTo>
                  <a:pt x="74474" y="76200"/>
                </a:lnTo>
                <a:cubicBezTo>
                  <a:pt x="59650" y="76200"/>
                  <a:pt x="47625" y="88225"/>
                  <a:pt x="47625" y="103049"/>
                </a:cubicBezTo>
                <a:cubicBezTo>
                  <a:pt x="47625" y="116443"/>
                  <a:pt x="57448" y="127754"/>
                  <a:pt x="70664" y="129659"/>
                </a:cubicBezTo>
                <a:lnTo>
                  <a:pt x="125194" y="137458"/>
                </a:lnTo>
                <a:cubicBezTo>
                  <a:pt x="157222" y="142042"/>
                  <a:pt x="180975" y="169426"/>
                  <a:pt x="180975" y="201751"/>
                </a:cubicBezTo>
                <a:cubicBezTo>
                  <a:pt x="180975" y="237649"/>
                  <a:pt x="151864" y="266700"/>
                  <a:pt x="116026" y="266700"/>
                </a:cubicBezTo>
                <a:lnTo>
                  <a:pt x="109537" y="266700"/>
                </a:lnTo>
                <a:lnTo>
                  <a:pt x="109537" y="290513"/>
                </a:lnTo>
                <a:cubicBezTo>
                  <a:pt x="109537" y="298430"/>
                  <a:pt x="103168" y="304800"/>
                  <a:pt x="95250" y="304800"/>
                </a:cubicBezTo>
                <a:cubicBezTo>
                  <a:pt x="87332" y="304800"/>
                  <a:pt x="80962" y="298430"/>
                  <a:pt x="80962" y="290513"/>
                </a:cubicBezTo>
                <a:lnTo>
                  <a:pt x="80962" y="266700"/>
                </a:lnTo>
                <a:lnTo>
                  <a:pt x="38100" y="266700"/>
                </a:lnTo>
                <a:cubicBezTo>
                  <a:pt x="27563" y="266700"/>
                  <a:pt x="19050" y="258187"/>
                  <a:pt x="19050" y="247650"/>
                </a:cubicBezTo>
                <a:cubicBezTo>
                  <a:pt x="19050" y="237113"/>
                  <a:pt x="27563" y="228600"/>
                  <a:pt x="38100" y="228600"/>
                </a:cubicBezTo>
                <a:lnTo>
                  <a:pt x="116026" y="228600"/>
                </a:lnTo>
                <a:cubicBezTo>
                  <a:pt x="130850" y="228600"/>
                  <a:pt x="142875" y="216575"/>
                  <a:pt x="142875" y="201751"/>
                </a:cubicBezTo>
                <a:cubicBezTo>
                  <a:pt x="142875" y="188357"/>
                  <a:pt x="133052" y="177046"/>
                  <a:pt x="119836" y="175141"/>
                </a:cubicBezTo>
                <a:lnTo>
                  <a:pt x="65306" y="167342"/>
                </a:lnTo>
                <a:cubicBezTo>
                  <a:pt x="33278" y="162818"/>
                  <a:pt x="9525" y="135374"/>
                  <a:pt x="9525" y="103049"/>
                </a:cubicBezTo>
                <a:cubicBezTo>
                  <a:pt x="9525" y="67211"/>
                  <a:pt x="38636" y="38100"/>
                  <a:pt x="74474" y="38100"/>
                </a:cubicBezTo>
                <a:lnTo>
                  <a:pt x="80962" y="38100"/>
                </a:lnTo>
                <a:lnTo>
                  <a:pt x="80962" y="1428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834" y="84201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53184" y="87757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Tokens scale linearly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515967" y="7861300"/>
            <a:ext cx="2222500" cy="1320800"/>
          </a:xfrm>
          <a:custGeom>
            <a:avLst/>
            <a:gdLst/>
            <a:ahLst/>
            <a:cxnLst/>
            <a:rect l="l" t="t" r="r" b="b"/>
            <a:pathLst>
              <a:path w="2222500" h="1320800">
                <a:moveTo>
                  <a:pt x="101596" y="0"/>
                </a:moveTo>
                <a:lnTo>
                  <a:pt x="2120904" y="0"/>
                </a:lnTo>
                <a:cubicBezTo>
                  <a:pt x="2177014" y="0"/>
                  <a:pt x="2222500" y="45486"/>
                  <a:pt x="2222500" y="101596"/>
                </a:cubicBezTo>
                <a:lnTo>
                  <a:pt x="2222500" y="1219204"/>
                </a:lnTo>
                <a:cubicBezTo>
                  <a:pt x="2222500" y="1275314"/>
                  <a:pt x="2177014" y="1320800"/>
                  <a:pt x="21209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72634" y="8013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6700" y="152400"/>
                </a:moveTo>
                <a:cubicBezTo>
                  <a:pt x="266700" y="89316"/>
                  <a:pt x="215484" y="38100"/>
                  <a:pt x="152400" y="38100"/>
                </a:cubicBezTo>
                <a:cubicBezTo>
                  <a:pt x="89316" y="38100"/>
                  <a:pt x="38100" y="89316"/>
                  <a:pt x="38100" y="152400"/>
                </a:cubicBezTo>
                <a:cubicBezTo>
                  <a:pt x="38100" y="215484"/>
                  <a:pt x="89316" y="266700"/>
                  <a:pt x="152400" y="266700"/>
                </a:cubicBezTo>
                <a:cubicBezTo>
                  <a:pt x="215484" y="266700"/>
                  <a:pt x="266700" y="215484"/>
                  <a:pt x="266700" y="152400"/>
                </a:cubicBezTo>
                <a:close/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52400" y="200025"/>
                </a:moveTo>
                <a:cubicBezTo>
                  <a:pt x="178685" y="200025"/>
                  <a:pt x="200025" y="178685"/>
                  <a:pt x="200025" y="152400"/>
                </a:cubicBezTo>
                <a:cubicBezTo>
                  <a:pt x="200025" y="126115"/>
                  <a:pt x="178685" y="104775"/>
                  <a:pt x="152400" y="104775"/>
                </a:cubicBezTo>
                <a:cubicBezTo>
                  <a:pt x="126115" y="104775"/>
                  <a:pt x="104775" y="126115"/>
                  <a:pt x="104775" y="152400"/>
                </a:cubicBezTo>
                <a:cubicBezTo>
                  <a:pt x="104775" y="178685"/>
                  <a:pt x="126115" y="200025"/>
                  <a:pt x="152400" y="200025"/>
                </a:cubicBezTo>
                <a:close/>
                <a:moveTo>
                  <a:pt x="152400" y="66675"/>
                </a:moveTo>
                <a:cubicBezTo>
                  <a:pt x="199713" y="66675"/>
                  <a:pt x="238125" y="105087"/>
                  <a:pt x="238125" y="152400"/>
                </a:cubicBezTo>
                <a:cubicBezTo>
                  <a:pt x="238125" y="199713"/>
                  <a:pt x="199713" y="238125"/>
                  <a:pt x="152400" y="238125"/>
                </a:cubicBezTo>
                <a:cubicBezTo>
                  <a:pt x="105087" y="238125"/>
                  <a:pt x="66675" y="199713"/>
                  <a:pt x="66675" y="152400"/>
                </a:cubicBezTo>
                <a:cubicBezTo>
                  <a:pt x="66675" y="105087"/>
                  <a:pt x="105087" y="66675"/>
                  <a:pt x="152400" y="66675"/>
                </a:cubicBezTo>
                <a:close/>
                <a:moveTo>
                  <a:pt x="133350" y="152400"/>
                </a:moveTo>
                <a:cubicBezTo>
                  <a:pt x="133350" y="141886"/>
                  <a:pt x="141886" y="133350"/>
                  <a:pt x="152400" y="133350"/>
                </a:cubicBezTo>
                <a:cubicBezTo>
                  <a:pt x="162914" y="133350"/>
                  <a:pt x="171450" y="141886"/>
                  <a:pt x="171450" y="152400"/>
                </a:cubicBezTo>
                <a:cubicBezTo>
                  <a:pt x="171450" y="162914"/>
                  <a:pt x="162914" y="171450"/>
                  <a:pt x="152400" y="171450"/>
                </a:cubicBezTo>
                <a:cubicBezTo>
                  <a:pt x="141886" y="171450"/>
                  <a:pt x="133350" y="162914"/>
                  <a:pt x="133350" y="15240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6" name="Text 34"/>
          <p:cNvSpPr/>
          <p:nvPr/>
        </p:nvSpPr>
        <p:spPr>
          <a:xfrm>
            <a:off x="5617567" y="8420100"/>
            <a:ext cx="201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23917" y="8775700"/>
            <a:ext cx="200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Degrades with length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55000" y="2540000"/>
            <a:ext cx="7493000" cy="5791200"/>
          </a:xfrm>
          <a:custGeom>
            <a:avLst/>
            <a:gdLst/>
            <a:ahLst/>
            <a:cxnLst/>
            <a:rect l="l" t="t" r="r" b="b"/>
            <a:pathLst>
              <a:path w="7493000" h="5791200">
                <a:moveTo>
                  <a:pt x="152424" y="0"/>
                </a:moveTo>
                <a:lnTo>
                  <a:pt x="7340576" y="0"/>
                </a:lnTo>
                <a:cubicBezTo>
                  <a:pt x="7424757" y="0"/>
                  <a:pt x="7493000" y="68243"/>
                  <a:pt x="7493000" y="152424"/>
                </a:cubicBezTo>
                <a:lnTo>
                  <a:pt x="7493000" y="5638776"/>
                </a:lnTo>
                <a:cubicBezTo>
                  <a:pt x="7493000" y="5722957"/>
                  <a:pt x="7424757" y="5791200"/>
                  <a:pt x="7340576" y="5791200"/>
                </a:cubicBezTo>
                <a:lnTo>
                  <a:pt x="152424" y="5791200"/>
                </a:lnTo>
                <a:cubicBezTo>
                  <a:pt x="68243" y="5791200"/>
                  <a:pt x="0" y="5722957"/>
                  <a:pt x="0" y="5638776"/>
                </a:cubicBezTo>
                <a:lnTo>
                  <a:pt x="0" y="152424"/>
                </a:lnTo>
                <a:cubicBezTo>
                  <a:pt x="0" y="68299"/>
                  <a:pt x="68299" y="0"/>
                  <a:pt x="152424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524875" y="2844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0" name="Text 38"/>
          <p:cNvSpPr/>
          <p:nvPr/>
        </p:nvSpPr>
        <p:spPr>
          <a:xfrm>
            <a:off x="8826500" y="2794000"/>
            <a:ext cx="679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Techniques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34400" y="3352800"/>
            <a:ext cx="6959600" cy="1473200"/>
          </a:xfrm>
          <a:custGeom>
            <a:avLst/>
            <a:gdLst/>
            <a:ahLst/>
            <a:cxnLst/>
            <a:rect l="l" t="t" r="r" b="b"/>
            <a:pathLst>
              <a:path w="6959600" h="1473200">
                <a:moveTo>
                  <a:pt x="50800" y="0"/>
                </a:moveTo>
                <a:lnTo>
                  <a:pt x="6857993" y="0"/>
                </a:lnTo>
                <a:cubicBezTo>
                  <a:pt x="6914109" y="0"/>
                  <a:pt x="6959600" y="45491"/>
                  <a:pt x="6959600" y="101607"/>
                </a:cubicBezTo>
                <a:lnTo>
                  <a:pt x="6959600" y="1371593"/>
                </a:lnTo>
                <a:cubicBezTo>
                  <a:pt x="6959600" y="1427709"/>
                  <a:pt x="6914109" y="1473200"/>
                  <a:pt x="68579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34400" y="33528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3" name="Shape 41"/>
          <p:cNvSpPr/>
          <p:nvPr/>
        </p:nvSpPr>
        <p:spPr>
          <a:xfrm>
            <a:off x="8763000" y="355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915400" y="370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11390" y="25400"/>
                  <a:pt x="0" y="36790"/>
                  <a:pt x="0" y="50800"/>
                </a:cubicBezTo>
                <a:lnTo>
                  <a:pt x="0" y="152400"/>
                </a:lnTo>
                <a:cubicBezTo>
                  <a:pt x="0" y="166410"/>
                  <a:pt x="11390" y="177800"/>
                  <a:pt x="25400" y="177800"/>
                </a:cubicBezTo>
                <a:lnTo>
                  <a:pt x="177800" y="177800"/>
                </a:lnTo>
                <a:cubicBezTo>
                  <a:pt x="191810" y="177800"/>
                  <a:pt x="203200" y="166410"/>
                  <a:pt x="203200" y="152400"/>
                </a:cubicBezTo>
                <a:lnTo>
                  <a:pt x="203200" y="50800"/>
                </a:lnTo>
                <a:cubicBezTo>
                  <a:pt x="203200" y="36790"/>
                  <a:pt x="191810" y="25400"/>
                  <a:pt x="177800" y="25400"/>
                </a:cubicBezTo>
                <a:lnTo>
                  <a:pt x="25400" y="25400"/>
                </a:lnTo>
                <a:close/>
                <a:moveTo>
                  <a:pt x="34925" y="50800"/>
                </a:moveTo>
                <a:lnTo>
                  <a:pt x="168275" y="50800"/>
                </a:lnTo>
                <a:cubicBezTo>
                  <a:pt x="173553" y="50800"/>
                  <a:pt x="177800" y="55047"/>
                  <a:pt x="177800" y="60325"/>
                </a:cubicBezTo>
                <a:cubicBezTo>
                  <a:pt x="177800" y="65603"/>
                  <a:pt x="173553" y="69850"/>
                  <a:pt x="168275" y="69850"/>
                </a:cubicBezTo>
                <a:lnTo>
                  <a:pt x="34925" y="69850"/>
                </a:lnTo>
                <a:cubicBezTo>
                  <a:pt x="29647" y="69850"/>
                  <a:pt x="25400" y="65603"/>
                  <a:pt x="25400" y="60325"/>
                </a:cubicBezTo>
                <a:cubicBezTo>
                  <a:pt x="25400" y="55047"/>
                  <a:pt x="29647" y="50800"/>
                  <a:pt x="34925" y="508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5" name="Text 43"/>
          <p:cNvSpPr/>
          <p:nvPr/>
        </p:nvSpPr>
        <p:spPr>
          <a:xfrm>
            <a:off x="9423400" y="3556000"/>
            <a:ext cx="598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Sliding Window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423400" y="3962400"/>
            <a:ext cx="596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only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 5-7 conversation turns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full context. Older turns are discarded or summarized.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534400" y="4978400"/>
            <a:ext cx="6959600" cy="1473200"/>
          </a:xfrm>
          <a:custGeom>
            <a:avLst/>
            <a:gdLst/>
            <a:ahLst/>
            <a:cxnLst/>
            <a:rect l="l" t="t" r="r" b="b"/>
            <a:pathLst>
              <a:path w="6959600" h="1473200">
                <a:moveTo>
                  <a:pt x="50800" y="0"/>
                </a:moveTo>
                <a:lnTo>
                  <a:pt x="6857993" y="0"/>
                </a:lnTo>
                <a:cubicBezTo>
                  <a:pt x="6914109" y="0"/>
                  <a:pt x="6959600" y="45491"/>
                  <a:pt x="6959600" y="101607"/>
                </a:cubicBezTo>
                <a:lnTo>
                  <a:pt x="6959600" y="1371593"/>
                </a:lnTo>
                <a:cubicBezTo>
                  <a:pt x="6959600" y="1427709"/>
                  <a:pt x="6914109" y="1473200"/>
                  <a:pt x="68579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534400" y="49784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Shape 47"/>
          <p:cNvSpPr/>
          <p:nvPr/>
        </p:nvSpPr>
        <p:spPr>
          <a:xfrm>
            <a:off x="8763000" y="5181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915400" y="5334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74427" y="2778"/>
                </a:moveTo>
                <a:cubicBezTo>
                  <a:pt x="178157" y="-953"/>
                  <a:pt x="184190" y="-953"/>
                  <a:pt x="187881" y="2778"/>
                </a:cubicBezTo>
                <a:lnTo>
                  <a:pt x="200581" y="15478"/>
                </a:lnTo>
                <a:cubicBezTo>
                  <a:pt x="204311" y="19209"/>
                  <a:pt x="204311" y="25241"/>
                  <a:pt x="200581" y="28932"/>
                </a:cubicBezTo>
                <a:lnTo>
                  <a:pt x="166053" y="63460"/>
                </a:lnTo>
                <a:lnTo>
                  <a:pt x="181531" y="78938"/>
                </a:lnTo>
                <a:cubicBezTo>
                  <a:pt x="184269" y="81677"/>
                  <a:pt x="185063" y="85765"/>
                  <a:pt x="183594" y="89337"/>
                </a:cubicBezTo>
                <a:cubicBezTo>
                  <a:pt x="182126" y="92908"/>
                  <a:pt x="178673" y="95250"/>
                  <a:pt x="174823" y="95250"/>
                </a:cubicBezTo>
                <a:lnTo>
                  <a:pt x="117673" y="95250"/>
                </a:lnTo>
                <a:cubicBezTo>
                  <a:pt x="112395" y="95250"/>
                  <a:pt x="108148" y="91003"/>
                  <a:pt x="108148" y="85725"/>
                </a:cubicBezTo>
                <a:lnTo>
                  <a:pt x="108148" y="28575"/>
                </a:lnTo>
                <a:cubicBezTo>
                  <a:pt x="108148" y="24725"/>
                  <a:pt x="110450" y="21233"/>
                  <a:pt x="114022" y="19764"/>
                </a:cubicBezTo>
                <a:cubicBezTo>
                  <a:pt x="117594" y="18296"/>
                  <a:pt x="121682" y="19090"/>
                  <a:pt x="124420" y="21828"/>
                </a:cubicBezTo>
                <a:lnTo>
                  <a:pt x="139898" y="37306"/>
                </a:lnTo>
                <a:lnTo>
                  <a:pt x="174427" y="2778"/>
                </a:lnTo>
                <a:close/>
                <a:moveTo>
                  <a:pt x="28773" y="107950"/>
                </a:moveTo>
                <a:lnTo>
                  <a:pt x="85923" y="107950"/>
                </a:lnTo>
                <a:cubicBezTo>
                  <a:pt x="91202" y="107950"/>
                  <a:pt x="95448" y="112197"/>
                  <a:pt x="95448" y="117475"/>
                </a:cubicBezTo>
                <a:lnTo>
                  <a:pt x="95448" y="174625"/>
                </a:lnTo>
                <a:cubicBezTo>
                  <a:pt x="95448" y="178475"/>
                  <a:pt x="93147" y="181967"/>
                  <a:pt x="89575" y="183436"/>
                </a:cubicBezTo>
                <a:cubicBezTo>
                  <a:pt x="86003" y="184904"/>
                  <a:pt x="81915" y="184110"/>
                  <a:pt x="79177" y="181372"/>
                </a:cubicBezTo>
                <a:lnTo>
                  <a:pt x="63698" y="165894"/>
                </a:lnTo>
                <a:lnTo>
                  <a:pt x="29170" y="200422"/>
                </a:lnTo>
                <a:cubicBezTo>
                  <a:pt x="25440" y="204152"/>
                  <a:pt x="19407" y="204152"/>
                  <a:pt x="15716" y="200422"/>
                </a:cubicBezTo>
                <a:lnTo>
                  <a:pt x="3016" y="187722"/>
                </a:lnTo>
                <a:cubicBezTo>
                  <a:pt x="-714" y="183991"/>
                  <a:pt x="-714" y="177959"/>
                  <a:pt x="3016" y="174268"/>
                </a:cubicBezTo>
                <a:lnTo>
                  <a:pt x="37544" y="139740"/>
                </a:lnTo>
                <a:lnTo>
                  <a:pt x="22066" y="124262"/>
                </a:lnTo>
                <a:cubicBezTo>
                  <a:pt x="19328" y="121523"/>
                  <a:pt x="18534" y="117435"/>
                  <a:pt x="20002" y="113863"/>
                </a:cubicBezTo>
                <a:cubicBezTo>
                  <a:pt x="21471" y="110292"/>
                  <a:pt x="24924" y="107950"/>
                  <a:pt x="28773" y="10795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9"/>
          <p:cNvSpPr/>
          <p:nvPr/>
        </p:nvSpPr>
        <p:spPr>
          <a:xfrm>
            <a:off x="9423400" y="5181600"/>
            <a:ext cx="598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Summarization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423400" y="5588000"/>
            <a:ext cx="596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 older conversations into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progressive summaries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Recent = verbatim, older = condensed.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34400" y="6604000"/>
            <a:ext cx="6959600" cy="1473200"/>
          </a:xfrm>
          <a:custGeom>
            <a:avLst/>
            <a:gdLst/>
            <a:ahLst/>
            <a:cxnLst/>
            <a:rect l="l" t="t" r="r" b="b"/>
            <a:pathLst>
              <a:path w="6959600" h="1473200">
                <a:moveTo>
                  <a:pt x="50800" y="0"/>
                </a:moveTo>
                <a:lnTo>
                  <a:pt x="6857993" y="0"/>
                </a:lnTo>
                <a:cubicBezTo>
                  <a:pt x="6914109" y="0"/>
                  <a:pt x="6959600" y="45491"/>
                  <a:pt x="6959600" y="101607"/>
                </a:cubicBezTo>
                <a:lnTo>
                  <a:pt x="6959600" y="1371593"/>
                </a:lnTo>
                <a:cubicBezTo>
                  <a:pt x="6959600" y="1427709"/>
                  <a:pt x="6914109" y="1473200"/>
                  <a:pt x="6857993" y="1473200"/>
                </a:cubicBez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34400" y="6604000"/>
            <a:ext cx="50800" cy="1473200"/>
          </a:xfrm>
          <a:custGeom>
            <a:avLst/>
            <a:gdLst/>
            <a:ahLst/>
            <a:cxnLst/>
            <a:rect l="l" t="t" r="r" b="b"/>
            <a:pathLst>
              <a:path w="50800" h="1473200">
                <a:moveTo>
                  <a:pt x="50800" y="0"/>
                </a:moveTo>
                <a:lnTo>
                  <a:pt x="50800" y="0"/>
                </a:lnTo>
                <a:lnTo>
                  <a:pt x="50800" y="1473200"/>
                </a:lnTo>
                <a:lnTo>
                  <a:pt x="50800" y="1473200"/>
                </a:lnTo>
                <a:cubicBezTo>
                  <a:pt x="22763" y="1473200"/>
                  <a:pt x="0" y="1450437"/>
                  <a:pt x="0" y="142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6807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15400" y="6959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25400"/>
                </a:moveTo>
                <a:cubicBezTo>
                  <a:pt x="7580" y="25400"/>
                  <a:pt x="2937" y="28496"/>
                  <a:pt x="953" y="33258"/>
                </a:cubicBezTo>
                <a:cubicBezTo>
                  <a:pt x="-1032" y="38021"/>
                  <a:pt x="79" y="43458"/>
                  <a:pt x="3731" y="47069"/>
                </a:cubicBezTo>
                <a:lnTo>
                  <a:pt x="76200" y="119578"/>
                </a:lnTo>
                <a:lnTo>
                  <a:pt x="76200" y="165100"/>
                </a:lnTo>
                <a:cubicBezTo>
                  <a:pt x="76200" y="168473"/>
                  <a:pt x="77549" y="171688"/>
                  <a:pt x="79931" y="174069"/>
                </a:cubicBezTo>
                <a:lnTo>
                  <a:pt x="105331" y="199469"/>
                </a:lnTo>
                <a:cubicBezTo>
                  <a:pt x="108982" y="203121"/>
                  <a:pt x="114419" y="204192"/>
                  <a:pt x="119182" y="202208"/>
                </a:cubicBezTo>
                <a:cubicBezTo>
                  <a:pt x="123944" y="200223"/>
                  <a:pt x="127000" y="195620"/>
                  <a:pt x="127000" y="190500"/>
                </a:cubicBezTo>
                <a:lnTo>
                  <a:pt x="127000" y="119578"/>
                </a:lnTo>
                <a:lnTo>
                  <a:pt x="199469" y="47109"/>
                </a:lnTo>
                <a:cubicBezTo>
                  <a:pt x="203121" y="43458"/>
                  <a:pt x="204192" y="38021"/>
                  <a:pt x="202208" y="33258"/>
                </a:cubicBezTo>
                <a:cubicBezTo>
                  <a:pt x="200223" y="28496"/>
                  <a:pt x="195620" y="25400"/>
                  <a:pt x="190500" y="25400"/>
                </a:cubicBezTo>
                <a:lnTo>
                  <a:pt x="12700" y="25400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7" name="Text 55"/>
          <p:cNvSpPr/>
          <p:nvPr/>
        </p:nvSpPr>
        <p:spPr>
          <a:xfrm>
            <a:off x="9423400" y="6807200"/>
            <a:ext cx="598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Selective Injection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423400" y="7213600"/>
            <a:ext cx="5969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Analyze queries to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inject only relevant context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memory and history, not everything.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261350" y="8540750"/>
            <a:ext cx="7480300" cy="2501900"/>
          </a:xfrm>
          <a:custGeom>
            <a:avLst/>
            <a:gdLst/>
            <a:ahLst/>
            <a:cxnLst/>
            <a:rect l="l" t="t" r="r" b="b"/>
            <a:pathLst>
              <a:path w="7480300" h="2501900">
                <a:moveTo>
                  <a:pt x="152391" y="0"/>
                </a:moveTo>
                <a:lnTo>
                  <a:pt x="7327909" y="0"/>
                </a:lnTo>
                <a:cubicBezTo>
                  <a:pt x="7412072" y="0"/>
                  <a:pt x="7480300" y="68228"/>
                  <a:pt x="7480300" y="152391"/>
                </a:cubicBezTo>
                <a:lnTo>
                  <a:pt x="7480300" y="2349509"/>
                </a:lnTo>
                <a:cubicBezTo>
                  <a:pt x="7480300" y="2433672"/>
                  <a:pt x="7412072" y="2501900"/>
                  <a:pt x="7327909" y="2501900"/>
                </a:cubicBezTo>
                <a:lnTo>
                  <a:pt x="152391" y="2501900"/>
                </a:lnTo>
                <a:cubicBezTo>
                  <a:pt x="68284" y="2501900"/>
                  <a:pt x="0" y="2433616"/>
                  <a:pt x="0" y="23495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02650" y="881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9"/>
          <p:cNvSpPr/>
          <p:nvPr/>
        </p:nvSpPr>
        <p:spPr>
          <a:xfrm>
            <a:off x="8763000" y="87503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Strategy Matrix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70900" y="925830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101599" y="0"/>
                </a:moveTo>
                <a:lnTo>
                  <a:pt x="6959601" y="0"/>
                </a:lnTo>
                <a:cubicBezTo>
                  <a:pt x="7015713" y="0"/>
                  <a:pt x="7061200" y="45487"/>
                  <a:pt x="7061200" y="101599"/>
                </a:cubicBezTo>
                <a:lnTo>
                  <a:pt x="7061200" y="355601"/>
                </a:lnTo>
                <a:cubicBezTo>
                  <a:pt x="7061200" y="411713"/>
                  <a:pt x="7015713" y="457200"/>
                  <a:pt x="695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572500" y="93599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Sub-second latency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3327063" y="9359900"/>
            <a:ext cx="219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Cached + Aggressive filter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70900" y="981710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101599" y="0"/>
                </a:moveTo>
                <a:lnTo>
                  <a:pt x="6959601" y="0"/>
                </a:lnTo>
                <a:cubicBezTo>
                  <a:pt x="7015713" y="0"/>
                  <a:pt x="7061200" y="45487"/>
                  <a:pt x="7061200" y="101599"/>
                </a:cubicBezTo>
                <a:lnTo>
                  <a:pt x="7061200" y="355601"/>
                </a:lnTo>
                <a:cubicBezTo>
                  <a:pt x="7061200" y="411713"/>
                  <a:pt x="7015713" y="457200"/>
                  <a:pt x="695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8572500" y="99187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Budget-constrained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3727708" y="99187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window + RAG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470900" y="10375900"/>
            <a:ext cx="7061200" cy="457200"/>
          </a:xfrm>
          <a:custGeom>
            <a:avLst/>
            <a:gdLst/>
            <a:ahLst/>
            <a:cxnLst/>
            <a:rect l="l" t="t" r="r" b="b"/>
            <a:pathLst>
              <a:path w="7061200" h="457200">
                <a:moveTo>
                  <a:pt x="101599" y="0"/>
                </a:moveTo>
                <a:lnTo>
                  <a:pt x="6959601" y="0"/>
                </a:lnTo>
                <a:cubicBezTo>
                  <a:pt x="7015713" y="0"/>
                  <a:pt x="7061200" y="45487"/>
                  <a:pt x="7061200" y="101599"/>
                </a:cubicBezTo>
                <a:lnTo>
                  <a:pt x="7061200" y="355601"/>
                </a:lnTo>
                <a:cubicBezTo>
                  <a:pt x="7061200" y="411713"/>
                  <a:pt x="7015713" y="457200"/>
                  <a:pt x="6959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572500" y="104775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Multi-turn (50+ calls)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3127633" y="10477500"/>
            <a:ext cx="238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memory + selective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9422b92a0d033e9f99c95b6ab7a9467e73c9100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111" r="111" t="0" b="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2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Integration Patterns: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Connecting Obsidian to AI Agents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4"/>
          <p:cNvSpPr/>
          <p:nvPr/>
        </p:nvSpPr>
        <p:spPr>
          <a:xfrm>
            <a:off x="508000" y="25654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740392"/>
                </a:lnTo>
                <a:cubicBezTo>
                  <a:pt x="4940300" y="5824564"/>
                  <a:pt x="4872064" y="5892800"/>
                  <a:pt x="4787892" y="5892800"/>
                </a:cubicBezTo>
                <a:lnTo>
                  <a:pt x="152408" y="5892800"/>
                </a:lnTo>
                <a:cubicBezTo>
                  <a:pt x="68236" y="5892800"/>
                  <a:pt x="0" y="5824564"/>
                  <a:pt x="0" y="57403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08000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Shape 6"/>
          <p:cNvSpPr/>
          <p:nvPr/>
        </p:nvSpPr>
        <p:spPr>
          <a:xfrm>
            <a:off x="711200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04875" y="3022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-15875"/>
                </a:moveTo>
                <a:cubicBezTo>
                  <a:pt x="72281" y="-15875"/>
                  <a:pt x="79375" y="-8781"/>
                  <a:pt x="79375" y="0"/>
                </a:cubicBezTo>
                <a:lnTo>
                  <a:pt x="79375" y="47625"/>
                </a:lnTo>
                <a:lnTo>
                  <a:pt x="142875" y="47625"/>
                </a:lnTo>
                <a:lnTo>
                  <a:pt x="142875" y="0"/>
                </a:lnTo>
                <a:cubicBezTo>
                  <a:pt x="142875" y="-8781"/>
                  <a:pt x="149969" y="-15875"/>
                  <a:pt x="158750" y="-15875"/>
                </a:cubicBezTo>
                <a:cubicBezTo>
                  <a:pt x="167531" y="-15875"/>
                  <a:pt x="174625" y="-8781"/>
                  <a:pt x="174625" y="0"/>
                </a:cubicBezTo>
                <a:lnTo>
                  <a:pt x="174625" y="47625"/>
                </a:ln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cubicBezTo>
                  <a:pt x="222250" y="72281"/>
                  <a:pt x="215156" y="79375"/>
                  <a:pt x="206375" y="79375"/>
                </a:cubicBezTo>
                <a:lnTo>
                  <a:pt x="206375" y="111125"/>
                </a:lnTo>
                <a:cubicBezTo>
                  <a:pt x="206375" y="158304"/>
                  <a:pt x="172045" y="197495"/>
                  <a:pt x="127000" y="205036"/>
                </a:cubicBezTo>
                <a:lnTo>
                  <a:pt x="127000" y="238125"/>
                </a:lnTo>
                <a:cubicBezTo>
                  <a:pt x="127000" y="246906"/>
                  <a:pt x="119906" y="254000"/>
                  <a:pt x="111125" y="254000"/>
                </a:cubicBezTo>
                <a:cubicBezTo>
                  <a:pt x="102344" y="254000"/>
                  <a:pt x="95250" y="246906"/>
                  <a:pt x="95250" y="238125"/>
                </a:cubicBezTo>
                <a:lnTo>
                  <a:pt x="95250" y="205036"/>
                </a:lnTo>
                <a:cubicBezTo>
                  <a:pt x="50205" y="197495"/>
                  <a:pt x="15875" y="158304"/>
                  <a:pt x="15875" y="111125"/>
                </a:cubicBez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47625" y="47625"/>
                </a:lnTo>
                <a:lnTo>
                  <a:pt x="47625" y="0"/>
                </a:lnTo>
                <a:cubicBezTo>
                  <a:pt x="47625" y="-8781"/>
                  <a:pt x="54719" y="-15875"/>
                  <a:pt x="63500" y="-15875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8"/>
          <p:cNvSpPr/>
          <p:nvPr/>
        </p:nvSpPr>
        <p:spPr>
          <a:xfrm>
            <a:off x="1473200" y="2794000"/>
            <a:ext cx="14224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MCP Tools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Plugin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11200" y="36576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Creates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server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exposes Obsidian vault via Model Context Protocol, enabling AI agents to query and modify notes.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1200" y="48006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101605" y="0"/>
                </a:moveTo>
                <a:lnTo>
                  <a:pt x="4432295" y="0"/>
                </a:lnTo>
                <a:cubicBezTo>
                  <a:pt x="4488410" y="0"/>
                  <a:pt x="4533900" y="45490"/>
                  <a:pt x="4533900" y="101605"/>
                </a:cubicBezTo>
                <a:lnTo>
                  <a:pt x="4533900" y="1422395"/>
                </a:lnTo>
                <a:cubicBezTo>
                  <a:pt x="4533900" y="1478510"/>
                  <a:pt x="4488410" y="1524000"/>
                  <a:pt x="4432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63600" y="49530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Setup Steps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3600" y="53086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3427" y="5308600"/>
            <a:ext cx="191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Install MCP Tools plugin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3600" y="5613400"/>
            <a:ext cx="21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97558" y="5613400"/>
            <a:ext cx="181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MCP server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63600" y="5918200"/>
            <a:ext cx="22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02122" y="5918200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Configure AI agent connection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1200" y="64262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101605" y="0"/>
                </a:moveTo>
                <a:lnTo>
                  <a:pt x="4432295" y="0"/>
                </a:lnTo>
                <a:cubicBezTo>
                  <a:pt x="4488410" y="0"/>
                  <a:pt x="4533900" y="45490"/>
                  <a:pt x="4533900" y="101605"/>
                </a:cubicBezTo>
                <a:lnTo>
                  <a:pt x="4533900" y="1422395"/>
                </a:lnTo>
                <a:cubicBezTo>
                  <a:pt x="4533900" y="1478510"/>
                  <a:pt x="4488410" y="1524000"/>
                  <a:pt x="4432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63600" y="6578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Capabilities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92175" y="6985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4" name="Text 21"/>
          <p:cNvSpPr/>
          <p:nvPr/>
        </p:nvSpPr>
        <p:spPr>
          <a:xfrm>
            <a:off x="1155700" y="6934200"/>
            <a:ext cx="152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Read/search notes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92175" y="7289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6" name="Text 23"/>
          <p:cNvSpPr/>
          <p:nvPr/>
        </p:nvSpPr>
        <p:spPr>
          <a:xfrm>
            <a:off x="1155700" y="7239000"/>
            <a:ext cx="1562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Create/modify files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92175" y="7594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8" name="Text 25"/>
          <p:cNvSpPr/>
          <p:nvPr/>
        </p:nvSpPr>
        <p:spPr>
          <a:xfrm>
            <a:off x="1155700" y="7543800"/>
            <a:ext cx="127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folders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655667" y="25654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740392"/>
                </a:lnTo>
                <a:cubicBezTo>
                  <a:pt x="4940300" y="5824564"/>
                  <a:pt x="4872064" y="5892800"/>
                  <a:pt x="4787892" y="5892800"/>
                </a:cubicBezTo>
                <a:lnTo>
                  <a:pt x="152408" y="5892800"/>
                </a:lnTo>
                <a:cubicBezTo>
                  <a:pt x="68236" y="5892800"/>
                  <a:pt x="0" y="5824564"/>
                  <a:pt x="0" y="57403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655667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Shape 28"/>
          <p:cNvSpPr/>
          <p:nvPr/>
        </p:nvSpPr>
        <p:spPr>
          <a:xfrm>
            <a:off x="5858867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6052542" y="3022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0"/>
          <p:cNvSpPr/>
          <p:nvPr/>
        </p:nvSpPr>
        <p:spPr>
          <a:xfrm>
            <a:off x="6620867" y="2794000"/>
            <a:ext cx="147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Local REST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858867" y="36576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Exposes vault via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RESTful endpoints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any application can query. Requires Local REST API community plugin.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858867" y="4800600"/>
            <a:ext cx="4533900" cy="1790700"/>
          </a:xfrm>
          <a:custGeom>
            <a:avLst/>
            <a:gdLst/>
            <a:ahLst/>
            <a:cxnLst/>
            <a:rect l="l" t="t" r="r" b="b"/>
            <a:pathLst>
              <a:path w="4533900" h="1790700">
                <a:moveTo>
                  <a:pt x="101604" y="0"/>
                </a:moveTo>
                <a:lnTo>
                  <a:pt x="4432296" y="0"/>
                </a:lnTo>
                <a:cubicBezTo>
                  <a:pt x="4488410" y="0"/>
                  <a:pt x="4533900" y="45490"/>
                  <a:pt x="4533900" y="101604"/>
                </a:cubicBezTo>
                <a:lnTo>
                  <a:pt x="4533900" y="1689096"/>
                </a:lnTo>
                <a:cubicBezTo>
                  <a:pt x="4533900" y="1745210"/>
                  <a:pt x="4488410" y="1790700"/>
                  <a:pt x="4432296" y="1790700"/>
                </a:cubicBezTo>
                <a:lnTo>
                  <a:pt x="101604" y="1790700"/>
                </a:lnTo>
                <a:cubicBezTo>
                  <a:pt x="45490" y="1790700"/>
                  <a:pt x="0" y="1745210"/>
                  <a:pt x="0" y="16890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6011267" y="49530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Example API calls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011267" y="51943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/vault/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011267" y="53848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/notes/{filename}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011267" y="56261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/vault/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6011267" y="58166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/notes/{filename}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011267" y="60579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/search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011267" y="6248400"/>
            <a:ext cx="430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?query={term}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5858867" y="66929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101605" y="0"/>
                </a:moveTo>
                <a:lnTo>
                  <a:pt x="4432295" y="0"/>
                </a:lnTo>
                <a:cubicBezTo>
                  <a:pt x="4488410" y="0"/>
                  <a:pt x="4533900" y="45490"/>
                  <a:pt x="4533900" y="101605"/>
                </a:cubicBezTo>
                <a:lnTo>
                  <a:pt x="4533900" y="1422395"/>
                </a:lnTo>
                <a:cubicBezTo>
                  <a:pt x="4533900" y="1478510"/>
                  <a:pt x="4488410" y="1524000"/>
                  <a:pt x="4432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6011267" y="68453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020792" y="7251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3"/>
          <p:cNvSpPr/>
          <p:nvPr/>
        </p:nvSpPr>
        <p:spPr>
          <a:xfrm>
            <a:off x="6303367" y="72009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integrations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020792" y="7556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8" name="Text 45"/>
          <p:cNvSpPr/>
          <p:nvPr/>
        </p:nvSpPr>
        <p:spPr>
          <a:xfrm>
            <a:off x="6303367" y="7505700"/>
            <a:ext cx="171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Multi-app workflows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6020792" y="7861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Text 47"/>
          <p:cNvSpPr/>
          <p:nvPr/>
        </p:nvSpPr>
        <p:spPr>
          <a:xfrm>
            <a:off x="6303367" y="78105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 flexibility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10803334" y="2565400"/>
            <a:ext cx="4940300" cy="5892800"/>
          </a:xfrm>
          <a:custGeom>
            <a:avLst/>
            <a:gdLst/>
            <a:ahLst/>
            <a:cxnLst/>
            <a:rect l="l" t="t" r="r" b="b"/>
            <a:pathLst>
              <a:path w="4940300" h="5892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740392"/>
                </a:lnTo>
                <a:cubicBezTo>
                  <a:pt x="4940300" y="5824564"/>
                  <a:pt x="4872064" y="5892800"/>
                  <a:pt x="4787892" y="5892800"/>
                </a:cubicBezTo>
                <a:lnTo>
                  <a:pt x="152408" y="5892800"/>
                </a:lnTo>
                <a:cubicBezTo>
                  <a:pt x="68236" y="5892800"/>
                  <a:pt x="0" y="5824564"/>
                  <a:pt x="0" y="57403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10803334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3" name="Shape 50"/>
          <p:cNvSpPr/>
          <p:nvPr/>
        </p:nvSpPr>
        <p:spPr>
          <a:xfrm>
            <a:off x="11006534" y="2844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11184334" y="3022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4663" y="58837"/>
                </a:moveTo>
                <a:cubicBezTo>
                  <a:pt x="-1538" y="52636"/>
                  <a:pt x="-1538" y="42565"/>
                  <a:pt x="4663" y="36364"/>
                </a:cubicBezTo>
                <a:cubicBezTo>
                  <a:pt x="10864" y="30163"/>
                  <a:pt x="20935" y="30163"/>
                  <a:pt x="27136" y="36364"/>
                </a:cubicBezTo>
                <a:lnTo>
                  <a:pt x="106511" y="115739"/>
                </a:lnTo>
                <a:cubicBezTo>
                  <a:pt x="112713" y="121940"/>
                  <a:pt x="112713" y="132011"/>
                  <a:pt x="106511" y="138212"/>
                </a:cubicBezTo>
                <a:lnTo>
                  <a:pt x="27136" y="217587"/>
                </a:lnTo>
                <a:cubicBezTo>
                  <a:pt x="20935" y="223788"/>
                  <a:pt x="10864" y="223788"/>
                  <a:pt x="4663" y="217587"/>
                </a:cubicBezTo>
                <a:cubicBezTo>
                  <a:pt x="-1538" y="211386"/>
                  <a:pt x="-1538" y="201315"/>
                  <a:pt x="4663" y="195114"/>
                </a:cubicBezTo>
                <a:lnTo>
                  <a:pt x="72777" y="127000"/>
                </a:lnTo>
                <a:lnTo>
                  <a:pt x="4663" y="58837"/>
                </a:lnTo>
                <a:close/>
                <a:moveTo>
                  <a:pt x="111125" y="190500"/>
                </a:move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111125" y="222250"/>
                </a:lnTo>
                <a:cubicBezTo>
                  <a:pt x="102344" y="222250"/>
                  <a:pt x="95250" y="215156"/>
                  <a:pt x="95250" y="206375"/>
                </a:cubicBezTo>
                <a:cubicBezTo>
                  <a:pt x="95250" y="197594"/>
                  <a:pt x="102344" y="190500"/>
                  <a:pt x="111125" y="19050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5" name="Text 52"/>
          <p:cNvSpPr/>
          <p:nvPr/>
        </p:nvSpPr>
        <p:spPr>
          <a:xfrm>
            <a:off x="11768534" y="2794000"/>
            <a:ext cx="16383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Claude Code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1006534" y="3657600"/>
            <a:ext cx="4635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Direct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filesystem access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custom skills that teach Claude how to interact with your vault structure and conventions.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11006534" y="4800600"/>
            <a:ext cx="4533900" cy="1524000"/>
          </a:xfrm>
          <a:custGeom>
            <a:avLst/>
            <a:gdLst/>
            <a:ahLst/>
            <a:cxnLst/>
            <a:rect l="l" t="t" r="r" b="b"/>
            <a:pathLst>
              <a:path w="4533900" h="1524000">
                <a:moveTo>
                  <a:pt x="101605" y="0"/>
                </a:moveTo>
                <a:lnTo>
                  <a:pt x="4432295" y="0"/>
                </a:lnTo>
                <a:cubicBezTo>
                  <a:pt x="4488410" y="0"/>
                  <a:pt x="4533900" y="45490"/>
                  <a:pt x="4533900" y="101605"/>
                </a:cubicBezTo>
                <a:lnTo>
                  <a:pt x="4533900" y="1422395"/>
                </a:lnTo>
                <a:cubicBezTo>
                  <a:pt x="4533900" y="1478510"/>
                  <a:pt x="4488410" y="1524000"/>
                  <a:pt x="4432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11158934" y="49530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Components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11197034" y="5359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50750"/>
                </a:lnTo>
                <a:cubicBezTo>
                  <a:pt x="114300" y="45690"/>
                  <a:pt x="112306" y="40838"/>
                  <a:pt x="108734" y="37267"/>
                </a:cubicBezTo>
                <a:lnTo>
                  <a:pt x="77004" y="5566"/>
                </a:lnTo>
                <a:cubicBezTo>
                  <a:pt x="73432" y="1994"/>
                  <a:pt x="68610" y="0"/>
                  <a:pt x="63550" y="0"/>
                </a:cubicBezTo>
                <a:lnTo>
                  <a:pt x="19050" y="0"/>
                </a:lnTo>
                <a:close/>
                <a:moveTo>
                  <a:pt x="96887" y="52388"/>
                </a:moveTo>
                <a:lnTo>
                  <a:pt x="69056" y="52388"/>
                </a:lnTo>
                <a:cubicBezTo>
                  <a:pt x="65097" y="52388"/>
                  <a:pt x="61912" y="49203"/>
                  <a:pt x="61912" y="45244"/>
                </a:cubicBezTo>
                <a:lnTo>
                  <a:pt x="61912" y="17413"/>
                </a:lnTo>
                <a:lnTo>
                  <a:pt x="96887" y="52388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0" name="Text 57"/>
          <p:cNvSpPr/>
          <p:nvPr/>
        </p:nvSpPr>
        <p:spPr>
          <a:xfrm>
            <a:off x="11451034" y="5308600"/>
            <a:ext cx="2349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CLAUDE.md: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Instructions file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11177984" y="5664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8073" y="2828"/>
                </a:moveTo>
                <a:cubicBezTo>
                  <a:pt x="58966" y="-1578"/>
                  <a:pt x="62865" y="-4762"/>
                  <a:pt x="67389" y="-4762"/>
                </a:cubicBezTo>
                <a:lnTo>
                  <a:pt x="85189" y="-4762"/>
                </a:lnTo>
                <a:cubicBezTo>
                  <a:pt x="89714" y="-4762"/>
                  <a:pt x="93613" y="-1578"/>
                  <a:pt x="94506" y="2828"/>
                </a:cubicBezTo>
                <a:lnTo>
                  <a:pt x="98822" y="23664"/>
                </a:lnTo>
                <a:cubicBezTo>
                  <a:pt x="103019" y="25450"/>
                  <a:pt x="106948" y="27742"/>
                  <a:pt x="110520" y="30450"/>
                </a:cubicBezTo>
                <a:lnTo>
                  <a:pt x="130701" y="23753"/>
                </a:lnTo>
                <a:cubicBezTo>
                  <a:pt x="134987" y="22324"/>
                  <a:pt x="139690" y="24110"/>
                  <a:pt x="141952" y="28039"/>
                </a:cubicBezTo>
                <a:lnTo>
                  <a:pt x="150852" y="43458"/>
                </a:lnTo>
                <a:cubicBezTo>
                  <a:pt x="153114" y="47387"/>
                  <a:pt x="152311" y="52328"/>
                  <a:pt x="148917" y="55334"/>
                </a:cubicBezTo>
                <a:lnTo>
                  <a:pt x="133052" y="69443"/>
                </a:lnTo>
                <a:cubicBezTo>
                  <a:pt x="133320" y="71646"/>
                  <a:pt x="133439" y="73908"/>
                  <a:pt x="133439" y="76200"/>
                </a:cubicBezTo>
                <a:cubicBezTo>
                  <a:pt x="133439" y="78492"/>
                  <a:pt x="133290" y="80754"/>
                  <a:pt x="133052" y="82957"/>
                </a:cubicBezTo>
                <a:lnTo>
                  <a:pt x="148947" y="97095"/>
                </a:lnTo>
                <a:cubicBezTo>
                  <a:pt x="152340" y="100102"/>
                  <a:pt x="153114" y="105073"/>
                  <a:pt x="150882" y="108972"/>
                </a:cubicBezTo>
                <a:lnTo>
                  <a:pt x="141982" y="124391"/>
                </a:lnTo>
                <a:cubicBezTo>
                  <a:pt x="139720" y="128290"/>
                  <a:pt x="135017" y="130106"/>
                  <a:pt x="130731" y="128677"/>
                </a:cubicBezTo>
                <a:lnTo>
                  <a:pt x="110550" y="121980"/>
                </a:lnTo>
                <a:cubicBezTo>
                  <a:pt x="106948" y="124688"/>
                  <a:pt x="103019" y="126950"/>
                  <a:pt x="98852" y="128766"/>
                </a:cubicBezTo>
                <a:lnTo>
                  <a:pt x="94565" y="149572"/>
                </a:lnTo>
                <a:cubicBezTo>
                  <a:pt x="93643" y="154007"/>
                  <a:pt x="89743" y="157163"/>
                  <a:pt x="85249" y="157163"/>
                </a:cubicBezTo>
                <a:lnTo>
                  <a:pt x="67449" y="157163"/>
                </a:lnTo>
                <a:cubicBezTo>
                  <a:pt x="62925" y="157163"/>
                  <a:pt x="59025" y="153978"/>
                  <a:pt x="58132" y="149572"/>
                </a:cubicBezTo>
                <a:lnTo>
                  <a:pt x="53846" y="128766"/>
                </a:lnTo>
                <a:cubicBezTo>
                  <a:pt x="49649" y="126980"/>
                  <a:pt x="45750" y="124688"/>
                  <a:pt x="42148" y="121980"/>
                </a:cubicBezTo>
                <a:lnTo>
                  <a:pt x="21878" y="128677"/>
                </a:lnTo>
                <a:cubicBezTo>
                  <a:pt x="17591" y="130106"/>
                  <a:pt x="12889" y="128320"/>
                  <a:pt x="10626" y="124391"/>
                </a:cubicBezTo>
                <a:lnTo>
                  <a:pt x="1726" y="108972"/>
                </a:lnTo>
                <a:cubicBezTo>
                  <a:pt x="-536" y="105043"/>
                  <a:pt x="268" y="100102"/>
                  <a:pt x="3661" y="97095"/>
                </a:cubicBezTo>
                <a:lnTo>
                  <a:pt x="19556" y="82957"/>
                </a:lnTo>
                <a:cubicBezTo>
                  <a:pt x="19288" y="80754"/>
                  <a:pt x="19169" y="78492"/>
                  <a:pt x="19169" y="76200"/>
                </a:cubicBezTo>
                <a:cubicBezTo>
                  <a:pt x="19169" y="73908"/>
                  <a:pt x="19318" y="71646"/>
                  <a:pt x="19556" y="69443"/>
                </a:cubicBezTo>
                <a:lnTo>
                  <a:pt x="3661" y="55305"/>
                </a:lnTo>
                <a:cubicBezTo>
                  <a:pt x="268" y="52298"/>
                  <a:pt x="-506" y="47327"/>
                  <a:pt x="1726" y="43428"/>
                </a:cubicBezTo>
                <a:lnTo>
                  <a:pt x="10626" y="28009"/>
                </a:lnTo>
                <a:cubicBezTo>
                  <a:pt x="12889" y="24080"/>
                  <a:pt x="17591" y="22294"/>
                  <a:pt x="21878" y="23723"/>
                </a:cubicBezTo>
                <a:lnTo>
                  <a:pt x="42059" y="30420"/>
                </a:lnTo>
                <a:cubicBezTo>
                  <a:pt x="45660" y="27712"/>
                  <a:pt x="49590" y="25450"/>
                  <a:pt x="53757" y="23634"/>
                </a:cubicBezTo>
                <a:lnTo>
                  <a:pt x="58073" y="2828"/>
                </a:lnTo>
                <a:close/>
                <a:moveTo>
                  <a:pt x="76289" y="100013"/>
                </a:moveTo>
                <a:cubicBezTo>
                  <a:pt x="84797" y="99981"/>
                  <a:pt x="92641" y="95412"/>
                  <a:pt x="96867" y="88029"/>
                </a:cubicBezTo>
                <a:cubicBezTo>
                  <a:pt x="101093" y="80645"/>
                  <a:pt x="101059" y="71568"/>
                  <a:pt x="96778" y="64216"/>
                </a:cubicBezTo>
                <a:cubicBezTo>
                  <a:pt x="92496" y="56865"/>
                  <a:pt x="84618" y="52356"/>
                  <a:pt x="76111" y="52387"/>
                </a:cubicBezTo>
                <a:cubicBezTo>
                  <a:pt x="67603" y="52419"/>
                  <a:pt x="59759" y="56988"/>
                  <a:pt x="55533" y="64371"/>
                </a:cubicBezTo>
                <a:cubicBezTo>
                  <a:pt x="51307" y="71755"/>
                  <a:pt x="51341" y="80832"/>
                  <a:pt x="55622" y="88184"/>
                </a:cubicBezTo>
                <a:cubicBezTo>
                  <a:pt x="59904" y="95535"/>
                  <a:pt x="67782" y="100044"/>
                  <a:pt x="76289" y="100013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2" name="Text 59"/>
          <p:cNvSpPr/>
          <p:nvPr/>
        </p:nvSpPr>
        <p:spPr>
          <a:xfrm>
            <a:off x="11451034" y="5613400"/>
            <a:ext cx="242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Skills: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obsidian-cli, markdown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11177984" y="5969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18616" y="3631"/>
                </a:moveTo>
                <a:lnTo>
                  <a:pt x="92363" y="29885"/>
                </a:lnTo>
                <a:lnTo>
                  <a:pt x="122515" y="60037"/>
                </a:lnTo>
                <a:lnTo>
                  <a:pt x="148769" y="33784"/>
                </a:lnTo>
                <a:cubicBezTo>
                  <a:pt x="151090" y="31432"/>
                  <a:pt x="152400" y="28277"/>
                  <a:pt x="152400" y="25003"/>
                </a:cubicBezTo>
                <a:cubicBezTo>
                  <a:pt x="152400" y="21729"/>
                  <a:pt x="151090" y="18574"/>
                  <a:pt x="148769" y="16222"/>
                </a:cubicBezTo>
                <a:lnTo>
                  <a:pt x="136178" y="3631"/>
                </a:lnTo>
                <a:cubicBezTo>
                  <a:pt x="133826" y="1310"/>
                  <a:pt x="130671" y="0"/>
                  <a:pt x="127397" y="0"/>
                </a:cubicBezTo>
                <a:cubicBezTo>
                  <a:pt x="124123" y="0"/>
                  <a:pt x="120967" y="1310"/>
                  <a:pt x="118616" y="3631"/>
                </a:cubicBezTo>
                <a:close/>
                <a:moveTo>
                  <a:pt x="82272" y="39975"/>
                </a:moveTo>
                <a:lnTo>
                  <a:pt x="3631" y="118616"/>
                </a:lnTo>
                <a:cubicBezTo>
                  <a:pt x="1310" y="120967"/>
                  <a:pt x="0" y="124123"/>
                  <a:pt x="0" y="127397"/>
                </a:cubicBezTo>
                <a:cubicBezTo>
                  <a:pt x="0" y="130671"/>
                  <a:pt x="1310" y="133826"/>
                  <a:pt x="3631" y="136178"/>
                </a:cubicBezTo>
                <a:lnTo>
                  <a:pt x="16222" y="148769"/>
                </a:lnTo>
                <a:cubicBezTo>
                  <a:pt x="18574" y="151090"/>
                  <a:pt x="21729" y="152400"/>
                  <a:pt x="25003" y="152400"/>
                </a:cubicBezTo>
                <a:cubicBezTo>
                  <a:pt x="28277" y="152400"/>
                  <a:pt x="31432" y="151090"/>
                  <a:pt x="33784" y="148769"/>
                </a:cubicBezTo>
                <a:lnTo>
                  <a:pt x="112425" y="70128"/>
                </a:lnTo>
                <a:lnTo>
                  <a:pt x="82272" y="3997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4" name="Text 61"/>
          <p:cNvSpPr/>
          <p:nvPr/>
        </p:nvSpPr>
        <p:spPr>
          <a:xfrm>
            <a:off x="11451034" y="5918200"/>
            <a:ext cx="312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skills: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User-defined workflows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11006534" y="6426200"/>
            <a:ext cx="4533900" cy="1828800"/>
          </a:xfrm>
          <a:custGeom>
            <a:avLst/>
            <a:gdLst/>
            <a:ahLst/>
            <a:cxnLst/>
            <a:rect l="l" t="t" r="r" b="b"/>
            <a:pathLst>
              <a:path w="4533900" h="1828800">
                <a:moveTo>
                  <a:pt x="101608" y="0"/>
                </a:moveTo>
                <a:lnTo>
                  <a:pt x="4432292" y="0"/>
                </a:lnTo>
                <a:cubicBezTo>
                  <a:pt x="4488408" y="0"/>
                  <a:pt x="4533900" y="45492"/>
                  <a:pt x="4533900" y="101608"/>
                </a:cubicBezTo>
                <a:lnTo>
                  <a:pt x="4533900" y="1727192"/>
                </a:lnTo>
                <a:cubicBezTo>
                  <a:pt x="4533900" y="1783308"/>
                  <a:pt x="4488408" y="1828800"/>
                  <a:pt x="44322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11158934" y="6578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Workflow Example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1158934" y="69342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Claude reads CLAUDE.md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1158934" y="72390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Understands vault structure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11158934" y="75438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Uses skills for operations</a:t>
            </a:r>
            <a:endParaRPr lang="en-US" sz="1600" dirty="0"/>
          </a:p>
        </p:txBody>
      </p:sp>
      <p:sp>
        <p:nvSpPr>
          <p:cNvPr id="70" name="Text 67"/>
          <p:cNvSpPr/>
          <p:nvPr/>
        </p:nvSpPr>
        <p:spPr>
          <a:xfrm>
            <a:off x="11158934" y="7848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Executes custom workflows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514350" y="8667750"/>
            <a:ext cx="15227300" cy="1384300"/>
          </a:xfrm>
          <a:custGeom>
            <a:avLst/>
            <a:gdLst/>
            <a:ahLst/>
            <a:cxnLst/>
            <a:rect l="l" t="t" r="r" b="b"/>
            <a:pathLst>
              <a:path w="15227300" h="1384300">
                <a:moveTo>
                  <a:pt x="152398" y="0"/>
                </a:moveTo>
                <a:lnTo>
                  <a:pt x="15074902" y="0"/>
                </a:lnTo>
                <a:cubicBezTo>
                  <a:pt x="15159069" y="0"/>
                  <a:pt x="15227300" y="68231"/>
                  <a:pt x="15227300" y="152398"/>
                </a:cubicBezTo>
                <a:lnTo>
                  <a:pt x="15227300" y="1231902"/>
                </a:lnTo>
                <a:cubicBezTo>
                  <a:pt x="15227300" y="1316069"/>
                  <a:pt x="15159069" y="1384300"/>
                  <a:pt x="15074902" y="1384300"/>
                </a:cubicBezTo>
                <a:lnTo>
                  <a:pt x="152398" y="1384300"/>
                </a:lnTo>
                <a:cubicBezTo>
                  <a:pt x="68287" y="1384300"/>
                  <a:pt x="0" y="1316013"/>
                  <a:pt x="0" y="12319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50000">
                <a:srgbClr val="D4A373">
                  <a:alpha val="20000"/>
                </a:srgbClr>
              </a:gs>
              <a:gs pos="100000">
                <a:srgbClr val="788A9C">
                  <a:alpha val="20000"/>
                </a:srgbClr>
              </a:gs>
            </a:gsLst>
            <a:lin ang="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74700" y="9169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cubicBezTo>
                  <a:pt x="193923" y="0"/>
                  <a:pt x="197346" y="744"/>
                  <a:pt x="200471" y="2158"/>
                </a:cubicBezTo>
                <a:lnTo>
                  <a:pt x="340668" y="61615"/>
                </a:lnTo>
                <a:cubicBezTo>
                  <a:pt x="357039" y="68535"/>
                  <a:pt x="369243" y="84683"/>
                  <a:pt x="369168" y="104180"/>
                </a:cubicBezTo>
                <a:cubicBezTo>
                  <a:pt x="368796" y="177998"/>
                  <a:pt x="338435" y="313060"/>
                  <a:pt x="210220" y="374452"/>
                </a:cubicBezTo>
                <a:cubicBezTo>
                  <a:pt x="197793" y="380405"/>
                  <a:pt x="183356" y="380405"/>
                  <a:pt x="170929" y="374452"/>
                </a:cubicBezTo>
                <a:cubicBezTo>
                  <a:pt x="42639" y="313060"/>
                  <a:pt x="12353" y="177998"/>
                  <a:pt x="11981" y="104180"/>
                </a:cubicBezTo>
                <a:cubicBezTo>
                  <a:pt x="11906" y="84683"/>
                  <a:pt x="24110" y="68535"/>
                  <a:pt x="40481" y="61615"/>
                </a:cubicBezTo>
                <a:lnTo>
                  <a:pt x="180603" y="2158"/>
                </a:lnTo>
                <a:cubicBezTo>
                  <a:pt x="183728" y="744"/>
                  <a:pt x="187077" y="0"/>
                  <a:pt x="190500" y="0"/>
                </a:cubicBezTo>
                <a:close/>
                <a:moveTo>
                  <a:pt x="190500" y="49709"/>
                </a:moveTo>
                <a:lnTo>
                  <a:pt x="190500" y="331068"/>
                </a:lnTo>
                <a:cubicBezTo>
                  <a:pt x="293191" y="281360"/>
                  <a:pt x="320799" y="171227"/>
                  <a:pt x="321469" y="105296"/>
                </a:cubicBezTo>
                <a:lnTo>
                  <a:pt x="190500" y="49783"/>
                </a:lnTo>
                <a:lnTo>
                  <a:pt x="190500" y="49783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3" name="Text 70"/>
          <p:cNvSpPr/>
          <p:nvPr/>
        </p:nvSpPr>
        <p:spPr>
          <a:xfrm>
            <a:off x="1403350" y="88773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Privacy Considerations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1416050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5" name="Text 72"/>
          <p:cNvSpPr/>
          <p:nvPr/>
        </p:nvSpPr>
        <p:spPr>
          <a:xfrm>
            <a:off x="1707555" y="9334500"/>
            <a:ext cx="320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Local-only: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Communication stays on device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4992688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7" name="Text 74"/>
          <p:cNvSpPr/>
          <p:nvPr/>
        </p:nvSpPr>
        <p:spPr>
          <a:xfrm>
            <a:off x="5297091" y="93345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Encrypted: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HTTPS with valid certificates</a:t>
            </a:r>
            <a:endParaRPr lang="en-US" sz="1600" dirty="0"/>
          </a:p>
        </p:txBody>
      </p:sp>
      <p:sp>
        <p:nvSpPr>
          <p:cNvPr id="78" name="Shape 75"/>
          <p:cNvSpPr/>
          <p:nvPr/>
        </p:nvSpPr>
        <p:spPr>
          <a:xfrm>
            <a:off x="8569325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9" name="Text 76"/>
          <p:cNvSpPr/>
          <p:nvPr/>
        </p:nvSpPr>
        <p:spPr>
          <a:xfrm>
            <a:off x="8867775" y="9461500"/>
            <a:ext cx="274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ZDR: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Zero Data Retention possible</a:t>
            </a:r>
            <a:endParaRPr lang="en-US" sz="1600" dirty="0"/>
          </a:p>
        </p:txBody>
      </p:sp>
      <p:sp>
        <p:nvSpPr>
          <p:cNvPr id="80" name="Shape 77"/>
          <p:cNvSpPr/>
          <p:nvPr/>
        </p:nvSpPr>
        <p:spPr>
          <a:xfrm>
            <a:off x="12133263" y="9499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177800"/>
                </a:moveTo>
                <a:cubicBezTo>
                  <a:pt x="137965" y="177800"/>
                  <a:pt x="177800" y="137965"/>
                  <a:pt x="177800" y="88900"/>
                </a:cubicBezTo>
                <a:cubicBezTo>
                  <a:pt x="177800" y="39835"/>
                  <a:pt x="137965" y="0"/>
                  <a:pt x="88900" y="0"/>
                </a:cubicBezTo>
                <a:cubicBezTo>
                  <a:pt x="39835" y="0"/>
                  <a:pt x="0" y="39835"/>
                  <a:pt x="0" y="88900"/>
                </a:cubicBezTo>
                <a:cubicBezTo>
                  <a:pt x="0" y="137965"/>
                  <a:pt x="39835" y="177800"/>
                  <a:pt x="88900" y="177800"/>
                </a:cubicBezTo>
                <a:close/>
                <a:moveTo>
                  <a:pt x="118209" y="73863"/>
                </a:moveTo>
                <a:lnTo>
                  <a:pt x="90428" y="118313"/>
                </a:lnTo>
                <a:cubicBezTo>
                  <a:pt x="88969" y="120640"/>
                  <a:pt x="86469" y="122099"/>
                  <a:pt x="83726" y="122238"/>
                </a:cubicBezTo>
                <a:cubicBezTo>
                  <a:pt x="80982" y="122376"/>
                  <a:pt x="78343" y="121126"/>
                  <a:pt x="76711" y="118904"/>
                </a:cubicBezTo>
                <a:lnTo>
                  <a:pt x="60042" y="96679"/>
                </a:lnTo>
                <a:cubicBezTo>
                  <a:pt x="57264" y="92998"/>
                  <a:pt x="58028" y="87789"/>
                  <a:pt x="61709" y="85011"/>
                </a:cubicBezTo>
                <a:cubicBezTo>
                  <a:pt x="65390" y="82233"/>
                  <a:pt x="70599" y="82996"/>
                  <a:pt x="73377" y="86678"/>
                </a:cubicBezTo>
                <a:lnTo>
                  <a:pt x="82753" y="99179"/>
                </a:lnTo>
                <a:lnTo>
                  <a:pt x="104076" y="65043"/>
                </a:lnTo>
                <a:cubicBezTo>
                  <a:pt x="106506" y="61153"/>
                  <a:pt x="111646" y="59938"/>
                  <a:pt x="115570" y="62404"/>
                </a:cubicBezTo>
                <a:cubicBezTo>
                  <a:pt x="119494" y="64869"/>
                  <a:pt x="120675" y="69974"/>
                  <a:pt x="118209" y="7389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1" name="Text 78"/>
          <p:cNvSpPr/>
          <p:nvPr/>
        </p:nvSpPr>
        <p:spPr>
          <a:xfrm>
            <a:off x="12437666" y="9334500"/>
            <a:ext cx="318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Controlled: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manages access scope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Knowledge Graphs: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Beyond Simple Retrieval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2540000"/>
            <a:ext cx="7467600" cy="5359400"/>
          </a:xfrm>
          <a:custGeom>
            <a:avLst/>
            <a:gdLst/>
            <a:ahLst/>
            <a:cxnLst/>
            <a:rect l="l" t="t" r="r" b="b"/>
            <a:pathLst>
              <a:path w="7467600" h="5359400">
                <a:moveTo>
                  <a:pt x="50800" y="0"/>
                </a:moveTo>
                <a:lnTo>
                  <a:pt x="7315179" y="0"/>
                </a:lnTo>
                <a:cubicBezTo>
                  <a:pt x="7399359" y="0"/>
                  <a:pt x="7467600" y="68241"/>
                  <a:pt x="7467600" y="152421"/>
                </a:cubicBezTo>
                <a:lnTo>
                  <a:pt x="7467600" y="5206979"/>
                </a:lnTo>
                <a:cubicBezTo>
                  <a:pt x="7467600" y="5291159"/>
                  <a:pt x="7399359" y="5359400"/>
                  <a:pt x="7315179" y="5359400"/>
                </a:cubicBezTo>
                <a:lnTo>
                  <a:pt x="50800" y="5359400"/>
                </a:lnTo>
                <a:cubicBezTo>
                  <a:pt x="22763" y="5359400"/>
                  <a:pt x="0" y="5336637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2540000"/>
            <a:ext cx="50800" cy="5359400"/>
          </a:xfrm>
          <a:custGeom>
            <a:avLst/>
            <a:gdLst/>
            <a:ahLst/>
            <a:cxnLst/>
            <a:rect l="l" t="t" r="r" b="b"/>
            <a:pathLst>
              <a:path w="50800" h="5359400">
                <a:moveTo>
                  <a:pt x="50800" y="0"/>
                </a:moveTo>
                <a:lnTo>
                  <a:pt x="50800" y="0"/>
                </a:lnTo>
                <a:lnTo>
                  <a:pt x="50800" y="5359400"/>
                </a:lnTo>
                <a:lnTo>
                  <a:pt x="50800" y="5359400"/>
                </a:lnTo>
                <a:cubicBezTo>
                  <a:pt x="22763" y="5359400"/>
                  <a:pt x="0" y="5336637"/>
                  <a:pt x="0" y="5308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844550" y="284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" name="Text 6"/>
          <p:cNvSpPr/>
          <p:nvPr/>
        </p:nvSpPr>
        <p:spPr>
          <a:xfrm>
            <a:off x="1130300" y="2794000"/>
            <a:ext cx="674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Knowledge Graphs?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352800"/>
            <a:ext cx="703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Knowledge graphs represent information as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interconnected entities and relationships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enabling semantic reasoning and complex queries beyond simple text retrieval.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546600"/>
            <a:ext cx="6934200" cy="3098800"/>
          </a:xfrm>
          <a:custGeom>
            <a:avLst/>
            <a:gdLst/>
            <a:ahLst/>
            <a:cxnLst/>
            <a:rect l="l" t="t" r="r" b="b"/>
            <a:pathLst>
              <a:path w="6934200" h="3098800">
                <a:moveTo>
                  <a:pt x="101610" y="0"/>
                </a:moveTo>
                <a:lnTo>
                  <a:pt x="6832590" y="0"/>
                </a:lnTo>
                <a:cubicBezTo>
                  <a:pt x="6888708" y="0"/>
                  <a:pt x="6934200" y="45492"/>
                  <a:pt x="6934200" y="101610"/>
                </a:cubicBezTo>
                <a:lnTo>
                  <a:pt x="6934200" y="2997190"/>
                </a:lnTo>
                <a:cubicBezTo>
                  <a:pt x="6934200" y="3053308"/>
                  <a:pt x="6888708" y="3098800"/>
                  <a:pt x="6832590" y="3098800"/>
                </a:cubicBezTo>
                <a:lnTo>
                  <a:pt x="101610" y="3098800"/>
                </a:lnTo>
                <a:cubicBezTo>
                  <a:pt x="45492" y="3098800"/>
                  <a:pt x="0" y="3053308"/>
                  <a:pt x="0" y="2997190"/>
                </a:cubicBezTo>
                <a:lnTo>
                  <a:pt x="0" y="101610"/>
                </a:lnTo>
                <a:cubicBezTo>
                  <a:pt x="0" y="45530"/>
                  <a:pt x="45530" y="0"/>
                  <a:pt x="10161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749800"/>
            <a:ext cx="664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RDF Triples: Subject-Predicate-Object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5257800"/>
            <a:ext cx="6527800" cy="660400"/>
          </a:xfrm>
          <a:custGeom>
            <a:avLst/>
            <a:gdLst/>
            <a:ahLst/>
            <a:cxnLst/>
            <a:rect l="l" t="t" r="r" b="b"/>
            <a:pathLst>
              <a:path w="6527800" h="660400">
                <a:moveTo>
                  <a:pt x="101603" y="0"/>
                </a:moveTo>
                <a:lnTo>
                  <a:pt x="6426197" y="0"/>
                </a:lnTo>
                <a:cubicBezTo>
                  <a:pt x="6482311" y="0"/>
                  <a:pt x="6527800" y="45489"/>
                  <a:pt x="6527800" y="101603"/>
                </a:cubicBezTo>
                <a:lnTo>
                  <a:pt x="6527800" y="558797"/>
                </a:lnTo>
                <a:cubicBezTo>
                  <a:pt x="6527800" y="614911"/>
                  <a:pt x="6482311" y="660400"/>
                  <a:pt x="6426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68400" y="5410200"/>
            <a:ext cx="711200" cy="355600"/>
          </a:xfrm>
          <a:custGeom>
            <a:avLst/>
            <a:gdLst/>
            <a:ahLst/>
            <a:cxnLst/>
            <a:rect l="l" t="t" r="r" b="b"/>
            <a:pathLst>
              <a:path w="711200" h="355600">
                <a:moveTo>
                  <a:pt x="50801" y="0"/>
                </a:moveTo>
                <a:lnTo>
                  <a:pt x="660399" y="0"/>
                </a:lnTo>
                <a:cubicBezTo>
                  <a:pt x="688456" y="0"/>
                  <a:pt x="711200" y="22744"/>
                  <a:pt x="711200" y="50801"/>
                </a:cubicBezTo>
                <a:lnTo>
                  <a:pt x="711200" y="304799"/>
                </a:lnTo>
                <a:cubicBezTo>
                  <a:pt x="711200" y="332856"/>
                  <a:pt x="688456" y="355600"/>
                  <a:pt x="660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68400" y="5410200"/>
            <a:ext cx="800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053233" y="548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4233" y="5410200"/>
            <a:ext cx="1041400" cy="355600"/>
          </a:xfrm>
          <a:custGeom>
            <a:avLst/>
            <a:gdLst/>
            <a:ahLst/>
            <a:cxnLst/>
            <a:rect l="l" t="t" r="r" b="b"/>
            <a:pathLst>
              <a:path w="1041400" h="355600">
                <a:moveTo>
                  <a:pt x="50801" y="0"/>
                </a:moveTo>
                <a:lnTo>
                  <a:pt x="990599" y="0"/>
                </a:lnTo>
                <a:cubicBezTo>
                  <a:pt x="1018656" y="0"/>
                  <a:pt x="1041400" y="22744"/>
                  <a:pt x="1041400" y="50801"/>
                </a:cubicBezTo>
                <a:lnTo>
                  <a:pt x="1041400" y="304799"/>
                </a:lnTo>
                <a:cubicBezTo>
                  <a:pt x="1041400" y="332856"/>
                  <a:pt x="1018656" y="355600"/>
                  <a:pt x="990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434233" y="5410200"/>
            <a:ext cx="1130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4822" y="5486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19" name="Shape 17"/>
          <p:cNvSpPr/>
          <p:nvPr/>
        </p:nvSpPr>
        <p:spPr>
          <a:xfrm>
            <a:off x="4035822" y="54102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035822" y="5410200"/>
            <a:ext cx="1485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Alpha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6019800"/>
            <a:ext cx="6527800" cy="660400"/>
          </a:xfrm>
          <a:custGeom>
            <a:avLst/>
            <a:gdLst/>
            <a:ahLst/>
            <a:cxnLst/>
            <a:rect l="l" t="t" r="r" b="b"/>
            <a:pathLst>
              <a:path w="6527800" h="660400">
                <a:moveTo>
                  <a:pt x="101603" y="0"/>
                </a:moveTo>
                <a:lnTo>
                  <a:pt x="6426197" y="0"/>
                </a:lnTo>
                <a:cubicBezTo>
                  <a:pt x="6482311" y="0"/>
                  <a:pt x="6527800" y="45489"/>
                  <a:pt x="6527800" y="101603"/>
                </a:cubicBezTo>
                <a:lnTo>
                  <a:pt x="6527800" y="558797"/>
                </a:lnTo>
                <a:cubicBezTo>
                  <a:pt x="6527800" y="614911"/>
                  <a:pt x="6482311" y="660400"/>
                  <a:pt x="6426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168400" y="6172200"/>
            <a:ext cx="1397000" cy="355600"/>
          </a:xfrm>
          <a:custGeom>
            <a:avLst/>
            <a:gdLst/>
            <a:ahLst/>
            <a:cxnLst/>
            <a:rect l="l" t="t" r="r" b="b"/>
            <a:pathLst>
              <a:path w="1397000" h="355600">
                <a:moveTo>
                  <a:pt x="50801" y="0"/>
                </a:moveTo>
                <a:lnTo>
                  <a:pt x="1346199" y="0"/>
                </a:lnTo>
                <a:cubicBezTo>
                  <a:pt x="1374256" y="0"/>
                  <a:pt x="1397000" y="22744"/>
                  <a:pt x="1397000" y="50801"/>
                </a:cubicBezTo>
                <a:lnTo>
                  <a:pt x="1397000" y="304799"/>
                </a:lnTo>
                <a:cubicBezTo>
                  <a:pt x="1397000" y="332856"/>
                  <a:pt x="1374256" y="355600"/>
                  <a:pt x="1346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168400" y="6172200"/>
            <a:ext cx="1485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Alpha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736850" y="624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5" name="Shape 23"/>
          <p:cNvSpPr/>
          <p:nvPr/>
        </p:nvSpPr>
        <p:spPr>
          <a:xfrm>
            <a:off x="3117850" y="6172200"/>
            <a:ext cx="673100" cy="355600"/>
          </a:xfrm>
          <a:custGeom>
            <a:avLst/>
            <a:gdLst/>
            <a:ahLst/>
            <a:cxnLst/>
            <a:rect l="l" t="t" r="r" b="b"/>
            <a:pathLst>
              <a:path w="673100" h="355600">
                <a:moveTo>
                  <a:pt x="50801" y="0"/>
                </a:moveTo>
                <a:lnTo>
                  <a:pt x="622299" y="0"/>
                </a:lnTo>
                <a:cubicBezTo>
                  <a:pt x="650356" y="0"/>
                  <a:pt x="673100" y="22744"/>
                  <a:pt x="673100" y="50801"/>
                </a:cubicBezTo>
                <a:lnTo>
                  <a:pt x="673100" y="304799"/>
                </a:lnTo>
                <a:cubicBezTo>
                  <a:pt x="673100" y="332856"/>
                  <a:pt x="650356" y="355600"/>
                  <a:pt x="6222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17850" y="6172200"/>
            <a:ext cx="7620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965773" y="6248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8" name="Shape 26"/>
          <p:cNvSpPr/>
          <p:nvPr/>
        </p:nvSpPr>
        <p:spPr>
          <a:xfrm>
            <a:off x="4346773" y="6172200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304799"/>
                </a:lnTo>
                <a:cubicBezTo>
                  <a:pt x="660400" y="332856"/>
                  <a:pt x="637656" y="355600"/>
                  <a:pt x="609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46773" y="6172200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6781800"/>
            <a:ext cx="6527800" cy="660400"/>
          </a:xfrm>
          <a:custGeom>
            <a:avLst/>
            <a:gdLst/>
            <a:ahLst/>
            <a:cxnLst/>
            <a:rect l="l" t="t" r="r" b="b"/>
            <a:pathLst>
              <a:path w="6527800" h="660400">
                <a:moveTo>
                  <a:pt x="101603" y="0"/>
                </a:moveTo>
                <a:lnTo>
                  <a:pt x="6426197" y="0"/>
                </a:lnTo>
                <a:cubicBezTo>
                  <a:pt x="6482311" y="0"/>
                  <a:pt x="6527800" y="45489"/>
                  <a:pt x="6527800" y="101603"/>
                </a:cubicBezTo>
                <a:lnTo>
                  <a:pt x="6527800" y="558797"/>
                </a:lnTo>
                <a:cubicBezTo>
                  <a:pt x="6527800" y="614911"/>
                  <a:pt x="6482311" y="660400"/>
                  <a:pt x="64261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68400" y="6934200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50801" y="0"/>
                </a:moveTo>
                <a:lnTo>
                  <a:pt x="609599" y="0"/>
                </a:lnTo>
                <a:cubicBezTo>
                  <a:pt x="637656" y="0"/>
                  <a:pt x="660400" y="22744"/>
                  <a:pt x="660400" y="50801"/>
                </a:cubicBezTo>
                <a:lnTo>
                  <a:pt x="660400" y="304799"/>
                </a:lnTo>
                <a:cubicBezTo>
                  <a:pt x="660400" y="332856"/>
                  <a:pt x="637656" y="355600"/>
                  <a:pt x="609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7C59">
              <a:alpha val="3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68400" y="6934200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005409" y="701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4" name="Shape 32"/>
          <p:cNvSpPr/>
          <p:nvPr/>
        </p:nvSpPr>
        <p:spPr>
          <a:xfrm>
            <a:off x="2386409" y="6934200"/>
            <a:ext cx="558800" cy="355600"/>
          </a:xfrm>
          <a:custGeom>
            <a:avLst/>
            <a:gdLst/>
            <a:ahLst/>
            <a:cxnLst/>
            <a:rect l="l" t="t" r="r" b="b"/>
            <a:pathLst>
              <a:path w="558800" h="355600">
                <a:moveTo>
                  <a:pt x="50801" y="0"/>
                </a:moveTo>
                <a:lnTo>
                  <a:pt x="507999" y="0"/>
                </a:lnTo>
                <a:cubicBezTo>
                  <a:pt x="536056" y="0"/>
                  <a:pt x="558800" y="22744"/>
                  <a:pt x="558800" y="50801"/>
                </a:cubicBezTo>
                <a:lnTo>
                  <a:pt x="558800" y="304799"/>
                </a:lnTo>
                <a:cubicBezTo>
                  <a:pt x="558800" y="332856"/>
                  <a:pt x="536056" y="355600"/>
                  <a:pt x="507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D4A373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2386409" y="6934200"/>
            <a:ext cx="647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116659" y="7010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99469" y="110569"/>
                </a:moveTo>
                <a:cubicBezTo>
                  <a:pt x="204430" y="105608"/>
                  <a:pt x="204430" y="97552"/>
                  <a:pt x="199469" y="92591"/>
                </a:cubicBezTo>
                <a:lnTo>
                  <a:pt x="135969" y="29091"/>
                </a:lnTo>
                <a:cubicBezTo>
                  <a:pt x="131008" y="24130"/>
                  <a:pt x="122952" y="24130"/>
                  <a:pt x="117991" y="29091"/>
                </a:cubicBezTo>
                <a:cubicBezTo>
                  <a:pt x="113030" y="34052"/>
                  <a:pt x="113030" y="42108"/>
                  <a:pt x="117991" y="47069"/>
                </a:cubicBezTo>
                <a:lnTo>
                  <a:pt x="159822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159822" y="114300"/>
                </a:lnTo>
                <a:lnTo>
                  <a:pt x="117991" y="156131"/>
                </a:lnTo>
                <a:cubicBezTo>
                  <a:pt x="113030" y="161092"/>
                  <a:pt x="113030" y="169148"/>
                  <a:pt x="117991" y="174109"/>
                </a:cubicBezTo>
                <a:cubicBezTo>
                  <a:pt x="122952" y="179070"/>
                  <a:pt x="131008" y="179070"/>
                  <a:pt x="135969" y="174109"/>
                </a:cubicBezTo>
                <a:lnTo>
                  <a:pt x="199469" y="110609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37" name="Shape 35"/>
          <p:cNvSpPr/>
          <p:nvPr/>
        </p:nvSpPr>
        <p:spPr>
          <a:xfrm>
            <a:off x="3497659" y="6934200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50801" y="0"/>
                </a:moveTo>
                <a:lnTo>
                  <a:pt x="1320799" y="0"/>
                </a:lnTo>
                <a:cubicBezTo>
                  <a:pt x="1348856" y="0"/>
                  <a:pt x="1371600" y="22744"/>
                  <a:pt x="1371600" y="50801"/>
                </a:cubicBezTo>
                <a:lnTo>
                  <a:pt x="1371600" y="304799"/>
                </a:lnTo>
                <a:cubicBezTo>
                  <a:pt x="1371600" y="332856"/>
                  <a:pt x="1348856" y="355600"/>
                  <a:pt x="1320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497659" y="6934200"/>
            <a:ext cx="1460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Technique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8000" y="8102600"/>
            <a:ext cx="7493000" cy="3505200"/>
          </a:xfrm>
          <a:custGeom>
            <a:avLst/>
            <a:gdLst/>
            <a:ahLst/>
            <a:cxnLst/>
            <a:rect l="l" t="t" r="r" b="b"/>
            <a:pathLst>
              <a:path w="7493000" h="3505200">
                <a:moveTo>
                  <a:pt x="152406" y="0"/>
                </a:moveTo>
                <a:lnTo>
                  <a:pt x="7340594" y="0"/>
                </a:lnTo>
                <a:cubicBezTo>
                  <a:pt x="7424765" y="0"/>
                  <a:pt x="7493000" y="68235"/>
                  <a:pt x="7493000" y="152406"/>
                </a:cubicBezTo>
                <a:lnTo>
                  <a:pt x="7493000" y="3352794"/>
                </a:lnTo>
                <a:cubicBezTo>
                  <a:pt x="7493000" y="3436965"/>
                  <a:pt x="7424765" y="3505200"/>
                  <a:pt x="7340594" y="3505200"/>
                </a:cubicBezTo>
                <a:lnTo>
                  <a:pt x="152406" y="3505200"/>
                </a:lnTo>
                <a:cubicBezTo>
                  <a:pt x="68235" y="3505200"/>
                  <a:pt x="0" y="3436965"/>
                  <a:pt x="0" y="33527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4375" y="83693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1003300" y="8305800"/>
            <a:ext cx="690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Entity Extraction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1200" y="8813800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can automatically extract entities and relationships from Obsidian notes: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1200" y="9626600"/>
            <a:ext cx="3492500" cy="762000"/>
          </a:xfrm>
          <a:custGeom>
            <a:avLst/>
            <a:gdLst/>
            <a:ahLst/>
            <a:cxnLst/>
            <a:rect l="l" t="t" r="r" b="b"/>
            <a:pathLst>
              <a:path w="3492500" h="762000">
                <a:moveTo>
                  <a:pt x="101597" y="0"/>
                </a:moveTo>
                <a:lnTo>
                  <a:pt x="3390903" y="0"/>
                </a:lnTo>
                <a:cubicBezTo>
                  <a:pt x="3447013" y="0"/>
                  <a:pt x="3492500" y="45487"/>
                  <a:pt x="3492500" y="101597"/>
                </a:cubicBezTo>
                <a:lnTo>
                  <a:pt x="3492500" y="660403"/>
                </a:lnTo>
                <a:cubicBezTo>
                  <a:pt x="3492500" y="716513"/>
                  <a:pt x="3447013" y="762000"/>
                  <a:pt x="33909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360613" y="97409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5" name="Text 43"/>
          <p:cNvSpPr/>
          <p:nvPr/>
        </p:nvSpPr>
        <p:spPr>
          <a:xfrm>
            <a:off x="768350" y="100330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People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305300" y="9626600"/>
            <a:ext cx="3492500" cy="762000"/>
          </a:xfrm>
          <a:custGeom>
            <a:avLst/>
            <a:gdLst/>
            <a:ahLst/>
            <a:cxnLst/>
            <a:rect l="l" t="t" r="r" b="b"/>
            <a:pathLst>
              <a:path w="3492500" h="762000">
                <a:moveTo>
                  <a:pt x="101597" y="0"/>
                </a:moveTo>
                <a:lnTo>
                  <a:pt x="3390903" y="0"/>
                </a:lnTo>
                <a:cubicBezTo>
                  <a:pt x="3447013" y="0"/>
                  <a:pt x="3492500" y="45487"/>
                  <a:pt x="3492500" y="101597"/>
                </a:cubicBezTo>
                <a:lnTo>
                  <a:pt x="3492500" y="660403"/>
                </a:lnTo>
                <a:cubicBezTo>
                  <a:pt x="3492500" y="716513"/>
                  <a:pt x="3447013" y="762000"/>
                  <a:pt x="33909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969000" y="97409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78581" y="157163"/>
                </a:moveTo>
                <a:lnTo>
                  <a:pt x="92869" y="157163"/>
                </a:lnTo>
                <a:cubicBezTo>
                  <a:pt x="100772" y="157163"/>
                  <a:pt x="107156" y="163547"/>
                  <a:pt x="107156" y="171450"/>
                </a:cubicBezTo>
                <a:lnTo>
                  <a:pt x="107156" y="207169"/>
                </a:lnTo>
                <a:lnTo>
                  <a:pt x="64294" y="207169"/>
                </a:lnTo>
                <a:lnTo>
                  <a:pt x="64294" y="171450"/>
                </a:lnTo>
                <a:cubicBezTo>
                  <a:pt x="64294" y="163547"/>
                  <a:pt x="70678" y="157163"/>
                  <a:pt x="78581" y="157163"/>
                </a:cubicBezTo>
                <a:close/>
                <a:moveTo>
                  <a:pt x="42863" y="50006"/>
                </a:moveTo>
                <a:cubicBezTo>
                  <a:pt x="42863" y="46077"/>
                  <a:pt x="46077" y="42863"/>
                  <a:pt x="50006" y="42863"/>
                </a:cubicBezTo>
                <a:lnTo>
                  <a:pt x="64294" y="42863"/>
                </a:lnTo>
                <a:cubicBezTo>
                  <a:pt x="68223" y="42863"/>
                  <a:pt x="71438" y="46077"/>
                  <a:pt x="71438" y="50006"/>
                </a:cubicBezTo>
                <a:lnTo>
                  <a:pt x="71438" y="64294"/>
                </a:lnTo>
                <a:cubicBezTo>
                  <a:pt x="71438" y="68223"/>
                  <a:pt x="68223" y="71438"/>
                  <a:pt x="64294" y="71438"/>
                </a:cubicBezTo>
                <a:lnTo>
                  <a:pt x="50006" y="71438"/>
                </a:lnTo>
                <a:cubicBezTo>
                  <a:pt x="46077" y="71438"/>
                  <a:pt x="42863" y="68223"/>
                  <a:pt x="42863" y="64294"/>
                </a:cubicBezTo>
                <a:lnTo>
                  <a:pt x="42863" y="50006"/>
                </a:lnTo>
                <a:close/>
                <a:moveTo>
                  <a:pt x="107156" y="42863"/>
                </a:moveTo>
                <a:lnTo>
                  <a:pt x="121444" y="42863"/>
                </a:lnTo>
                <a:cubicBezTo>
                  <a:pt x="125373" y="42863"/>
                  <a:pt x="128588" y="46077"/>
                  <a:pt x="128588" y="50006"/>
                </a:cubicBezTo>
                <a:lnTo>
                  <a:pt x="128588" y="64294"/>
                </a:lnTo>
                <a:cubicBezTo>
                  <a:pt x="128588" y="68223"/>
                  <a:pt x="125373" y="71438"/>
                  <a:pt x="121444" y="71438"/>
                </a:cubicBezTo>
                <a:lnTo>
                  <a:pt x="107156" y="71438"/>
                </a:lnTo>
                <a:cubicBezTo>
                  <a:pt x="103227" y="71438"/>
                  <a:pt x="100013" y="68223"/>
                  <a:pt x="100013" y="64294"/>
                </a:cubicBezTo>
                <a:lnTo>
                  <a:pt x="100013" y="50006"/>
                </a:lnTo>
                <a:cubicBezTo>
                  <a:pt x="100013" y="46077"/>
                  <a:pt x="103227" y="42863"/>
                  <a:pt x="107156" y="42863"/>
                </a:cubicBezTo>
                <a:close/>
                <a:moveTo>
                  <a:pt x="42863" y="107156"/>
                </a:moveTo>
                <a:cubicBezTo>
                  <a:pt x="42863" y="103227"/>
                  <a:pt x="46077" y="100013"/>
                  <a:pt x="50006" y="100013"/>
                </a:cubicBezTo>
                <a:lnTo>
                  <a:pt x="64294" y="100013"/>
                </a:lnTo>
                <a:cubicBezTo>
                  <a:pt x="68223" y="100013"/>
                  <a:pt x="71438" y="103227"/>
                  <a:pt x="71438" y="107156"/>
                </a:cubicBezTo>
                <a:lnTo>
                  <a:pt x="71438" y="121444"/>
                </a:lnTo>
                <a:cubicBezTo>
                  <a:pt x="71438" y="125373"/>
                  <a:pt x="68223" y="128588"/>
                  <a:pt x="64294" y="128588"/>
                </a:cubicBezTo>
                <a:lnTo>
                  <a:pt x="50006" y="128588"/>
                </a:lnTo>
                <a:cubicBezTo>
                  <a:pt x="46077" y="128588"/>
                  <a:pt x="42863" y="125373"/>
                  <a:pt x="42863" y="121444"/>
                </a:cubicBezTo>
                <a:lnTo>
                  <a:pt x="42863" y="107156"/>
                </a:lnTo>
                <a:close/>
                <a:moveTo>
                  <a:pt x="107156" y="100013"/>
                </a:moveTo>
                <a:lnTo>
                  <a:pt x="121444" y="100013"/>
                </a:lnTo>
                <a:cubicBezTo>
                  <a:pt x="125373" y="100013"/>
                  <a:pt x="128588" y="103227"/>
                  <a:pt x="128588" y="107156"/>
                </a:cubicBezTo>
                <a:lnTo>
                  <a:pt x="128588" y="121444"/>
                </a:lnTo>
                <a:cubicBezTo>
                  <a:pt x="128588" y="125373"/>
                  <a:pt x="125373" y="128588"/>
                  <a:pt x="121444" y="128588"/>
                </a:cubicBezTo>
                <a:lnTo>
                  <a:pt x="107156" y="128588"/>
                </a:lnTo>
                <a:cubicBezTo>
                  <a:pt x="103227" y="128588"/>
                  <a:pt x="100013" y="125373"/>
                  <a:pt x="100013" y="121444"/>
                </a:cubicBezTo>
                <a:lnTo>
                  <a:pt x="100013" y="107156"/>
                </a:lnTo>
                <a:cubicBezTo>
                  <a:pt x="100013" y="103227"/>
                  <a:pt x="103227" y="100013"/>
                  <a:pt x="107156" y="100013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8" name="Text 46"/>
          <p:cNvSpPr/>
          <p:nvPr/>
        </p:nvSpPr>
        <p:spPr>
          <a:xfrm>
            <a:off x="4362450" y="100330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Organizations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11200" y="10490200"/>
            <a:ext cx="3492500" cy="762000"/>
          </a:xfrm>
          <a:custGeom>
            <a:avLst/>
            <a:gdLst/>
            <a:ahLst/>
            <a:cxnLst/>
            <a:rect l="l" t="t" r="r" b="b"/>
            <a:pathLst>
              <a:path w="3492500" h="762000">
                <a:moveTo>
                  <a:pt x="101597" y="0"/>
                </a:moveTo>
                <a:lnTo>
                  <a:pt x="3390903" y="0"/>
                </a:lnTo>
                <a:cubicBezTo>
                  <a:pt x="3447013" y="0"/>
                  <a:pt x="3492500" y="45487"/>
                  <a:pt x="3492500" y="101597"/>
                </a:cubicBezTo>
                <a:lnTo>
                  <a:pt x="3492500" y="660403"/>
                </a:lnTo>
                <a:cubicBezTo>
                  <a:pt x="3492500" y="716513"/>
                  <a:pt x="3447013" y="762000"/>
                  <a:pt x="33909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2374900" y="10604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1" name="Text 49"/>
          <p:cNvSpPr/>
          <p:nvPr/>
        </p:nvSpPr>
        <p:spPr>
          <a:xfrm>
            <a:off x="768350" y="108966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4305300" y="10490200"/>
            <a:ext cx="3492500" cy="762000"/>
          </a:xfrm>
          <a:custGeom>
            <a:avLst/>
            <a:gdLst/>
            <a:ahLst/>
            <a:cxnLst/>
            <a:rect l="l" t="t" r="r" b="b"/>
            <a:pathLst>
              <a:path w="3492500" h="762000">
                <a:moveTo>
                  <a:pt x="101597" y="0"/>
                </a:moveTo>
                <a:lnTo>
                  <a:pt x="3390903" y="0"/>
                </a:lnTo>
                <a:cubicBezTo>
                  <a:pt x="3447013" y="0"/>
                  <a:pt x="3492500" y="45487"/>
                  <a:pt x="3492500" y="101597"/>
                </a:cubicBezTo>
                <a:lnTo>
                  <a:pt x="3492500" y="660403"/>
                </a:lnTo>
                <a:cubicBezTo>
                  <a:pt x="3492500" y="716513"/>
                  <a:pt x="3447013" y="762000"/>
                  <a:pt x="33909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969000" y="10604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4" name="Text 52"/>
          <p:cNvSpPr/>
          <p:nvPr/>
        </p:nvSpPr>
        <p:spPr>
          <a:xfrm>
            <a:off x="4362450" y="108966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61350" y="2546350"/>
            <a:ext cx="7480300" cy="5295900"/>
          </a:xfrm>
          <a:custGeom>
            <a:avLst/>
            <a:gdLst/>
            <a:ahLst/>
            <a:cxnLst/>
            <a:rect l="l" t="t" r="r" b="b"/>
            <a:pathLst>
              <a:path w="7480300" h="5295900">
                <a:moveTo>
                  <a:pt x="152416" y="0"/>
                </a:moveTo>
                <a:lnTo>
                  <a:pt x="7327884" y="0"/>
                </a:lnTo>
                <a:cubicBezTo>
                  <a:pt x="7412005" y="0"/>
                  <a:pt x="7480300" y="68295"/>
                  <a:pt x="7480300" y="152416"/>
                </a:cubicBezTo>
                <a:lnTo>
                  <a:pt x="7480300" y="5143484"/>
                </a:lnTo>
                <a:cubicBezTo>
                  <a:pt x="7480300" y="5227661"/>
                  <a:pt x="7412061" y="5295900"/>
                  <a:pt x="7327884" y="5295900"/>
                </a:cubicBezTo>
                <a:lnTo>
                  <a:pt x="152416" y="5295900"/>
                </a:lnTo>
                <a:cubicBezTo>
                  <a:pt x="68239" y="5295900"/>
                  <a:pt x="0" y="5227661"/>
                  <a:pt x="0" y="5143484"/>
                </a:cubicBezTo>
                <a:lnTo>
                  <a:pt x="0" y="152416"/>
                </a:lnTo>
                <a:cubicBezTo>
                  <a:pt x="0" y="68295"/>
                  <a:pt x="68295" y="0"/>
                  <a:pt x="152416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100000">
                <a:srgbClr val="4A7C59">
                  <a:alpha val="5000"/>
                </a:srgbClr>
              </a:gs>
            </a:gsLst>
            <a:lin ang="270000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53450" y="285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59531" y="27781"/>
                </a:moveTo>
                <a:cubicBezTo>
                  <a:pt x="59531" y="12452"/>
                  <a:pt x="71983" y="0"/>
                  <a:pt x="87313" y="0"/>
                </a:cubicBezTo>
                <a:lnTo>
                  <a:pt x="99219" y="0"/>
                </a:lnTo>
                <a:cubicBezTo>
                  <a:pt x="108000" y="0"/>
                  <a:pt x="115094" y="7094"/>
                  <a:pt x="115094" y="15875"/>
                </a:cubicBezTo>
                <a:lnTo>
                  <a:pt x="115094" y="238125"/>
                </a:lnTo>
                <a:cubicBezTo>
                  <a:pt x="115094" y="246906"/>
                  <a:pt x="108000" y="254000"/>
                  <a:pt x="99219" y="254000"/>
                </a:cubicBezTo>
                <a:lnTo>
                  <a:pt x="83344" y="254000"/>
                </a:lnTo>
                <a:cubicBezTo>
                  <a:pt x="68560" y="254000"/>
                  <a:pt x="56108" y="243880"/>
                  <a:pt x="52586" y="230188"/>
                </a:cubicBezTo>
                <a:cubicBezTo>
                  <a:pt x="52239" y="230188"/>
                  <a:pt x="51941" y="230188"/>
                  <a:pt x="51594" y="230188"/>
                </a:cubicBezTo>
                <a:cubicBezTo>
                  <a:pt x="29666" y="230188"/>
                  <a:pt x="11906" y="212427"/>
                  <a:pt x="11906" y="190500"/>
                </a:cubicBezTo>
                <a:cubicBezTo>
                  <a:pt x="11906" y="181570"/>
                  <a:pt x="14883" y="173335"/>
                  <a:pt x="19844" y="166688"/>
                </a:cubicBezTo>
                <a:cubicBezTo>
                  <a:pt x="10220" y="159445"/>
                  <a:pt x="3969" y="147935"/>
                  <a:pt x="3969" y="134938"/>
                </a:cubicBezTo>
                <a:cubicBezTo>
                  <a:pt x="3969" y="119608"/>
                  <a:pt x="12700" y="106263"/>
                  <a:pt x="25400" y="99665"/>
                </a:cubicBezTo>
                <a:cubicBezTo>
                  <a:pt x="21878" y="93712"/>
                  <a:pt x="19844" y="86767"/>
                  <a:pt x="19844" y="79375"/>
                </a:cubicBezTo>
                <a:cubicBezTo>
                  <a:pt x="19844" y="57448"/>
                  <a:pt x="37604" y="39688"/>
                  <a:pt x="59531" y="39688"/>
                </a:cubicBezTo>
                <a:lnTo>
                  <a:pt x="59531" y="27781"/>
                </a:lnTo>
                <a:close/>
                <a:moveTo>
                  <a:pt x="194469" y="27781"/>
                </a:moveTo>
                <a:lnTo>
                  <a:pt x="194469" y="39688"/>
                </a:lnTo>
                <a:cubicBezTo>
                  <a:pt x="216396" y="39688"/>
                  <a:pt x="234156" y="57448"/>
                  <a:pt x="234156" y="79375"/>
                </a:cubicBezTo>
                <a:cubicBezTo>
                  <a:pt x="234156" y="86816"/>
                  <a:pt x="232122" y="93762"/>
                  <a:pt x="228600" y="99665"/>
                </a:cubicBezTo>
                <a:cubicBezTo>
                  <a:pt x="241350" y="106263"/>
                  <a:pt x="250031" y="119559"/>
                  <a:pt x="250031" y="134938"/>
                </a:cubicBezTo>
                <a:cubicBezTo>
                  <a:pt x="250031" y="147935"/>
                  <a:pt x="243780" y="159445"/>
                  <a:pt x="234156" y="166688"/>
                </a:cubicBezTo>
                <a:cubicBezTo>
                  <a:pt x="239117" y="173335"/>
                  <a:pt x="242094" y="181570"/>
                  <a:pt x="242094" y="190500"/>
                </a:cubicBezTo>
                <a:cubicBezTo>
                  <a:pt x="242094" y="212427"/>
                  <a:pt x="224334" y="230188"/>
                  <a:pt x="202406" y="230188"/>
                </a:cubicBezTo>
                <a:cubicBezTo>
                  <a:pt x="202059" y="230188"/>
                  <a:pt x="201761" y="230188"/>
                  <a:pt x="201414" y="230188"/>
                </a:cubicBezTo>
                <a:cubicBezTo>
                  <a:pt x="197892" y="243880"/>
                  <a:pt x="185440" y="254000"/>
                  <a:pt x="170656" y="254000"/>
                </a:cubicBezTo>
                <a:lnTo>
                  <a:pt x="154781" y="254000"/>
                </a:lnTo>
                <a:cubicBezTo>
                  <a:pt x="146000" y="254000"/>
                  <a:pt x="138906" y="246906"/>
                  <a:pt x="138906" y="238125"/>
                </a:cubicBezTo>
                <a:lnTo>
                  <a:pt x="138906" y="15875"/>
                </a:lnTo>
                <a:cubicBezTo>
                  <a:pt x="138906" y="7094"/>
                  <a:pt x="146000" y="0"/>
                  <a:pt x="154781" y="0"/>
                </a:cubicBezTo>
                <a:lnTo>
                  <a:pt x="166688" y="0"/>
                </a:lnTo>
                <a:cubicBezTo>
                  <a:pt x="182017" y="0"/>
                  <a:pt x="194469" y="12452"/>
                  <a:pt x="194469" y="27781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7" name="Text 55"/>
          <p:cNvSpPr/>
          <p:nvPr/>
        </p:nvSpPr>
        <p:spPr>
          <a:xfrm>
            <a:off x="8839200" y="2806700"/>
            <a:ext cx="676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Knowledge Graphs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521700" y="336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661400" y="35179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66489" y="38100"/>
                </a:moveTo>
                <a:cubicBezTo>
                  <a:pt x="159901" y="38100"/>
                  <a:pt x="153511" y="39886"/>
                  <a:pt x="147915" y="43140"/>
                </a:cubicBezTo>
                <a:cubicBezTo>
                  <a:pt x="141645" y="36790"/>
                  <a:pt x="134342" y="31472"/>
                  <a:pt x="126286" y="27464"/>
                </a:cubicBezTo>
                <a:cubicBezTo>
                  <a:pt x="137478" y="17939"/>
                  <a:pt x="151725" y="12700"/>
                  <a:pt x="166489" y="12700"/>
                </a:cubicBezTo>
                <a:cubicBezTo>
                  <a:pt x="200779" y="12700"/>
                  <a:pt x="228600" y="40481"/>
                  <a:pt x="228600" y="74811"/>
                </a:cubicBezTo>
                <a:cubicBezTo>
                  <a:pt x="228600" y="91281"/>
                  <a:pt x="222052" y="107077"/>
                  <a:pt x="210423" y="118705"/>
                </a:cubicBezTo>
                <a:lnTo>
                  <a:pt x="182205" y="146923"/>
                </a:lnTo>
                <a:cubicBezTo>
                  <a:pt x="170577" y="158552"/>
                  <a:pt x="154781" y="165100"/>
                  <a:pt x="138311" y="165100"/>
                </a:cubicBezTo>
                <a:cubicBezTo>
                  <a:pt x="104021" y="165100"/>
                  <a:pt x="76200" y="137319"/>
                  <a:pt x="76200" y="102989"/>
                </a:cubicBezTo>
                <a:cubicBezTo>
                  <a:pt x="76200" y="102394"/>
                  <a:pt x="76200" y="101798"/>
                  <a:pt x="76240" y="101203"/>
                </a:cubicBezTo>
                <a:cubicBezTo>
                  <a:pt x="76438" y="94178"/>
                  <a:pt x="82272" y="88662"/>
                  <a:pt x="89297" y="88860"/>
                </a:cubicBezTo>
                <a:cubicBezTo>
                  <a:pt x="96322" y="89059"/>
                  <a:pt x="101838" y="94893"/>
                  <a:pt x="101640" y="101918"/>
                </a:cubicBezTo>
                <a:cubicBezTo>
                  <a:pt x="101640" y="102275"/>
                  <a:pt x="101640" y="102632"/>
                  <a:pt x="101640" y="102949"/>
                </a:cubicBezTo>
                <a:cubicBezTo>
                  <a:pt x="101640" y="123230"/>
                  <a:pt x="118070" y="139660"/>
                  <a:pt x="138351" y="139660"/>
                </a:cubicBezTo>
                <a:cubicBezTo>
                  <a:pt x="148074" y="139660"/>
                  <a:pt x="157401" y="135811"/>
                  <a:pt x="164306" y="128905"/>
                </a:cubicBezTo>
                <a:lnTo>
                  <a:pt x="192524" y="100687"/>
                </a:lnTo>
                <a:cubicBezTo>
                  <a:pt x="199390" y="93821"/>
                  <a:pt x="203279" y="84455"/>
                  <a:pt x="203279" y="74732"/>
                </a:cubicBezTo>
                <a:cubicBezTo>
                  <a:pt x="203279" y="54451"/>
                  <a:pt x="186849" y="38021"/>
                  <a:pt x="166568" y="38021"/>
                </a:cubicBezTo>
                <a:close/>
                <a:moveTo>
                  <a:pt x="109220" y="68778"/>
                </a:moveTo>
                <a:cubicBezTo>
                  <a:pt x="108466" y="68461"/>
                  <a:pt x="107712" y="68024"/>
                  <a:pt x="107037" y="67548"/>
                </a:cubicBezTo>
                <a:cubicBezTo>
                  <a:pt x="102037" y="64968"/>
                  <a:pt x="96322" y="63500"/>
                  <a:pt x="90329" y="63500"/>
                </a:cubicBezTo>
                <a:cubicBezTo>
                  <a:pt x="80605" y="63500"/>
                  <a:pt x="71279" y="67350"/>
                  <a:pt x="64373" y="74255"/>
                </a:cubicBezTo>
                <a:lnTo>
                  <a:pt x="36155" y="102473"/>
                </a:lnTo>
                <a:cubicBezTo>
                  <a:pt x="29289" y="109339"/>
                  <a:pt x="25400" y="118705"/>
                  <a:pt x="25400" y="128429"/>
                </a:cubicBezTo>
                <a:cubicBezTo>
                  <a:pt x="25400" y="148709"/>
                  <a:pt x="41831" y="165140"/>
                  <a:pt x="62111" y="165140"/>
                </a:cubicBezTo>
                <a:cubicBezTo>
                  <a:pt x="68659" y="165140"/>
                  <a:pt x="75049" y="163393"/>
                  <a:pt x="80645" y="160139"/>
                </a:cubicBezTo>
                <a:cubicBezTo>
                  <a:pt x="86916" y="166489"/>
                  <a:pt x="94218" y="171807"/>
                  <a:pt x="102314" y="175816"/>
                </a:cubicBezTo>
                <a:cubicBezTo>
                  <a:pt x="91123" y="185301"/>
                  <a:pt x="76914" y="190579"/>
                  <a:pt x="62111" y="190579"/>
                </a:cubicBezTo>
                <a:cubicBezTo>
                  <a:pt x="27821" y="190579"/>
                  <a:pt x="0" y="162798"/>
                  <a:pt x="0" y="128468"/>
                </a:cubicBezTo>
                <a:cubicBezTo>
                  <a:pt x="0" y="111998"/>
                  <a:pt x="6548" y="96202"/>
                  <a:pt x="18177" y="84574"/>
                </a:cubicBezTo>
                <a:lnTo>
                  <a:pt x="46395" y="56356"/>
                </a:lnTo>
                <a:cubicBezTo>
                  <a:pt x="58023" y="44728"/>
                  <a:pt x="73819" y="38179"/>
                  <a:pt x="90289" y="38179"/>
                </a:cubicBezTo>
                <a:cubicBezTo>
                  <a:pt x="124658" y="38179"/>
                  <a:pt x="152400" y="66199"/>
                  <a:pt x="152400" y="100449"/>
                </a:cubicBezTo>
                <a:cubicBezTo>
                  <a:pt x="152400" y="100965"/>
                  <a:pt x="152400" y="101481"/>
                  <a:pt x="152400" y="101997"/>
                </a:cubicBezTo>
                <a:cubicBezTo>
                  <a:pt x="152241" y="109022"/>
                  <a:pt x="146407" y="114538"/>
                  <a:pt x="139383" y="114379"/>
                </a:cubicBezTo>
                <a:cubicBezTo>
                  <a:pt x="132358" y="114221"/>
                  <a:pt x="126841" y="108387"/>
                  <a:pt x="127000" y="101362"/>
                </a:cubicBezTo>
                <a:cubicBezTo>
                  <a:pt x="127000" y="101044"/>
                  <a:pt x="127000" y="100767"/>
                  <a:pt x="127000" y="100449"/>
                </a:cubicBezTo>
                <a:cubicBezTo>
                  <a:pt x="127000" y="87074"/>
                  <a:pt x="119856" y="75327"/>
                  <a:pt x="109220" y="6885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0" name="Text 58"/>
          <p:cNvSpPr/>
          <p:nvPr/>
        </p:nvSpPr>
        <p:spPr>
          <a:xfrm>
            <a:off x="9182100" y="33655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Uncover Hidden Connections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82100" y="3771900"/>
            <a:ext cx="640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 relationships between concepts that aren't explicitly linked in text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521700" y="45339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674100" y="4686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65100" y="82550"/>
                </a:moveTo>
                <a:cubicBezTo>
                  <a:pt x="165100" y="100767"/>
                  <a:pt x="159187" y="117594"/>
                  <a:pt x="149225" y="131247"/>
                </a:cubicBezTo>
                <a:lnTo>
                  <a:pt x="199469" y="181531"/>
                </a:lnTo>
                <a:cubicBezTo>
                  <a:pt x="204430" y="186492"/>
                  <a:pt x="204430" y="194548"/>
                  <a:pt x="199469" y="199509"/>
                </a:cubicBezTo>
                <a:cubicBezTo>
                  <a:pt x="194508" y="204470"/>
                  <a:pt x="186452" y="204470"/>
                  <a:pt x="181491" y="199509"/>
                </a:cubicBezTo>
                <a:lnTo>
                  <a:pt x="131247" y="149225"/>
                </a:lnTo>
                <a:cubicBezTo>
                  <a:pt x="117594" y="159187"/>
                  <a:pt x="100767" y="165100"/>
                  <a:pt x="82550" y="165100"/>
                </a:cubicBezTo>
                <a:cubicBezTo>
                  <a:pt x="36949" y="165100"/>
                  <a:pt x="0" y="128151"/>
                  <a:pt x="0" y="82550"/>
                </a:cubicBezTo>
                <a:cubicBezTo>
                  <a:pt x="0" y="36949"/>
                  <a:pt x="36949" y="0"/>
                  <a:pt x="82550" y="0"/>
                </a:cubicBezTo>
                <a:cubicBezTo>
                  <a:pt x="128151" y="0"/>
                  <a:pt x="165100" y="36949"/>
                  <a:pt x="165100" y="82550"/>
                </a:cubicBezTo>
                <a:close/>
                <a:moveTo>
                  <a:pt x="82550" y="139700"/>
                </a:moveTo>
                <a:cubicBezTo>
                  <a:pt x="114092" y="139700"/>
                  <a:pt x="139700" y="114092"/>
                  <a:pt x="139700" y="82550"/>
                </a:cubicBezTo>
                <a:cubicBezTo>
                  <a:pt x="139700" y="51008"/>
                  <a:pt x="114092" y="25400"/>
                  <a:pt x="82550" y="25400"/>
                </a:cubicBezTo>
                <a:cubicBezTo>
                  <a:pt x="51008" y="25400"/>
                  <a:pt x="25400" y="51008"/>
                  <a:pt x="25400" y="82550"/>
                </a:cubicBezTo>
                <a:cubicBezTo>
                  <a:pt x="25400" y="114092"/>
                  <a:pt x="51008" y="139700"/>
                  <a:pt x="82550" y="1397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4" name="Text 62"/>
          <p:cNvSpPr/>
          <p:nvPr/>
        </p:nvSpPr>
        <p:spPr>
          <a:xfrm>
            <a:off x="9182100" y="45339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Complex Queries with SPARQL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182100" y="4940300"/>
            <a:ext cx="640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multi-hop relationships: "Find all projects using AI techniques that Alice works on"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21700" y="57023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699500" y="58547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116245" y="152400"/>
                </a:moveTo>
                <a:cubicBezTo>
                  <a:pt x="119142" y="143550"/>
                  <a:pt x="124936" y="135533"/>
                  <a:pt x="131485" y="128627"/>
                </a:cubicBezTo>
                <a:cubicBezTo>
                  <a:pt x="144462" y="114975"/>
                  <a:pt x="152400" y="96520"/>
                  <a:pt x="152400" y="76200"/>
                </a:cubicBezTo>
                <a:cubicBezTo>
                  <a:pt x="152400" y="34131"/>
                  <a:pt x="118269" y="0"/>
                  <a:pt x="76200" y="0"/>
                </a:cubicBezTo>
                <a:cubicBezTo>
                  <a:pt x="34131" y="0"/>
                  <a:pt x="0" y="34131"/>
                  <a:pt x="0" y="76200"/>
                </a:cubicBezTo>
                <a:cubicBezTo>
                  <a:pt x="0" y="96520"/>
                  <a:pt x="7938" y="114975"/>
                  <a:pt x="20915" y="128627"/>
                </a:cubicBezTo>
                <a:cubicBezTo>
                  <a:pt x="27464" y="135533"/>
                  <a:pt x="33298" y="143550"/>
                  <a:pt x="36155" y="152400"/>
                </a:cubicBezTo>
                <a:lnTo>
                  <a:pt x="116205" y="152400"/>
                </a:lnTo>
                <a:close/>
                <a:moveTo>
                  <a:pt x="114300" y="171450"/>
                </a:moveTo>
                <a:lnTo>
                  <a:pt x="38100" y="171450"/>
                </a:lnTo>
                <a:lnTo>
                  <a:pt x="38100" y="177800"/>
                </a:lnTo>
                <a:cubicBezTo>
                  <a:pt x="38100" y="195342"/>
                  <a:pt x="52308" y="209550"/>
                  <a:pt x="69850" y="209550"/>
                </a:cubicBezTo>
                <a:lnTo>
                  <a:pt x="82550" y="209550"/>
                </a:lnTo>
                <a:cubicBezTo>
                  <a:pt x="100092" y="209550"/>
                  <a:pt x="114300" y="195342"/>
                  <a:pt x="114300" y="177800"/>
                </a:cubicBezTo>
                <a:lnTo>
                  <a:pt x="114300" y="171450"/>
                </a:lnTo>
                <a:close/>
                <a:moveTo>
                  <a:pt x="73025" y="44450"/>
                </a:moveTo>
                <a:cubicBezTo>
                  <a:pt x="57229" y="44450"/>
                  <a:pt x="44450" y="57229"/>
                  <a:pt x="44450" y="73025"/>
                </a:cubicBezTo>
                <a:cubicBezTo>
                  <a:pt x="44450" y="78303"/>
                  <a:pt x="40203" y="82550"/>
                  <a:pt x="34925" y="82550"/>
                </a:cubicBezTo>
                <a:cubicBezTo>
                  <a:pt x="29647" y="82550"/>
                  <a:pt x="25400" y="78303"/>
                  <a:pt x="25400" y="73025"/>
                </a:cubicBezTo>
                <a:cubicBezTo>
                  <a:pt x="25400" y="46712"/>
                  <a:pt x="46712" y="25400"/>
                  <a:pt x="73025" y="25400"/>
                </a:cubicBezTo>
                <a:cubicBezTo>
                  <a:pt x="78303" y="25400"/>
                  <a:pt x="82550" y="29647"/>
                  <a:pt x="82550" y="34925"/>
                </a:cubicBezTo>
                <a:cubicBezTo>
                  <a:pt x="82550" y="40203"/>
                  <a:pt x="78303" y="44450"/>
                  <a:pt x="73025" y="444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8" name="Text 66"/>
          <p:cNvSpPr/>
          <p:nvPr/>
        </p:nvSpPr>
        <p:spPr>
          <a:xfrm>
            <a:off x="9182100" y="5702300"/>
            <a:ext cx="6413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Reasoning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82100" y="6108700"/>
            <a:ext cx="6400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Infer new knowledge from existing relationships through logical deduction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521700" y="68707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8661400" y="7023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98425" y="34925"/>
                </a:moveTo>
                <a:lnTo>
                  <a:pt x="130175" y="34925"/>
                </a:lnTo>
                <a:lnTo>
                  <a:pt x="130175" y="53975"/>
                </a:lnTo>
                <a:lnTo>
                  <a:pt x="98425" y="53975"/>
                </a:lnTo>
                <a:lnTo>
                  <a:pt x="98425" y="34925"/>
                </a:lnTo>
                <a:close/>
                <a:moveTo>
                  <a:pt x="95250" y="12700"/>
                </a:moveTo>
                <a:cubicBezTo>
                  <a:pt x="84733" y="12700"/>
                  <a:pt x="76200" y="21233"/>
                  <a:pt x="76200" y="31750"/>
                </a:cubicBezTo>
                <a:lnTo>
                  <a:pt x="76200" y="57150"/>
                </a:lnTo>
                <a:cubicBezTo>
                  <a:pt x="76200" y="67667"/>
                  <a:pt x="84733" y="76200"/>
                  <a:pt x="95250" y="76200"/>
                </a:cubicBezTo>
                <a:lnTo>
                  <a:pt x="101600" y="76200"/>
                </a:lnTo>
                <a:lnTo>
                  <a:pt x="101600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50800" y="114300"/>
                </a:lnTo>
                <a:lnTo>
                  <a:pt x="50800" y="127000"/>
                </a:lnTo>
                <a:lnTo>
                  <a:pt x="44450" y="127000"/>
                </a:lnTo>
                <a:cubicBezTo>
                  <a:pt x="33933" y="127000"/>
                  <a:pt x="25400" y="135533"/>
                  <a:pt x="25400" y="146050"/>
                </a:cubicBezTo>
                <a:lnTo>
                  <a:pt x="25400" y="171450"/>
                </a:lnTo>
                <a:cubicBezTo>
                  <a:pt x="25400" y="181967"/>
                  <a:pt x="33933" y="190500"/>
                  <a:pt x="44450" y="190500"/>
                </a:cubicBezTo>
                <a:lnTo>
                  <a:pt x="82550" y="190500"/>
                </a:lnTo>
                <a:cubicBezTo>
                  <a:pt x="93067" y="190500"/>
                  <a:pt x="101600" y="181967"/>
                  <a:pt x="101600" y="171450"/>
                </a:cubicBezTo>
                <a:lnTo>
                  <a:pt x="101600" y="146050"/>
                </a:lnTo>
                <a:cubicBezTo>
                  <a:pt x="101600" y="135533"/>
                  <a:pt x="93067" y="127000"/>
                  <a:pt x="82550" y="127000"/>
                </a:cubicBezTo>
                <a:lnTo>
                  <a:pt x="76200" y="127000"/>
                </a:lnTo>
                <a:lnTo>
                  <a:pt x="76200" y="114300"/>
                </a:lnTo>
                <a:lnTo>
                  <a:pt x="152400" y="114300"/>
                </a:lnTo>
                <a:lnTo>
                  <a:pt x="152400" y="127000"/>
                </a:lnTo>
                <a:lnTo>
                  <a:pt x="146050" y="127000"/>
                </a:lnTo>
                <a:cubicBezTo>
                  <a:pt x="135533" y="127000"/>
                  <a:pt x="127000" y="135533"/>
                  <a:pt x="127000" y="146050"/>
                </a:cubicBezTo>
                <a:lnTo>
                  <a:pt x="127000" y="171450"/>
                </a:lnTo>
                <a:cubicBezTo>
                  <a:pt x="127000" y="181967"/>
                  <a:pt x="135533" y="190500"/>
                  <a:pt x="146050" y="190500"/>
                </a:cubicBezTo>
                <a:lnTo>
                  <a:pt x="184150" y="190500"/>
                </a:lnTo>
                <a:cubicBezTo>
                  <a:pt x="194667" y="190500"/>
                  <a:pt x="203200" y="181967"/>
                  <a:pt x="203200" y="171450"/>
                </a:cubicBezTo>
                <a:lnTo>
                  <a:pt x="203200" y="146050"/>
                </a:lnTo>
                <a:cubicBezTo>
                  <a:pt x="203200" y="135533"/>
                  <a:pt x="194667" y="127000"/>
                  <a:pt x="184150" y="127000"/>
                </a:cubicBezTo>
                <a:lnTo>
                  <a:pt x="177800" y="127000"/>
                </a:lnTo>
                <a:lnTo>
                  <a:pt x="177800" y="114300"/>
                </a:lnTo>
                <a:lnTo>
                  <a:pt x="215900" y="114300"/>
                </a:lnTo>
                <a:cubicBezTo>
                  <a:pt x="222925" y="114300"/>
                  <a:pt x="228600" y="108625"/>
                  <a:pt x="228600" y="101600"/>
                </a:cubicBezTo>
                <a:cubicBezTo>
                  <a:pt x="228600" y="94575"/>
                  <a:pt x="222925" y="88900"/>
                  <a:pt x="215900" y="88900"/>
                </a:cubicBezTo>
                <a:lnTo>
                  <a:pt x="127000" y="88900"/>
                </a:lnTo>
                <a:lnTo>
                  <a:pt x="127000" y="76200"/>
                </a:lnTo>
                <a:lnTo>
                  <a:pt x="133350" y="76200"/>
                </a:lnTo>
                <a:cubicBezTo>
                  <a:pt x="143867" y="76200"/>
                  <a:pt x="152400" y="67667"/>
                  <a:pt x="152400" y="57150"/>
                </a:cubicBezTo>
                <a:lnTo>
                  <a:pt x="152400" y="31750"/>
                </a:lnTo>
                <a:cubicBezTo>
                  <a:pt x="152400" y="21233"/>
                  <a:pt x="143867" y="12700"/>
                  <a:pt x="133350" y="12700"/>
                </a:cubicBezTo>
                <a:lnTo>
                  <a:pt x="95250" y="12700"/>
                </a:lnTo>
                <a:close/>
                <a:moveTo>
                  <a:pt x="177800" y="149225"/>
                </a:moveTo>
                <a:lnTo>
                  <a:pt x="180975" y="149225"/>
                </a:lnTo>
                <a:lnTo>
                  <a:pt x="180975" y="168275"/>
                </a:lnTo>
                <a:lnTo>
                  <a:pt x="149225" y="168275"/>
                </a:lnTo>
                <a:lnTo>
                  <a:pt x="149225" y="149225"/>
                </a:lnTo>
                <a:lnTo>
                  <a:pt x="177800" y="149225"/>
                </a:lnTo>
                <a:close/>
                <a:moveTo>
                  <a:pt x="76200" y="149225"/>
                </a:moveTo>
                <a:lnTo>
                  <a:pt x="79375" y="149225"/>
                </a:lnTo>
                <a:lnTo>
                  <a:pt x="79375" y="168275"/>
                </a:lnTo>
                <a:lnTo>
                  <a:pt x="47625" y="168275"/>
                </a:lnTo>
                <a:lnTo>
                  <a:pt x="47625" y="149225"/>
                </a:lnTo>
                <a:lnTo>
                  <a:pt x="76200" y="149225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2" name="Text 70"/>
          <p:cNvSpPr/>
          <p:nvPr/>
        </p:nvSpPr>
        <p:spPr>
          <a:xfrm>
            <a:off x="9182100" y="6870700"/>
            <a:ext cx="6210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Navigable Knowledge Web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182100" y="7277100"/>
            <a:ext cx="619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your knowledge base as an interconnected semantic network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261350" y="8058150"/>
            <a:ext cx="7480300" cy="3543300"/>
          </a:xfrm>
          <a:custGeom>
            <a:avLst/>
            <a:gdLst/>
            <a:ahLst/>
            <a:cxnLst/>
            <a:rect l="l" t="t" r="r" b="b"/>
            <a:pathLst>
              <a:path w="7480300" h="3543300">
                <a:moveTo>
                  <a:pt x="152397" y="0"/>
                </a:moveTo>
                <a:lnTo>
                  <a:pt x="7327903" y="0"/>
                </a:lnTo>
                <a:cubicBezTo>
                  <a:pt x="7412069" y="0"/>
                  <a:pt x="7480300" y="68231"/>
                  <a:pt x="7480300" y="152397"/>
                </a:cubicBezTo>
                <a:lnTo>
                  <a:pt x="7480300" y="3390903"/>
                </a:lnTo>
                <a:cubicBezTo>
                  <a:pt x="7480300" y="3475069"/>
                  <a:pt x="7412069" y="3543300"/>
                  <a:pt x="7327903" y="3543300"/>
                </a:cubicBezTo>
                <a:lnTo>
                  <a:pt x="152397" y="3543300"/>
                </a:lnTo>
                <a:cubicBezTo>
                  <a:pt x="68231" y="3543300"/>
                  <a:pt x="0" y="3475069"/>
                  <a:pt x="0" y="339090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20000"/>
                </a:srgbClr>
              </a:gs>
              <a:gs pos="100000">
                <a:srgbClr val="D4A373">
                  <a:alpha val="5000"/>
                </a:srgbClr>
              </a:gs>
            </a:gsLst>
            <a:lin ang="2700000" scaled="1"/>
          </a:gra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474075" y="8331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6" name="Text 74"/>
          <p:cNvSpPr/>
          <p:nvPr/>
        </p:nvSpPr>
        <p:spPr>
          <a:xfrm>
            <a:off x="8763000" y="8267700"/>
            <a:ext cx="688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Retrieval vs Knowledge Graphs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470900" y="8775700"/>
            <a:ext cx="7061200" cy="965200"/>
          </a:xfrm>
          <a:custGeom>
            <a:avLst/>
            <a:gdLst/>
            <a:ahLst/>
            <a:cxnLst/>
            <a:rect l="l" t="t" r="r" b="b"/>
            <a:pathLst>
              <a:path w="7061200" h="965200">
                <a:moveTo>
                  <a:pt x="101597" y="0"/>
                </a:moveTo>
                <a:lnTo>
                  <a:pt x="6959603" y="0"/>
                </a:lnTo>
                <a:cubicBezTo>
                  <a:pt x="7015713" y="0"/>
                  <a:pt x="7061200" y="45487"/>
                  <a:pt x="7061200" y="101597"/>
                </a:cubicBezTo>
                <a:lnTo>
                  <a:pt x="7061200" y="863603"/>
                </a:lnTo>
                <a:cubicBezTo>
                  <a:pt x="7061200" y="919713"/>
                  <a:pt x="7015713" y="965200"/>
                  <a:pt x="6959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8648700" y="8978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6154" y="90686"/>
                </a:moveTo>
                <a:cubicBezTo>
                  <a:pt x="31433" y="53777"/>
                  <a:pt x="63222" y="25400"/>
                  <a:pt x="101600" y="25400"/>
                </a:cubicBezTo>
                <a:cubicBezTo>
                  <a:pt x="122634" y="25400"/>
                  <a:pt x="141684" y="33933"/>
                  <a:pt x="155496" y="47704"/>
                </a:cubicBezTo>
                <a:cubicBezTo>
                  <a:pt x="155575" y="47784"/>
                  <a:pt x="155654" y="47863"/>
                  <a:pt x="155734" y="47943"/>
                </a:cubicBezTo>
                <a:lnTo>
                  <a:pt x="158750" y="50800"/>
                </a:lnTo>
                <a:lnTo>
                  <a:pt x="139740" y="50800"/>
                </a:lnTo>
                <a:cubicBezTo>
                  <a:pt x="132715" y="50800"/>
                  <a:pt x="127040" y="56475"/>
                  <a:pt x="127040" y="63500"/>
                </a:cubicBezTo>
                <a:cubicBezTo>
                  <a:pt x="127040" y="70525"/>
                  <a:pt x="132715" y="76200"/>
                  <a:pt x="139740" y="76200"/>
                </a:cubicBezTo>
                <a:lnTo>
                  <a:pt x="190540" y="76200"/>
                </a:lnTo>
                <a:cubicBezTo>
                  <a:pt x="197564" y="76200"/>
                  <a:pt x="203240" y="70525"/>
                  <a:pt x="203240" y="63500"/>
                </a:cubicBezTo>
                <a:lnTo>
                  <a:pt x="203240" y="12700"/>
                </a:lnTo>
                <a:cubicBezTo>
                  <a:pt x="203240" y="5675"/>
                  <a:pt x="197564" y="0"/>
                  <a:pt x="190540" y="0"/>
                </a:cubicBezTo>
                <a:cubicBezTo>
                  <a:pt x="183515" y="0"/>
                  <a:pt x="177840" y="5675"/>
                  <a:pt x="177840" y="12700"/>
                </a:cubicBezTo>
                <a:lnTo>
                  <a:pt x="177840" y="33893"/>
                </a:lnTo>
                <a:lnTo>
                  <a:pt x="173355" y="29647"/>
                </a:lnTo>
                <a:cubicBezTo>
                  <a:pt x="154980" y="11351"/>
                  <a:pt x="129580" y="0"/>
                  <a:pt x="101600" y="0"/>
                </a:cubicBezTo>
                <a:cubicBezTo>
                  <a:pt x="50403" y="0"/>
                  <a:pt x="8057" y="37862"/>
                  <a:pt x="1032" y="87114"/>
                </a:cubicBezTo>
                <a:cubicBezTo>
                  <a:pt x="40" y="94059"/>
                  <a:pt x="4842" y="100489"/>
                  <a:pt x="11787" y="101481"/>
                </a:cubicBezTo>
                <a:cubicBezTo>
                  <a:pt x="18733" y="102473"/>
                  <a:pt x="25162" y="97631"/>
                  <a:pt x="26154" y="90726"/>
                </a:cubicBezTo>
                <a:close/>
                <a:moveTo>
                  <a:pt x="202168" y="116086"/>
                </a:moveTo>
                <a:cubicBezTo>
                  <a:pt x="203160" y="109141"/>
                  <a:pt x="198318" y="102711"/>
                  <a:pt x="191413" y="101719"/>
                </a:cubicBezTo>
                <a:cubicBezTo>
                  <a:pt x="184507" y="100727"/>
                  <a:pt x="178038" y="105569"/>
                  <a:pt x="177046" y="112474"/>
                </a:cubicBezTo>
                <a:cubicBezTo>
                  <a:pt x="171767" y="149384"/>
                  <a:pt x="139978" y="177760"/>
                  <a:pt x="101600" y="177760"/>
                </a:cubicBezTo>
                <a:cubicBezTo>
                  <a:pt x="80566" y="177760"/>
                  <a:pt x="61516" y="169228"/>
                  <a:pt x="47704" y="155456"/>
                </a:cubicBezTo>
                <a:cubicBezTo>
                  <a:pt x="47625" y="155377"/>
                  <a:pt x="47546" y="155297"/>
                  <a:pt x="47466" y="155218"/>
                </a:cubicBezTo>
                <a:lnTo>
                  <a:pt x="44450" y="152360"/>
                </a:lnTo>
                <a:lnTo>
                  <a:pt x="63460" y="152360"/>
                </a:lnTo>
                <a:cubicBezTo>
                  <a:pt x="70485" y="152360"/>
                  <a:pt x="76160" y="146685"/>
                  <a:pt x="76160" y="139660"/>
                </a:cubicBezTo>
                <a:cubicBezTo>
                  <a:pt x="76160" y="132636"/>
                  <a:pt x="70485" y="126960"/>
                  <a:pt x="63460" y="126960"/>
                </a:cubicBezTo>
                <a:lnTo>
                  <a:pt x="12700" y="127000"/>
                </a:lnTo>
                <a:cubicBezTo>
                  <a:pt x="9327" y="127000"/>
                  <a:pt x="6072" y="128349"/>
                  <a:pt x="3691" y="130770"/>
                </a:cubicBezTo>
                <a:cubicBezTo>
                  <a:pt x="1310" y="133191"/>
                  <a:pt x="-40" y="136406"/>
                  <a:pt x="0" y="139819"/>
                </a:cubicBezTo>
                <a:lnTo>
                  <a:pt x="397" y="190222"/>
                </a:lnTo>
                <a:cubicBezTo>
                  <a:pt x="437" y="197247"/>
                  <a:pt x="6191" y="202883"/>
                  <a:pt x="13216" y="202803"/>
                </a:cubicBezTo>
                <a:cubicBezTo>
                  <a:pt x="20241" y="202724"/>
                  <a:pt x="25876" y="197009"/>
                  <a:pt x="25797" y="189984"/>
                </a:cubicBezTo>
                <a:lnTo>
                  <a:pt x="25638" y="169545"/>
                </a:lnTo>
                <a:lnTo>
                  <a:pt x="29885" y="173553"/>
                </a:lnTo>
                <a:cubicBezTo>
                  <a:pt x="48260" y="191849"/>
                  <a:pt x="73620" y="203200"/>
                  <a:pt x="101600" y="203200"/>
                </a:cubicBezTo>
                <a:cubicBezTo>
                  <a:pt x="152797" y="203200"/>
                  <a:pt x="195143" y="165338"/>
                  <a:pt x="202168" y="11608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9" name="Text 77"/>
          <p:cNvSpPr/>
          <p:nvPr/>
        </p:nvSpPr>
        <p:spPr>
          <a:xfrm>
            <a:off x="8978900" y="89281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Vector Retrieval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8623300" y="93345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Semantic similarity, finding related content, surface-level connections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470900" y="9842500"/>
            <a:ext cx="7061200" cy="965200"/>
          </a:xfrm>
          <a:custGeom>
            <a:avLst/>
            <a:gdLst/>
            <a:ahLst/>
            <a:cxnLst/>
            <a:rect l="l" t="t" r="r" b="b"/>
            <a:pathLst>
              <a:path w="7061200" h="965200">
                <a:moveTo>
                  <a:pt x="101597" y="0"/>
                </a:moveTo>
                <a:lnTo>
                  <a:pt x="6959603" y="0"/>
                </a:lnTo>
                <a:cubicBezTo>
                  <a:pt x="7015713" y="0"/>
                  <a:pt x="7061200" y="45487"/>
                  <a:pt x="7061200" y="101597"/>
                </a:cubicBezTo>
                <a:lnTo>
                  <a:pt x="7061200" y="863603"/>
                </a:lnTo>
                <a:cubicBezTo>
                  <a:pt x="7061200" y="919713"/>
                  <a:pt x="7015713" y="965200"/>
                  <a:pt x="69596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8648700" y="10045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3" name="Text 81"/>
          <p:cNvSpPr/>
          <p:nvPr/>
        </p:nvSpPr>
        <p:spPr>
          <a:xfrm>
            <a:off x="8978900" y="9994900"/>
            <a:ext cx="187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Graphs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8623300" y="10401300"/>
            <a:ext cx="6845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for: Structured relationships, complex queries, reasoning, multi-hop connections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8477250" y="10915650"/>
            <a:ext cx="7048500" cy="469900"/>
          </a:xfrm>
          <a:custGeom>
            <a:avLst/>
            <a:gdLst/>
            <a:ahLst/>
            <a:cxnLst/>
            <a:rect l="l" t="t" r="r" b="b"/>
            <a:pathLst>
              <a:path w="7048500" h="469900">
                <a:moveTo>
                  <a:pt x="101602" y="0"/>
                </a:moveTo>
                <a:lnTo>
                  <a:pt x="6946898" y="0"/>
                </a:lnTo>
                <a:cubicBezTo>
                  <a:pt x="7003011" y="0"/>
                  <a:pt x="7048500" y="45489"/>
                  <a:pt x="7048500" y="101602"/>
                </a:cubicBezTo>
                <a:lnTo>
                  <a:pt x="7048500" y="368298"/>
                </a:lnTo>
                <a:cubicBezTo>
                  <a:pt x="7048500" y="424411"/>
                  <a:pt x="7003011" y="469900"/>
                  <a:pt x="6946898" y="469900"/>
                </a:cubicBezTo>
                <a:lnTo>
                  <a:pt x="101602" y="469900"/>
                </a:lnTo>
                <a:cubicBezTo>
                  <a:pt x="45489" y="469900"/>
                  <a:pt x="0" y="424411"/>
                  <a:pt x="0" y="3682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40750" y="11023600"/>
            <a:ext cx="692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Ideal:</a:t>
            </a:r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both approaches for maximum power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Plugin Ecosystem: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Tools for AI-Enhanced Knowledge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5" name="Shape 3"/>
          <p:cNvSpPr/>
          <p:nvPr/>
        </p:nvSpPr>
        <p:spPr>
          <a:xfrm>
            <a:off x="508000" y="2565400"/>
            <a:ext cx="4940300" cy="5537200"/>
          </a:xfrm>
          <a:custGeom>
            <a:avLst/>
            <a:gdLst/>
            <a:ahLst/>
            <a:cxnLst/>
            <a:rect l="l" t="t" r="r" b="b"/>
            <a:pathLst>
              <a:path w="4940300" h="5537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384792"/>
                </a:lnTo>
                <a:cubicBezTo>
                  <a:pt x="4940300" y="5468964"/>
                  <a:pt x="4872064" y="5537200"/>
                  <a:pt x="4787892" y="5537200"/>
                </a:cubicBezTo>
                <a:lnTo>
                  <a:pt x="152408" y="5537200"/>
                </a:lnTo>
                <a:cubicBezTo>
                  <a:pt x="68236" y="5537200"/>
                  <a:pt x="0" y="5468964"/>
                  <a:pt x="0" y="53847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08000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5"/>
          <p:cNvSpPr/>
          <p:nvPr/>
        </p:nvSpPr>
        <p:spPr>
          <a:xfrm>
            <a:off x="711200" y="2832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95350" y="30353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49734" y="57150"/>
                </a:moveTo>
                <a:cubicBezTo>
                  <a:pt x="239851" y="57150"/>
                  <a:pt x="230267" y="59829"/>
                  <a:pt x="221873" y="64710"/>
                </a:cubicBezTo>
                <a:cubicBezTo>
                  <a:pt x="212467" y="55185"/>
                  <a:pt x="201513" y="47208"/>
                  <a:pt x="189428" y="41196"/>
                </a:cubicBezTo>
                <a:cubicBezTo>
                  <a:pt x="206216" y="26908"/>
                  <a:pt x="227588" y="19050"/>
                  <a:pt x="249734" y="19050"/>
                </a:cubicBezTo>
                <a:cubicBezTo>
                  <a:pt x="301169" y="19050"/>
                  <a:pt x="342900" y="60722"/>
                  <a:pt x="342900" y="112216"/>
                </a:cubicBezTo>
                <a:cubicBezTo>
                  <a:pt x="342900" y="136922"/>
                  <a:pt x="333077" y="160615"/>
                  <a:pt x="315635" y="178058"/>
                </a:cubicBezTo>
                <a:lnTo>
                  <a:pt x="273308" y="220385"/>
                </a:lnTo>
                <a:cubicBezTo>
                  <a:pt x="255865" y="237827"/>
                  <a:pt x="232172" y="247650"/>
                  <a:pt x="207466" y="247650"/>
                </a:cubicBezTo>
                <a:cubicBezTo>
                  <a:pt x="156031" y="247650"/>
                  <a:pt x="114300" y="205978"/>
                  <a:pt x="114300" y="154484"/>
                </a:cubicBezTo>
                <a:cubicBezTo>
                  <a:pt x="114300" y="153591"/>
                  <a:pt x="114300" y="152698"/>
                  <a:pt x="114360" y="151805"/>
                </a:cubicBezTo>
                <a:cubicBezTo>
                  <a:pt x="114657" y="141268"/>
                  <a:pt x="123408" y="132993"/>
                  <a:pt x="133945" y="133290"/>
                </a:cubicBezTo>
                <a:cubicBezTo>
                  <a:pt x="144482" y="133588"/>
                  <a:pt x="152757" y="142339"/>
                  <a:pt x="152460" y="152876"/>
                </a:cubicBezTo>
                <a:cubicBezTo>
                  <a:pt x="152460" y="153412"/>
                  <a:pt x="152460" y="153948"/>
                  <a:pt x="152460" y="154424"/>
                </a:cubicBezTo>
                <a:cubicBezTo>
                  <a:pt x="152460" y="184845"/>
                  <a:pt x="177105" y="209490"/>
                  <a:pt x="207526" y="209490"/>
                </a:cubicBezTo>
                <a:cubicBezTo>
                  <a:pt x="222111" y="209490"/>
                  <a:pt x="236101" y="203716"/>
                  <a:pt x="246459" y="193358"/>
                </a:cubicBezTo>
                <a:lnTo>
                  <a:pt x="288786" y="151031"/>
                </a:lnTo>
                <a:cubicBezTo>
                  <a:pt x="299085" y="140732"/>
                  <a:pt x="304919" y="126683"/>
                  <a:pt x="304919" y="112097"/>
                </a:cubicBezTo>
                <a:cubicBezTo>
                  <a:pt x="304919" y="81677"/>
                  <a:pt x="280273" y="57031"/>
                  <a:pt x="249853" y="57031"/>
                </a:cubicBezTo>
                <a:close/>
                <a:moveTo>
                  <a:pt x="163830" y="103168"/>
                </a:moveTo>
                <a:cubicBezTo>
                  <a:pt x="162699" y="102691"/>
                  <a:pt x="161568" y="102037"/>
                  <a:pt x="160556" y="101322"/>
                </a:cubicBezTo>
                <a:cubicBezTo>
                  <a:pt x="153055" y="97453"/>
                  <a:pt x="144482" y="95250"/>
                  <a:pt x="135493" y="95250"/>
                </a:cubicBezTo>
                <a:cubicBezTo>
                  <a:pt x="120908" y="95250"/>
                  <a:pt x="106918" y="101025"/>
                  <a:pt x="96560" y="111383"/>
                </a:cubicBezTo>
                <a:lnTo>
                  <a:pt x="54233" y="153710"/>
                </a:lnTo>
                <a:cubicBezTo>
                  <a:pt x="43934" y="164009"/>
                  <a:pt x="38100" y="178058"/>
                  <a:pt x="38100" y="192643"/>
                </a:cubicBezTo>
                <a:cubicBezTo>
                  <a:pt x="38100" y="223064"/>
                  <a:pt x="62746" y="247710"/>
                  <a:pt x="93166" y="247710"/>
                </a:cubicBezTo>
                <a:cubicBezTo>
                  <a:pt x="102989" y="247710"/>
                  <a:pt x="112574" y="245090"/>
                  <a:pt x="120967" y="240209"/>
                </a:cubicBezTo>
                <a:cubicBezTo>
                  <a:pt x="130373" y="249734"/>
                  <a:pt x="141327" y="257711"/>
                  <a:pt x="153472" y="263723"/>
                </a:cubicBezTo>
                <a:cubicBezTo>
                  <a:pt x="136684" y="277951"/>
                  <a:pt x="115372" y="285869"/>
                  <a:pt x="93166" y="285869"/>
                </a:cubicBezTo>
                <a:cubicBezTo>
                  <a:pt x="41731" y="285869"/>
                  <a:pt x="0" y="244197"/>
                  <a:pt x="0" y="192703"/>
                </a:cubicBezTo>
                <a:cubicBezTo>
                  <a:pt x="0" y="167997"/>
                  <a:pt x="9823" y="144304"/>
                  <a:pt x="27265" y="126861"/>
                </a:cubicBezTo>
                <a:lnTo>
                  <a:pt x="69592" y="84534"/>
                </a:lnTo>
                <a:cubicBezTo>
                  <a:pt x="87035" y="67092"/>
                  <a:pt x="110728" y="57269"/>
                  <a:pt x="135434" y="57269"/>
                </a:cubicBezTo>
                <a:cubicBezTo>
                  <a:pt x="186988" y="57269"/>
                  <a:pt x="228600" y="99298"/>
                  <a:pt x="228600" y="150674"/>
                </a:cubicBezTo>
                <a:cubicBezTo>
                  <a:pt x="228600" y="151448"/>
                  <a:pt x="228600" y="152221"/>
                  <a:pt x="228600" y="152995"/>
                </a:cubicBezTo>
                <a:cubicBezTo>
                  <a:pt x="228362" y="163532"/>
                  <a:pt x="219611" y="171807"/>
                  <a:pt x="209074" y="171569"/>
                </a:cubicBezTo>
                <a:cubicBezTo>
                  <a:pt x="198537" y="171331"/>
                  <a:pt x="190262" y="162580"/>
                  <a:pt x="190500" y="152043"/>
                </a:cubicBezTo>
                <a:cubicBezTo>
                  <a:pt x="190500" y="151567"/>
                  <a:pt x="190500" y="151150"/>
                  <a:pt x="190500" y="150674"/>
                </a:cubicBezTo>
                <a:cubicBezTo>
                  <a:pt x="190500" y="130612"/>
                  <a:pt x="179784" y="112990"/>
                  <a:pt x="163830" y="103287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Text 7"/>
          <p:cNvSpPr/>
          <p:nvPr/>
        </p:nvSpPr>
        <p:spPr>
          <a:xfrm>
            <a:off x="1574800" y="2794000"/>
            <a:ext cx="19431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3733800"/>
            <a:ext cx="4533900" cy="1828800"/>
          </a:xfrm>
          <a:custGeom>
            <a:avLst/>
            <a:gdLst/>
            <a:ahLst/>
            <a:cxnLst/>
            <a:rect l="l" t="t" r="r" b="b"/>
            <a:pathLst>
              <a:path w="4533900" h="1828800">
                <a:moveTo>
                  <a:pt x="101608" y="0"/>
                </a:moveTo>
                <a:lnTo>
                  <a:pt x="4432292" y="0"/>
                </a:lnTo>
                <a:cubicBezTo>
                  <a:pt x="4488408" y="0"/>
                  <a:pt x="4533900" y="45492"/>
                  <a:pt x="4533900" y="101608"/>
                </a:cubicBezTo>
                <a:lnTo>
                  <a:pt x="4533900" y="1727192"/>
                </a:lnTo>
                <a:cubicBezTo>
                  <a:pt x="4533900" y="1783308"/>
                  <a:pt x="4488408" y="1828800"/>
                  <a:pt x="44322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3600" y="38862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92175" y="4292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3" name="Text 11"/>
          <p:cNvSpPr/>
          <p:nvPr/>
        </p:nvSpPr>
        <p:spPr>
          <a:xfrm>
            <a:off x="1155700" y="4241800"/>
            <a:ext cx="265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search for related notes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2175" y="459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1155700" y="4546600"/>
            <a:ext cx="212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embeddings (offline)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2175" y="490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7" name="Text 15"/>
          <p:cNvSpPr/>
          <p:nvPr/>
        </p:nvSpPr>
        <p:spPr>
          <a:xfrm>
            <a:off x="1155700" y="4851400"/>
            <a:ext cx="205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chat with vault context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92175" y="520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9" name="Text 17"/>
          <p:cNvSpPr/>
          <p:nvPr/>
        </p:nvSpPr>
        <p:spPr>
          <a:xfrm>
            <a:off x="1155700" y="5156200"/>
            <a:ext cx="180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 similarity scoring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1200" y="5664200"/>
            <a:ext cx="4533900" cy="1219200"/>
          </a:xfrm>
          <a:custGeom>
            <a:avLst/>
            <a:gdLst/>
            <a:ahLst/>
            <a:cxnLst/>
            <a:rect l="l" t="t" r="r" b="b"/>
            <a:pathLst>
              <a:path w="4533900" h="1219200">
                <a:moveTo>
                  <a:pt x="101596" y="0"/>
                </a:moveTo>
                <a:lnTo>
                  <a:pt x="4432304" y="0"/>
                </a:lnTo>
                <a:cubicBezTo>
                  <a:pt x="4488414" y="0"/>
                  <a:pt x="4533900" y="45486"/>
                  <a:pt x="4533900" y="101596"/>
                </a:cubicBezTo>
                <a:lnTo>
                  <a:pt x="4533900" y="1117604"/>
                </a:lnTo>
                <a:cubicBezTo>
                  <a:pt x="4533900" y="1173714"/>
                  <a:pt x="4488414" y="1219200"/>
                  <a:pt x="4432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63600" y="5816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 &amp; Cons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2650" y="622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23" name="Text 21"/>
          <p:cNvSpPr/>
          <p:nvPr/>
        </p:nvSpPr>
        <p:spPr>
          <a:xfrm>
            <a:off x="1155700" y="61722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Free, fast, private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2650" y="652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5" name="Text 23"/>
          <p:cNvSpPr/>
          <p:nvPr/>
        </p:nvSpPr>
        <p:spPr>
          <a:xfrm>
            <a:off x="1155700" y="6477000"/>
            <a:ext cx="1879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editing 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1200" y="6985000"/>
            <a:ext cx="4533900" cy="914400"/>
          </a:xfrm>
          <a:custGeom>
            <a:avLst/>
            <a:gdLst/>
            <a:ahLst/>
            <a:cxnLst/>
            <a:rect l="l" t="t" r="r" b="b"/>
            <a:pathLst>
              <a:path w="4533900" h="914400">
                <a:moveTo>
                  <a:pt x="101599" y="0"/>
                </a:moveTo>
                <a:lnTo>
                  <a:pt x="4432301" y="0"/>
                </a:lnTo>
                <a:cubicBezTo>
                  <a:pt x="4488413" y="0"/>
                  <a:pt x="4533900" y="45487"/>
                  <a:pt x="4533900" y="101599"/>
                </a:cubicBezTo>
                <a:lnTo>
                  <a:pt x="4533900" y="812801"/>
                </a:lnTo>
                <a:cubicBezTo>
                  <a:pt x="4533900" y="868913"/>
                  <a:pt x="4488413" y="914400"/>
                  <a:pt x="4432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100000">
                <a:srgbClr val="4A7C59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7" name="Text 25"/>
          <p:cNvSpPr/>
          <p:nvPr/>
        </p:nvSpPr>
        <p:spPr>
          <a:xfrm>
            <a:off x="863600" y="71374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" y="7442200"/>
            <a:ext cx="433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 discovery &amp; semantic search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55667" y="2565400"/>
            <a:ext cx="4940300" cy="5537200"/>
          </a:xfrm>
          <a:custGeom>
            <a:avLst/>
            <a:gdLst/>
            <a:ahLst/>
            <a:cxnLst/>
            <a:rect l="l" t="t" r="r" b="b"/>
            <a:pathLst>
              <a:path w="4940300" h="5537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384792"/>
                </a:lnTo>
                <a:cubicBezTo>
                  <a:pt x="4940300" y="5468964"/>
                  <a:pt x="4872064" y="5537200"/>
                  <a:pt x="4787892" y="5537200"/>
                </a:cubicBezTo>
                <a:lnTo>
                  <a:pt x="152408" y="5537200"/>
                </a:lnTo>
                <a:cubicBezTo>
                  <a:pt x="68236" y="5537200"/>
                  <a:pt x="0" y="5468964"/>
                  <a:pt x="0" y="53847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655667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Shape 29"/>
          <p:cNvSpPr/>
          <p:nvPr/>
        </p:nvSpPr>
        <p:spPr>
          <a:xfrm>
            <a:off x="5858867" y="2832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023967" y="3035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09550" y="0"/>
                </a:moveTo>
                <a:cubicBezTo>
                  <a:pt x="209550" y="-10537"/>
                  <a:pt x="201037" y="-19050"/>
                  <a:pt x="190500" y="-19050"/>
                </a:cubicBezTo>
                <a:cubicBezTo>
                  <a:pt x="179963" y="-19050"/>
                  <a:pt x="171450" y="-10537"/>
                  <a:pt x="171450" y="0"/>
                </a:cubicBezTo>
                <a:lnTo>
                  <a:pt x="171450" y="38100"/>
                </a:lnTo>
                <a:lnTo>
                  <a:pt x="114300" y="38100"/>
                </a:lnTo>
                <a:cubicBezTo>
                  <a:pt x="82748" y="38100"/>
                  <a:pt x="57150" y="63698"/>
                  <a:pt x="57150" y="95250"/>
                </a:cubicBezTo>
                <a:lnTo>
                  <a:pt x="57150" y="228600"/>
                </a:lnTo>
                <a:cubicBezTo>
                  <a:pt x="57150" y="260152"/>
                  <a:pt x="82748" y="285750"/>
                  <a:pt x="114300" y="285750"/>
                </a:cubicBezTo>
                <a:lnTo>
                  <a:pt x="266700" y="285750"/>
                </a:lnTo>
                <a:cubicBezTo>
                  <a:pt x="298252" y="285750"/>
                  <a:pt x="323850" y="260152"/>
                  <a:pt x="323850" y="228600"/>
                </a:cubicBezTo>
                <a:lnTo>
                  <a:pt x="323850" y="95250"/>
                </a:lnTo>
                <a:cubicBezTo>
                  <a:pt x="323850" y="63698"/>
                  <a:pt x="298252" y="38100"/>
                  <a:pt x="266700" y="38100"/>
                </a:cubicBezTo>
                <a:lnTo>
                  <a:pt x="209550" y="38100"/>
                </a:lnTo>
                <a:lnTo>
                  <a:pt x="209550" y="0"/>
                </a:lnTo>
                <a:close/>
                <a:moveTo>
                  <a:pt x="95250" y="219075"/>
                </a:moveTo>
                <a:cubicBezTo>
                  <a:pt x="95250" y="211157"/>
                  <a:pt x="101620" y="204787"/>
                  <a:pt x="109537" y="204787"/>
                </a:cubicBezTo>
                <a:lnTo>
                  <a:pt x="128588" y="204787"/>
                </a:lnTo>
                <a:cubicBezTo>
                  <a:pt x="136505" y="204787"/>
                  <a:pt x="142875" y="211157"/>
                  <a:pt x="142875" y="219075"/>
                </a:cubicBezTo>
                <a:cubicBezTo>
                  <a:pt x="142875" y="226993"/>
                  <a:pt x="136505" y="233363"/>
                  <a:pt x="128588" y="233363"/>
                </a:cubicBezTo>
                <a:lnTo>
                  <a:pt x="109537" y="233363"/>
                </a:lnTo>
                <a:cubicBezTo>
                  <a:pt x="101620" y="233363"/>
                  <a:pt x="95250" y="226993"/>
                  <a:pt x="95250" y="219075"/>
                </a:cubicBezTo>
                <a:close/>
                <a:moveTo>
                  <a:pt x="166688" y="219075"/>
                </a:moveTo>
                <a:cubicBezTo>
                  <a:pt x="166688" y="211157"/>
                  <a:pt x="173057" y="204787"/>
                  <a:pt x="180975" y="204787"/>
                </a:cubicBezTo>
                <a:lnTo>
                  <a:pt x="200025" y="204787"/>
                </a:lnTo>
                <a:cubicBezTo>
                  <a:pt x="207943" y="204787"/>
                  <a:pt x="214313" y="211157"/>
                  <a:pt x="214313" y="219075"/>
                </a:cubicBezTo>
                <a:cubicBezTo>
                  <a:pt x="214313" y="226993"/>
                  <a:pt x="207943" y="233363"/>
                  <a:pt x="200025" y="233363"/>
                </a:cubicBezTo>
                <a:lnTo>
                  <a:pt x="180975" y="233363"/>
                </a:lnTo>
                <a:cubicBezTo>
                  <a:pt x="173057" y="233363"/>
                  <a:pt x="166688" y="226993"/>
                  <a:pt x="166688" y="219075"/>
                </a:cubicBezTo>
                <a:close/>
                <a:moveTo>
                  <a:pt x="238125" y="219075"/>
                </a:moveTo>
                <a:cubicBezTo>
                  <a:pt x="238125" y="211157"/>
                  <a:pt x="244495" y="204787"/>
                  <a:pt x="252413" y="204787"/>
                </a:cubicBezTo>
                <a:lnTo>
                  <a:pt x="271463" y="204787"/>
                </a:lnTo>
                <a:cubicBezTo>
                  <a:pt x="279380" y="204787"/>
                  <a:pt x="285750" y="211157"/>
                  <a:pt x="285750" y="219075"/>
                </a:cubicBezTo>
                <a:cubicBezTo>
                  <a:pt x="285750" y="226993"/>
                  <a:pt x="279380" y="233363"/>
                  <a:pt x="271463" y="233363"/>
                </a:cubicBezTo>
                <a:lnTo>
                  <a:pt x="252413" y="233363"/>
                </a:lnTo>
                <a:cubicBezTo>
                  <a:pt x="244495" y="233363"/>
                  <a:pt x="238125" y="226993"/>
                  <a:pt x="238125" y="219075"/>
                </a:cubicBezTo>
                <a:close/>
                <a:moveTo>
                  <a:pt x="133350" y="104775"/>
                </a:moveTo>
                <a:cubicBezTo>
                  <a:pt x="149121" y="104775"/>
                  <a:pt x="161925" y="117579"/>
                  <a:pt x="161925" y="133350"/>
                </a:cubicBezTo>
                <a:cubicBezTo>
                  <a:pt x="161925" y="149121"/>
                  <a:pt x="149121" y="161925"/>
                  <a:pt x="133350" y="161925"/>
                </a:cubicBezTo>
                <a:cubicBezTo>
                  <a:pt x="117579" y="161925"/>
                  <a:pt x="104775" y="149121"/>
                  <a:pt x="104775" y="133350"/>
                </a:cubicBezTo>
                <a:cubicBezTo>
                  <a:pt x="104775" y="117579"/>
                  <a:pt x="117579" y="104775"/>
                  <a:pt x="133350" y="104775"/>
                </a:cubicBezTo>
                <a:close/>
                <a:moveTo>
                  <a:pt x="219075" y="133350"/>
                </a:moveTo>
                <a:cubicBezTo>
                  <a:pt x="219075" y="117579"/>
                  <a:pt x="231879" y="104775"/>
                  <a:pt x="247650" y="104775"/>
                </a:cubicBezTo>
                <a:cubicBezTo>
                  <a:pt x="263421" y="104775"/>
                  <a:pt x="276225" y="117579"/>
                  <a:pt x="276225" y="133350"/>
                </a:cubicBezTo>
                <a:cubicBezTo>
                  <a:pt x="276225" y="149121"/>
                  <a:pt x="263421" y="161925"/>
                  <a:pt x="247650" y="161925"/>
                </a:cubicBezTo>
                <a:cubicBezTo>
                  <a:pt x="231879" y="161925"/>
                  <a:pt x="219075" y="149121"/>
                  <a:pt x="219075" y="133350"/>
                </a:cubicBezTo>
                <a:close/>
                <a:moveTo>
                  <a:pt x="38100" y="133350"/>
                </a:moveTo>
                <a:cubicBezTo>
                  <a:pt x="38100" y="122813"/>
                  <a:pt x="29587" y="114300"/>
                  <a:pt x="19050" y="114300"/>
                </a:cubicBezTo>
                <a:cubicBezTo>
                  <a:pt x="8513" y="114300"/>
                  <a:pt x="0" y="122813"/>
                  <a:pt x="0" y="133350"/>
                </a:cubicBezTo>
                <a:lnTo>
                  <a:pt x="0" y="190500"/>
                </a:lnTo>
                <a:cubicBezTo>
                  <a:pt x="0" y="201037"/>
                  <a:pt x="8513" y="209550"/>
                  <a:pt x="19050" y="209550"/>
                </a:cubicBezTo>
                <a:cubicBezTo>
                  <a:pt x="29587" y="209550"/>
                  <a:pt x="38100" y="201037"/>
                  <a:pt x="38100" y="190500"/>
                </a:cubicBezTo>
                <a:lnTo>
                  <a:pt x="38100" y="133350"/>
                </a:lnTo>
                <a:close/>
                <a:moveTo>
                  <a:pt x="361950" y="114300"/>
                </a:moveTo>
                <a:cubicBezTo>
                  <a:pt x="351413" y="114300"/>
                  <a:pt x="342900" y="122813"/>
                  <a:pt x="342900" y="133350"/>
                </a:cubicBezTo>
                <a:lnTo>
                  <a:pt x="342900" y="190500"/>
                </a:lnTo>
                <a:cubicBezTo>
                  <a:pt x="342900" y="201037"/>
                  <a:pt x="351413" y="209550"/>
                  <a:pt x="361950" y="209550"/>
                </a:cubicBezTo>
                <a:cubicBezTo>
                  <a:pt x="372487" y="209550"/>
                  <a:pt x="381000" y="201037"/>
                  <a:pt x="381000" y="190500"/>
                </a:cubicBezTo>
                <a:lnTo>
                  <a:pt x="381000" y="133350"/>
                </a:lnTo>
                <a:cubicBezTo>
                  <a:pt x="381000" y="122813"/>
                  <a:pt x="372487" y="114300"/>
                  <a:pt x="361950" y="1143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6722467" y="2794000"/>
            <a:ext cx="16637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Copilot for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Obsidian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58867" y="3733800"/>
            <a:ext cx="4533900" cy="1828800"/>
          </a:xfrm>
          <a:custGeom>
            <a:avLst/>
            <a:gdLst/>
            <a:ahLst/>
            <a:cxnLst/>
            <a:rect l="l" t="t" r="r" b="b"/>
            <a:pathLst>
              <a:path w="4533900" h="1828800">
                <a:moveTo>
                  <a:pt x="101608" y="0"/>
                </a:moveTo>
                <a:lnTo>
                  <a:pt x="4432292" y="0"/>
                </a:lnTo>
                <a:cubicBezTo>
                  <a:pt x="4488408" y="0"/>
                  <a:pt x="4533900" y="45492"/>
                  <a:pt x="4533900" y="101608"/>
                </a:cubicBezTo>
                <a:lnTo>
                  <a:pt x="4533900" y="1727192"/>
                </a:lnTo>
                <a:cubicBezTo>
                  <a:pt x="4533900" y="1783308"/>
                  <a:pt x="4488408" y="1828800"/>
                  <a:pt x="44322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011267" y="38862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039842" y="4292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7" name="Text 35"/>
          <p:cNvSpPr/>
          <p:nvPr/>
        </p:nvSpPr>
        <p:spPr>
          <a:xfrm>
            <a:off x="6303367" y="42418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Vault-wide Q&amp;A (premium)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039842" y="459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Text 37"/>
          <p:cNvSpPr/>
          <p:nvPr/>
        </p:nvSpPr>
        <p:spPr>
          <a:xfrm>
            <a:off x="6303367" y="4546600"/>
            <a:ext cx="146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 note editing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39842" y="490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6303367" y="4851400"/>
            <a:ext cx="210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prompt templates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39842" y="520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1"/>
          <p:cNvSpPr/>
          <p:nvPr/>
        </p:nvSpPr>
        <p:spPr>
          <a:xfrm>
            <a:off x="6303367" y="5156200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AI model support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858867" y="5664200"/>
            <a:ext cx="4533900" cy="1219200"/>
          </a:xfrm>
          <a:custGeom>
            <a:avLst/>
            <a:gdLst/>
            <a:ahLst/>
            <a:cxnLst/>
            <a:rect l="l" t="t" r="r" b="b"/>
            <a:pathLst>
              <a:path w="4533900" h="1219200">
                <a:moveTo>
                  <a:pt x="101596" y="0"/>
                </a:moveTo>
                <a:lnTo>
                  <a:pt x="4432304" y="0"/>
                </a:lnTo>
                <a:cubicBezTo>
                  <a:pt x="4488414" y="0"/>
                  <a:pt x="4533900" y="45486"/>
                  <a:pt x="4533900" y="101596"/>
                </a:cubicBezTo>
                <a:lnTo>
                  <a:pt x="4533900" y="1117604"/>
                </a:lnTo>
                <a:cubicBezTo>
                  <a:pt x="4533900" y="1173714"/>
                  <a:pt x="4488414" y="1219200"/>
                  <a:pt x="4432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011267" y="5816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 &amp; Cons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30317" y="622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47" name="Text 45"/>
          <p:cNvSpPr/>
          <p:nvPr/>
        </p:nvSpPr>
        <p:spPr>
          <a:xfrm>
            <a:off x="6303367" y="6172200"/>
            <a:ext cx="213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Polished, powerful models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030317" y="652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9" name="Text 47"/>
          <p:cNvSpPr/>
          <p:nvPr/>
        </p:nvSpPr>
        <p:spPr>
          <a:xfrm>
            <a:off x="6303367" y="6477000"/>
            <a:ext cx="195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Cloud-dependent, costs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58867" y="6985000"/>
            <a:ext cx="4533900" cy="914400"/>
          </a:xfrm>
          <a:custGeom>
            <a:avLst/>
            <a:gdLst/>
            <a:ahLst/>
            <a:cxnLst/>
            <a:rect l="l" t="t" r="r" b="b"/>
            <a:pathLst>
              <a:path w="4533900" h="914400">
                <a:moveTo>
                  <a:pt x="101599" y="0"/>
                </a:moveTo>
                <a:lnTo>
                  <a:pt x="4432301" y="0"/>
                </a:lnTo>
                <a:cubicBezTo>
                  <a:pt x="4488413" y="0"/>
                  <a:pt x="4533900" y="45487"/>
                  <a:pt x="4533900" y="101599"/>
                </a:cubicBezTo>
                <a:lnTo>
                  <a:pt x="4533900" y="812801"/>
                </a:lnTo>
                <a:cubicBezTo>
                  <a:pt x="4533900" y="868913"/>
                  <a:pt x="4488413" y="914400"/>
                  <a:pt x="4432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D4A373">
                  <a:alpha val="30000"/>
                </a:srgbClr>
              </a:gs>
              <a:gs pos="100000">
                <a:srgbClr val="D4A373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1" name="Text 49"/>
          <p:cNvSpPr/>
          <p:nvPr/>
        </p:nvSpPr>
        <p:spPr>
          <a:xfrm>
            <a:off x="6011267" y="71374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011267" y="7442200"/>
            <a:ext cx="433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AI-assisted editing &amp; Q&amp;A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803334" y="2565400"/>
            <a:ext cx="4940300" cy="5537200"/>
          </a:xfrm>
          <a:custGeom>
            <a:avLst/>
            <a:gdLst/>
            <a:ahLst/>
            <a:cxnLst/>
            <a:rect l="l" t="t" r="r" b="b"/>
            <a:pathLst>
              <a:path w="4940300" h="55372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384792"/>
                </a:lnTo>
                <a:cubicBezTo>
                  <a:pt x="4940300" y="5468964"/>
                  <a:pt x="4872064" y="5537200"/>
                  <a:pt x="4787892" y="5537200"/>
                </a:cubicBezTo>
                <a:lnTo>
                  <a:pt x="152408" y="5537200"/>
                </a:lnTo>
                <a:cubicBezTo>
                  <a:pt x="68236" y="5537200"/>
                  <a:pt x="0" y="5468964"/>
                  <a:pt x="0" y="5384792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803334" y="2565400"/>
            <a:ext cx="4940300" cy="50800"/>
          </a:xfrm>
          <a:custGeom>
            <a:avLst/>
            <a:gdLst/>
            <a:ahLst/>
            <a:cxnLst/>
            <a:rect l="l" t="t" r="r" b="b"/>
            <a:pathLst>
              <a:path w="4940300" h="50800">
                <a:moveTo>
                  <a:pt x="50800" y="0"/>
                </a:moveTo>
                <a:lnTo>
                  <a:pt x="4889500" y="0"/>
                </a:lnTo>
                <a:cubicBezTo>
                  <a:pt x="4917537" y="0"/>
                  <a:pt x="4940300" y="22763"/>
                  <a:pt x="4940300" y="50800"/>
                </a:cubicBezTo>
                <a:lnTo>
                  <a:pt x="49403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006534" y="28321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09734" y="3035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7232" y="7263"/>
                </a:moveTo>
                <a:lnTo>
                  <a:pt x="184725" y="59769"/>
                </a:lnTo>
                <a:lnTo>
                  <a:pt x="245031" y="120075"/>
                </a:lnTo>
                <a:lnTo>
                  <a:pt x="297537" y="67568"/>
                </a:lnTo>
                <a:cubicBezTo>
                  <a:pt x="302181" y="62865"/>
                  <a:pt x="304800" y="56555"/>
                  <a:pt x="304800" y="50006"/>
                </a:cubicBezTo>
                <a:cubicBezTo>
                  <a:pt x="304800" y="43458"/>
                  <a:pt x="302181" y="37148"/>
                  <a:pt x="297537" y="32445"/>
                </a:cubicBezTo>
                <a:lnTo>
                  <a:pt x="272355" y="7263"/>
                </a:lnTo>
                <a:cubicBezTo>
                  <a:pt x="267653" y="2619"/>
                  <a:pt x="261342" y="0"/>
                  <a:pt x="254794" y="0"/>
                </a:cubicBezTo>
                <a:cubicBezTo>
                  <a:pt x="248245" y="0"/>
                  <a:pt x="241935" y="2619"/>
                  <a:pt x="237232" y="7263"/>
                </a:cubicBezTo>
                <a:close/>
                <a:moveTo>
                  <a:pt x="164544" y="79950"/>
                </a:moveTo>
                <a:lnTo>
                  <a:pt x="7263" y="237232"/>
                </a:lnTo>
                <a:cubicBezTo>
                  <a:pt x="2619" y="241935"/>
                  <a:pt x="0" y="248245"/>
                  <a:pt x="0" y="254794"/>
                </a:cubicBezTo>
                <a:cubicBezTo>
                  <a:pt x="0" y="261342"/>
                  <a:pt x="2619" y="267653"/>
                  <a:pt x="7263" y="272355"/>
                </a:cubicBezTo>
                <a:lnTo>
                  <a:pt x="32445" y="297537"/>
                </a:lnTo>
                <a:cubicBezTo>
                  <a:pt x="37148" y="302181"/>
                  <a:pt x="43458" y="304800"/>
                  <a:pt x="50006" y="304800"/>
                </a:cubicBezTo>
                <a:cubicBezTo>
                  <a:pt x="56555" y="304800"/>
                  <a:pt x="62865" y="302181"/>
                  <a:pt x="67568" y="297537"/>
                </a:cubicBezTo>
                <a:lnTo>
                  <a:pt x="224850" y="140256"/>
                </a:lnTo>
                <a:lnTo>
                  <a:pt x="164544" y="79950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7" name="Text 55"/>
          <p:cNvSpPr/>
          <p:nvPr/>
        </p:nvSpPr>
        <p:spPr>
          <a:xfrm>
            <a:off x="11870134" y="2794000"/>
            <a:ext cx="1625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Composer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006534" y="3733800"/>
            <a:ext cx="4533900" cy="1828800"/>
          </a:xfrm>
          <a:custGeom>
            <a:avLst/>
            <a:gdLst/>
            <a:ahLst/>
            <a:cxnLst/>
            <a:rect l="l" t="t" r="r" b="b"/>
            <a:pathLst>
              <a:path w="4533900" h="1828800">
                <a:moveTo>
                  <a:pt x="101608" y="0"/>
                </a:moveTo>
                <a:lnTo>
                  <a:pt x="4432292" y="0"/>
                </a:lnTo>
                <a:cubicBezTo>
                  <a:pt x="4488408" y="0"/>
                  <a:pt x="4533900" y="45492"/>
                  <a:pt x="4533900" y="101608"/>
                </a:cubicBezTo>
                <a:lnTo>
                  <a:pt x="4533900" y="1727192"/>
                </a:lnTo>
                <a:cubicBezTo>
                  <a:pt x="4533900" y="1783308"/>
                  <a:pt x="4488408" y="1828800"/>
                  <a:pt x="4432292" y="1828800"/>
                </a:cubicBezTo>
                <a:lnTo>
                  <a:pt x="101608" y="1828800"/>
                </a:lnTo>
                <a:cubicBezTo>
                  <a:pt x="45492" y="1828800"/>
                  <a:pt x="0" y="1783308"/>
                  <a:pt x="0" y="1727192"/>
                </a:cubicBezTo>
                <a:lnTo>
                  <a:pt x="0" y="101608"/>
                </a:lnTo>
                <a:cubicBezTo>
                  <a:pt x="0" y="45529"/>
                  <a:pt x="45529" y="0"/>
                  <a:pt x="101608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1158934" y="38862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Features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87509" y="4292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1" name="Text 59"/>
          <p:cNvSpPr/>
          <p:nvPr/>
        </p:nvSpPr>
        <p:spPr>
          <a:xfrm>
            <a:off x="11451034" y="4241800"/>
            <a:ext cx="203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Fastest chat performance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187509" y="4597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3" name="Text 61"/>
          <p:cNvSpPr/>
          <p:nvPr/>
        </p:nvSpPr>
        <p:spPr>
          <a:xfrm>
            <a:off x="11451034" y="45466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MCP server support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1187509" y="4902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5" name="Text 63"/>
          <p:cNvSpPr/>
          <p:nvPr/>
        </p:nvSpPr>
        <p:spPr>
          <a:xfrm>
            <a:off x="11451034" y="4851400"/>
            <a:ext cx="196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Inline editing like Copilot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1187509" y="5207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67" name="Text 65"/>
          <p:cNvSpPr/>
          <p:nvPr/>
        </p:nvSpPr>
        <p:spPr>
          <a:xfrm>
            <a:off x="11451034" y="5156200"/>
            <a:ext cx="2222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Ollama local model support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006534" y="5664200"/>
            <a:ext cx="4533900" cy="1219200"/>
          </a:xfrm>
          <a:custGeom>
            <a:avLst/>
            <a:gdLst/>
            <a:ahLst/>
            <a:cxnLst/>
            <a:rect l="l" t="t" r="r" b="b"/>
            <a:pathLst>
              <a:path w="4533900" h="1219200">
                <a:moveTo>
                  <a:pt x="101596" y="0"/>
                </a:moveTo>
                <a:lnTo>
                  <a:pt x="4432304" y="0"/>
                </a:lnTo>
                <a:cubicBezTo>
                  <a:pt x="4488414" y="0"/>
                  <a:pt x="4533900" y="45486"/>
                  <a:pt x="4533900" y="101596"/>
                </a:cubicBezTo>
                <a:lnTo>
                  <a:pt x="4533900" y="1117604"/>
                </a:lnTo>
                <a:cubicBezTo>
                  <a:pt x="4533900" y="1173714"/>
                  <a:pt x="4488414" y="1219200"/>
                  <a:pt x="4432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1158934" y="58166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Pros &amp; Cons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177984" y="622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9056" y="102394"/>
                </a:moveTo>
                <a:lnTo>
                  <a:pt x="69056" y="83344"/>
                </a:ln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lnTo>
                  <a:pt x="69056" y="69056"/>
                </a:lnTo>
                <a:lnTo>
                  <a:pt x="69056" y="50006"/>
                </a:lnTo>
                <a:cubicBezTo>
                  <a:pt x="69056" y="46047"/>
                  <a:pt x="72241" y="42863"/>
                  <a:pt x="76200" y="42863"/>
                </a:cubicBezTo>
                <a:cubicBezTo>
                  <a:pt x="80159" y="42863"/>
                  <a:pt x="83344" y="46047"/>
                  <a:pt x="83344" y="50006"/>
                </a:cubicBezTo>
                <a:lnTo>
                  <a:pt x="83344" y="69056"/>
                </a:ln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83344" y="83344"/>
                </a:lnTo>
                <a:lnTo>
                  <a:pt x="83344" y="102394"/>
                </a:lnTo>
                <a:cubicBezTo>
                  <a:pt x="83344" y="106353"/>
                  <a:pt x="80159" y="109537"/>
                  <a:pt x="76200" y="109537"/>
                </a:cubicBezTo>
                <a:cubicBezTo>
                  <a:pt x="72241" y="109537"/>
                  <a:pt x="69056" y="106353"/>
                  <a:pt x="69056" y="102394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1" name="Text 69"/>
          <p:cNvSpPr/>
          <p:nvPr/>
        </p:nvSpPr>
        <p:spPr>
          <a:xfrm>
            <a:off x="11451034" y="6172200"/>
            <a:ext cx="166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Speed, MCP, flexible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1177984" y="6527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50006" y="69056"/>
                </a:moveTo>
                <a:lnTo>
                  <a:pt x="102394" y="69056"/>
                </a:lnTo>
                <a:cubicBezTo>
                  <a:pt x="106353" y="69056"/>
                  <a:pt x="109537" y="72241"/>
                  <a:pt x="109537" y="76200"/>
                </a:cubicBezTo>
                <a:cubicBezTo>
                  <a:pt x="109537" y="80159"/>
                  <a:pt x="106353" y="83344"/>
                  <a:pt x="102394" y="83344"/>
                </a:cubicBezTo>
                <a:lnTo>
                  <a:pt x="50006" y="83344"/>
                </a:lnTo>
                <a:cubicBezTo>
                  <a:pt x="46047" y="83344"/>
                  <a:pt x="42863" y="80159"/>
                  <a:pt x="42863" y="76200"/>
                </a:cubicBezTo>
                <a:cubicBezTo>
                  <a:pt x="42863" y="72241"/>
                  <a:pt x="46047" y="69056"/>
                  <a:pt x="50006" y="6905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3" name="Text 71"/>
          <p:cNvSpPr/>
          <p:nvPr/>
        </p:nvSpPr>
        <p:spPr>
          <a:xfrm>
            <a:off x="11451034" y="6477000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Newer, less mature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006534" y="6985000"/>
            <a:ext cx="4533900" cy="914400"/>
          </a:xfrm>
          <a:custGeom>
            <a:avLst/>
            <a:gdLst/>
            <a:ahLst/>
            <a:cxnLst/>
            <a:rect l="l" t="t" r="r" b="b"/>
            <a:pathLst>
              <a:path w="4533900" h="914400">
                <a:moveTo>
                  <a:pt x="101599" y="0"/>
                </a:moveTo>
                <a:lnTo>
                  <a:pt x="4432301" y="0"/>
                </a:lnTo>
                <a:cubicBezTo>
                  <a:pt x="4488413" y="0"/>
                  <a:pt x="4533900" y="45487"/>
                  <a:pt x="4533900" y="101599"/>
                </a:cubicBezTo>
                <a:lnTo>
                  <a:pt x="4533900" y="812801"/>
                </a:lnTo>
                <a:cubicBezTo>
                  <a:pt x="4533900" y="868913"/>
                  <a:pt x="4488413" y="914400"/>
                  <a:pt x="44323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30000"/>
                </a:srgbClr>
              </a:gs>
              <a:gs pos="100000">
                <a:srgbClr val="788A9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75" name="Text 73"/>
          <p:cNvSpPr/>
          <p:nvPr/>
        </p:nvSpPr>
        <p:spPr>
          <a:xfrm>
            <a:off x="11158934" y="7137400"/>
            <a:ext cx="431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158934" y="7442200"/>
            <a:ext cx="433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&amp; advanced integrations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514350" y="8312150"/>
            <a:ext cx="15227300" cy="2197100"/>
          </a:xfrm>
          <a:custGeom>
            <a:avLst/>
            <a:gdLst/>
            <a:ahLst/>
            <a:cxnLst/>
            <a:rect l="l" t="t" r="r" b="b"/>
            <a:pathLst>
              <a:path w="15227300" h="2197100">
                <a:moveTo>
                  <a:pt x="152391" y="0"/>
                </a:moveTo>
                <a:lnTo>
                  <a:pt x="15074909" y="0"/>
                </a:lnTo>
                <a:cubicBezTo>
                  <a:pt x="15159016" y="0"/>
                  <a:pt x="15227300" y="68284"/>
                  <a:pt x="15227300" y="152391"/>
                </a:cubicBezTo>
                <a:lnTo>
                  <a:pt x="15227300" y="2044709"/>
                </a:lnTo>
                <a:cubicBezTo>
                  <a:pt x="15227300" y="2128872"/>
                  <a:pt x="15159072" y="2197100"/>
                  <a:pt x="150749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20000"/>
                </a:srgbClr>
              </a:gs>
              <a:gs pos="50000">
                <a:srgbClr val="D4A373">
                  <a:alpha val="20000"/>
                </a:srgbClr>
              </a:gs>
              <a:gs pos="100000">
                <a:srgbClr val="788A9C">
                  <a:alpha val="20000"/>
                </a:srgbClr>
              </a:gs>
            </a:gsLst>
            <a:lin ang="0" scaled="1"/>
          </a:gra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55650" y="8572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52152" y="161280"/>
                </a:moveTo>
                <a:lnTo>
                  <a:pt x="80566" y="188813"/>
                </a:lnTo>
                <a:cubicBezTo>
                  <a:pt x="70941" y="192534"/>
                  <a:pt x="61466" y="183059"/>
                  <a:pt x="65187" y="173434"/>
                </a:cubicBezTo>
                <a:lnTo>
                  <a:pt x="92720" y="101848"/>
                </a:lnTo>
                <a:cubicBezTo>
                  <a:pt x="94357" y="97631"/>
                  <a:pt x="97631" y="94357"/>
                  <a:pt x="101848" y="92720"/>
                </a:cubicBezTo>
                <a:lnTo>
                  <a:pt x="173434" y="65187"/>
                </a:lnTo>
                <a:cubicBezTo>
                  <a:pt x="183059" y="61466"/>
                  <a:pt x="192534" y="70941"/>
                  <a:pt x="188813" y="80566"/>
                </a:cubicBezTo>
                <a:lnTo>
                  <a:pt x="161280" y="152152"/>
                </a:lnTo>
                <a:cubicBezTo>
                  <a:pt x="159693" y="156369"/>
                  <a:pt x="156369" y="159643"/>
                  <a:pt x="152152" y="161280"/>
                </a:cubicBezTo>
                <a:close/>
                <a:moveTo>
                  <a:pt x="142875" y="127000"/>
                </a:moveTo>
                <a:cubicBezTo>
                  <a:pt x="142875" y="118238"/>
                  <a:pt x="135762" y="111125"/>
                  <a:pt x="127000" y="111125"/>
                </a:cubicBezTo>
                <a:cubicBezTo>
                  <a:pt x="118238" y="111125"/>
                  <a:pt x="111125" y="118238"/>
                  <a:pt x="111125" y="127000"/>
                </a:cubicBezTo>
                <a:cubicBezTo>
                  <a:pt x="111125" y="135762"/>
                  <a:pt x="118238" y="142875"/>
                  <a:pt x="127000" y="142875"/>
                </a:cubicBezTo>
                <a:cubicBezTo>
                  <a:pt x="135762" y="142875"/>
                  <a:pt x="142875" y="135762"/>
                  <a:pt x="142875" y="1270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9" name="Text 77"/>
          <p:cNvSpPr/>
          <p:nvPr/>
        </p:nvSpPr>
        <p:spPr>
          <a:xfrm>
            <a:off x="1041400" y="8521700"/>
            <a:ext cx="14617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Guide: Which Plugin to Choose?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23900" y="9029700"/>
            <a:ext cx="3594100" cy="1270000"/>
          </a:xfrm>
          <a:custGeom>
            <a:avLst/>
            <a:gdLst/>
            <a:ahLst/>
            <a:cxnLst/>
            <a:rect l="l" t="t" r="r" b="b"/>
            <a:pathLst>
              <a:path w="3594100" h="1270000">
                <a:moveTo>
                  <a:pt x="101600" y="0"/>
                </a:moveTo>
                <a:lnTo>
                  <a:pt x="3492500" y="0"/>
                </a:lnTo>
                <a:cubicBezTo>
                  <a:pt x="3548575" y="0"/>
                  <a:pt x="3594100" y="45525"/>
                  <a:pt x="3594100" y="101600"/>
                </a:cubicBezTo>
                <a:lnTo>
                  <a:pt x="3594100" y="1168400"/>
                </a:lnTo>
                <a:cubicBezTo>
                  <a:pt x="3594100" y="1224475"/>
                  <a:pt x="3548575" y="1270000"/>
                  <a:pt x="3492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876300" y="91821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Priority: Privacy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876300" y="95377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Connections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876300" y="98933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Local-first, offline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4464050" y="9029700"/>
            <a:ext cx="3594100" cy="1270000"/>
          </a:xfrm>
          <a:custGeom>
            <a:avLst/>
            <a:gdLst/>
            <a:ahLst/>
            <a:cxnLst/>
            <a:rect l="l" t="t" r="r" b="b"/>
            <a:pathLst>
              <a:path w="3594100" h="1270000">
                <a:moveTo>
                  <a:pt x="101600" y="0"/>
                </a:moveTo>
                <a:lnTo>
                  <a:pt x="3492500" y="0"/>
                </a:lnTo>
                <a:cubicBezTo>
                  <a:pt x="3548575" y="0"/>
                  <a:pt x="3594100" y="45525"/>
                  <a:pt x="3594100" y="101600"/>
                </a:cubicBezTo>
                <a:lnTo>
                  <a:pt x="3594100" y="1168400"/>
                </a:lnTo>
                <a:cubicBezTo>
                  <a:pt x="3594100" y="1224475"/>
                  <a:pt x="3548575" y="1270000"/>
                  <a:pt x="3492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85" name="Text 83"/>
          <p:cNvSpPr/>
          <p:nvPr/>
        </p:nvSpPr>
        <p:spPr>
          <a:xfrm>
            <a:off x="4616450" y="91821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Priority: Editing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4616450" y="95377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Copilot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4616450" y="98933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AI writing assist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8204200" y="9029700"/>
            <a:ext cx="3594100" cy="1270000"/>
          </a:xfrm>
          <a:custGeom>
            <a:avLst/>
            <a:gdLst/>
            <a:ahLst/>
            <a:cxnLst/>
            <a:rect l="l" t="t" r="r" b="b"/>
            <a:pathLst>
              <a:path w="3594100" h="1270000">
                <a:moveTo>
                  <a:pt x="101600" y="0"/>
                </a:moveTo>
                <a:lnTo>
                  <a:pt x="3492500" y="0"/>
                </a:lnTo>
                <a:cubicBezTo>
                  <a:pt x="3548575" y="0"/>
                  <a:pt x="3594100" y="45525"/>
                  <a:pt x="3594100" y="101600"/>
                </a:cubicBezTo>
                <a:lnTo>
                  <a:pt x="3594100" y="1168400"/>
                </a:lnTo>
                <a:cubicBezTo>
                  <a:pt x="3594100" y="1224475"/>
                  <a:pt x="3548575" y="1270000"/>
                  <a:pt x="3492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8356600" y="91821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Priority: Speed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8356600" y="95377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Composer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8356600" y="98933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Fastest performance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11944350" y="9029700"/>
            <a:ext cx="3594100" cy="1270000"/>
          </a:xfrm>
          <a:custGeom>
            <a:avLst/>
            <a:gdLst/>
            <a:ahLst/>
            <a:cxnLst/>
            <a:rect l="l" t="t" r="r" b="b"/>
            <a:pathLst>
              <a:path w="3594100" h="1270000">
                <a:moveTo>
                  <a:pt x="101600" y="0"/>
                </a:moveTo>
                <a:lnTo>
                  <a:pt x="3492500" y="0"/>
                </a:lnTo>
                <a:cubicBezTo>
                  <a:pt x="3548575" y="0"/>
                  <a:pt x="3594100" y="45525"/>
                  <a:pt x="3594100" y="101600"/>
                </a:cubicBezTo>
                <a:lnTo>
                  <a:pt x="3594100" y="1168400"/>
                </a:lnTo>
                <a:cubicBezTo>
                  <a:pt x="3594100" y="1224475"/>
                  <a:pt x="3548575" y="1270000"/>
                  <a:pt x="34925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93" name="Text 91"/>
          <p:cNvSpPr/>
          <p:nvPr/>
        </p:nvSpPr>
        <p:spPr>
          <a:xfrm>
            <a:off x="12096750" y="91821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Combo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12096750" y="9537700"/>
            <a:ext cx="339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Connections + Composer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12096750" y="9893300"/>
            <a:ext cx="337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+ Speed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2712c147a723e86a81b85f147c653cc1ba9d87d9.jp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16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SECTION 09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08000" y="914400"/>
            <a:ext cx="15544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Real-World Applications: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From Theory to Practice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08000" y="2286000"/>
            <a:ext cx="1422400" cy="50800"/>
          </a:xfrm>
          <a:custGeom>
            <a:avLst/>
            <a:gdLst/>
            <a:ahLst/>
            <a:cxnLst/>
            <a:rect l="l" t="t" r="r" b="b"/>
            <a:pathLst>
              <a:path w="1422400" h="50800">
                <a:moveTo>
                  <a:pt x="0" y="0"/>
                </a:moveTo>
                <a:lnTo>
                  <a:pt x="1422400" y="0"/>
                </a:lnTo>
                <a:lnTo>
                  <a:pt x="1422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7" name="Shape 4"/>
          <p:cNvSpPr/>
          <p:nvPr/>
        </p:nvSpPr>
        <p:spPr>
          <a:xfrm>
            <a:off x="533400" y="2540000"/>
            <a:ext cx="7493000" cy="2336800"/>
          </a:xfrm>
          <a:custGeom>
            <a:avLst/>
            <a:gdLst/>
            <a:ahLst/>
            <a:cxnLst/>
            <a:rect l="l" t="t" r="r" b="b"/>
            <a:pathLst>
              <a:path w="7493000" h="2336800">
                <a:moveTo>
                  <a:pt x="50800" y="0"/>
                </a:moveTo>
                <a:lnTo>
                  <a:pt x="7340594" y="0"/>
                </a:lnTo>
                <a:cubicBezTo>
                  <a:pt x="7424765" y="0"/>
                  <a:pt x="7493000" y="68235"/>
                  <a:pt x="7493000" y="152406"/>
                </a:cubicBezTo>
                <a:lnTo>
                  <a:pt x="7493000" y="2184394"/>
                </a:lnTo>
                <a:cubicBezTo>
                  <a:pt x="7493000" y="2268565"/>
                  <a:pt x="7424765" y="2336800"/>
                  <a:pt x="73405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3400" y="25400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9" name="Shape 6"/>
          <p:cNvSpPr/>
          <p:nvPr/>
        </p:nvSpPr>
        <p:spPr>
          <a:xfrm>
            <a:off x="7620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23925" y="29210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23812" y="97135"/>
                </a:moveTo>
                <a:lnTo>
                  <a:pt x="127595" y="139849"/>
                </a:lnTo>
                <a:cubicBezTo>
                  <a:pt x="132457" y="141833"/>
                  <a:pt x="137616" y="142875"/>
                  <a:pt x="142875" y="142875"/>
                </a:cubicBezTo>
                <a:cubicBezTo>
                  <a:pt x="148134" y="142875"/>
                  <a:pt x="153293" y="141833"/>
                  <a:pt x="158155" y="139849"/>
                </a:cubicBezTo>
                <a:lnTo>
                  <a:pt x="278408" y="90339"/>
                </a:lnTo>
                <a:cubicBezTo>
                  <a:pt x="282873" y="88503"/>
                  <a:pt x="285750" y="84187"/>
                  <a:pt x="285750" y="79375"/>
                </a:cubicBezTo>
                <a:cubicBezTo>
                  <a:pt x="285750" y="74563"/>
                  <a:pt x="282873" y="70247"/>
                  <a:pt x="278408" y="68411"/>
                </a:cubicBezTo>
                <a:lnTo>
                  <a:pt x="158155" y="18901"/>
                </a:lnTo>
                <a:cubicBezTo>
                  <a:pt x="153293" y="16917"/>
                  <a:pt x="148134" y="15875"/>
                  <a:pt x="142875" y="15875"/>
                </a:cubicBezTo>
                <a:cubicBezTo>
                  <a:pt x="137616" y="15875"/>
                  <a:pt x="132457" y="16917"/>
                  <a:pt x="127595" y="18901"/>
                </a:cubicBezTo>
                <a:lnTo>
                  <a:pt x="7342" y="68411"/>
                </a:lnTo>
                <a:cubicBezTo>
                  <a:pt x="2877" y="70247"/>
                  <a:pt x="0" y="74563"/>
                  <a:pt x="0" y="79375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cubicBezTo>
                  <a:pt x="18504" y="238125"/>
                  <a:pt x="23812" y="232817"/>
                  <a:pt x="23812" y="226219"/>
                </a:cubicBezTo>
                <a:lnTo>
                  <a:pt x="23812" y="97135"/>
                </a:lnTo>
                <a:close/>
                <a:moveTo>
                  <a:pt x="47625" y="132705"/>
                </a:moveTo>
                <a:lnTo>
                  <a:pt x="47625" y="190500"/>
                </a:lnTo>
                <a:cubicBezTo>
                  <a:pt x="47625" y="216793"/>
                  <a:pt x="90289" y="238125"/>
                  <a:pt x="142875" y="238125"/>
                </a:cubicBezTo>
                <a:cubicBezTo>
                  <a:pt x="195461" y="238125"/>
                  <a:pt x="238125" y="216793"/>
                  <a:pt x="238125" y="190500"/>
                </a:cubicBezTo>
                <a:lnTo>
                  <a:pt x="238125" y="132655"/>
                </a:lnTo>
                <a:lnTo>
                  <a:pt x="167233" y="161875"/>
                </a:lnTo>
                <a:cubicBezTo>
                  <a:pt x="159494" y="165050"/>
                  <a:pt x="151259" y="166687"/>
                  <a:pt x="142875" y="166687"/>
                </a:cubicBezTo>
                <a:cubicBezTo>
                  <a:pt x="134491" y="166687"/>
                  <a:pt x="126256" y="165050"/>
                  <a:pt x="118517" y="161875"/>
                </a:cubicBezTo>
                <a:lnTo>
                  <a:pt x="47625" y="132655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8"/>
          <p:cNvSpPr/>
          <p:nvPr/>
        </p:nvSpPr>
        <p:spPr>
          <a:xfrm>
            <a:off x="1524000" y="27432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Study Guides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24000" y="32004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creates personalized study materials referencing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own notes, highlights, and learning history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24000" y="3962400"/>
            <a:ext cx="6299200" cy="711200"/>
          </a:xfrm>
          <a:custGeom>
            <a:avLst/>
            <a:gdLst/>
            <a:ahLst/>
            <a:cxnLst/>
            <a:rect l="l" t="t" r="r" b="b"/>
            <a:pathLst>
              <a:path w="6299200" h="711200">
                <a:moveTo>
                  <a:pt x="101602" y="0"/>
                </a:moveTo>
                <a:lnTo>
                  <a:pt x="6197598" y="0"/>
                </a:lnTo>
                <a:cubicBezTo>
                  <a:pt x="6253711" y="0"/>
                  <a:pt x="6299200" y="45489"/>
                  <a:pt x="6299200" y="101602"/>
                </a:cubicBezTo>
                <a:lnTo>
                  <a:pt x="6299200" y="609598"/>
                </a:lnTo>
                <a:cubicBezTo>
                  <a:pt x="6299200" y="665711"/>
                  <a:pt x="6253711" y="711200"/>
                  <a:pt x="6197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524000" y="3962400"/>
            <a:ext cx="63881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"Create a review guide for my Machine Learning notes, focusing on concepts I struggled with"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3400" y="5029200"/>
            <a:ext cx="7493000" cy="2082800"/>
          </a:xfrm>
          <a:custGeom>
            <a:avLst/>
            <a:gdLst/>
            <a:ahLst/>
            <a:cxnLst/>
            <a:rect l="l" t="t" r="r" b="b"/>
            <a:pathLst>
              <a:path w="7493000" h="2082800">
                <a:moveTo>
                  <a:pt x="50800" y="0"/>
                </a:moveTo>
                <a:lnTo>
                  <a:pt x="7340602" y="0"/>
                </a:lnTo>
                <a:cubicBezTo>
                  <a:pt x="7424769" y="0"/>
                  <a:pt x="7493000" y="68231"/>
                  <a:pt x="7493000" y="152398"/>
                </a:cubicBezTo>
                <a:lnTo>
                  <a:pt x="7493000" y="1930402"/>
                </a:lnTo>
                <a:cubicBezTo>
                  <a:pt x="7493000" y="2014569"/>
                  <a:pt x="7424769" y="2082800"/>
                  <a:pt x="7340602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533400" y="50292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7" name="Shape 14"/>
          <p:cNvSpPr/>
          <p:nvPr/>
        </p:nvSpPr>
        <p:spPr>
          <a:xfrm>
            <a:off x="762000" y="5232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39800" y="5410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85291" y="13444"/>
                </a:moveTo>
                <a:cubicBezTo>
                  <a:pt x="192732" y="4911"/>
                  <a:pt x="203498" y="0"/>
                  <a:pt x="214858" y="0"/>
                </a:cubicBezTo>
                <a:cubicBezTo>
                  <a:pt x="236488" y="0"/>
                  <a:pt x="254050" y="17562"/>
                  <a:pt x="254050" y="39191"/>
                </a:cubicBezTo>
                <a:cubicBezTo>
                  <a:pt x="254050" y="50502"/>
                  <a:pt x="249138" y="61317"/>
                  <a:pt x="240605" y="68759"/>
                </a:cubicBezTo>
                <a:lnTo>
                  <a:pt x="140742" y="155674"/>
                </a:lnTo>
                <a:lnTo>
                  <a:pt x="135434" y="150316"/>
                </a:lnTo>
                <a:lnTo>
                  <a:pt x="103684" y="118566"/>
                </a:lnTo>
                <a:lnTo>
                  <a:pt x="98326" y="113258"/>
                </a:lnTo>
                <a:lnTo>
                  <a:pt x="185291" y="13444"/>
                </a:lnTo>
                <a:close/>
                <a:moveTo>
                  <a:pt x="79921" y="128488"/>
                </a:moveTo>
                <a:cubicBezTo>
                  <a:pt x="80367" y="128984"/>
                  <a:pt x="93266" y="141883"/>
                  <a:pt x="118566" y="167184"/>
                </a:cubicBezTo>
                <a:lnTo>
                  <a:pt x="125462" y="174079"/>
                </a:lnTo>
                <a:lnTo>
                  <a:pt x="116979" y="210889"/>
                </a:lnTo>
                <a:cubicBezTo>
                  <a:pt x="115044" y="219373"/>
                  <a:pt x="108595" y="226120"/>
                  <a:pt x="100211" y="228451"/>
                </a:cubicBezTo>
                <a:lnTo>
                  <a:pt x="15974" y="252016"/>
                </a:lnTo>
                <a:lnTo>
                  <a:pt x="61764" y="206226"/>
                </a:lnTo>
                <a:cubicBezTo>
                  <a:pt x="62359" y="206276"/>
                  <a:pt x="62905" y="206325"/>
                  <a:pt x="63500" y="206325"/>
                </a:cubicBezTo>
                <a:cubicBezTo>
                  <a:pt x="72281" y="206325"/>
                  <a:pt x="79375" y="199231"/>
                  <a:pt x="79375" y="190450"/>
                </a:cubicBezTo>
                <a:cubicBezTo>
                  <a:pt x="79375" y="181670"/>
                  <a:pt x="72281" y="174575"/>
                  <a:pt x="63500" y="174575"/>
                </a:cubicBezTo>
                <a:cubicBezTo>
                  <a:pt x="54719" y="174575"/>
                  <a:pt x="47625" y="181670"/>
                  <a:pt x="47625" y="190450"/>
                </a:cubicBezTo>
                <a:cubicBezTo>
                  <a:pt x="47625" y="191046"/>
                  <a:pt x="47675" y="191641"/>
                  <a:pt x="47724" y="192187"/>
                </a:cubicBezTo>
                <a:lnTo>
                  <a:pt x="1935" y="238026"/>
                </a:lnTo>
                <a:lnTo>
                  <a:pt x="25549" y="153789"/>
                </a:lnTo>
                <a:cubicBezTo>
                  <a:pt x="27880" y="145405"/>
                  <a:pt x="34627" y="138956"/>
                  <a:pt x="43111" y="137021"/>
                </a:cubicBezTo>
                <a:lnTo>
                  <a:pt x="79921" y="12848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Text 16"/>
          <p:cNvSpPr/>
          <p:nvPr/>
        </p:nvSpPr>
        <p:spPr>
          <a:xfrm>
            <a:off x="1524000" y="52324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Writing Assistants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24000" y="56896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understands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writing style, voice, and previous work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provide contextually appropriate suggestions.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24000" y="6451600"/>
            <a:ext cx="6299200" cy="457200"/>
          </a:xfrm>
          <a:custGeom>
            <a:avLst/>
            <a:gdLst/>
            <a:ahLst/>
            <a:cxnLst/>
            <a:rect l="l" t="t" r="r" b="b"/>
            <a:pathLst>
              <a:path w="6299200" h="457200">
                <a:moveTo>
                  <a:pt x="101599" y="0"/>
                </a:moveTo>
                <a:lnTo>
                  <a:pt x="6197601" y="0"/>
                </a:lnTo>
                <a:cubicBezTo>
                  <a:pt x="6253713" y="0"/>
                  <a:pt x="6299200" y="45487"/>
                  <a:pt x="6299200" y="101599"/>
                </a:cubicBezTo>
                <a:lnTo>
                  <a:pt x="6299200" y="355601"/>
                </a:lnTo>
                <a:cubicBezTo>
                  <a:pt x="6299200" y="411713"/>
                  <a:pt x="6253713" y="457200"/>
                  <a:pt x="619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524000" y="6451600"/>
            <a:ext cx="63881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"Continue this blog post in my usual technical writing style"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33400" y="7264400"/>
            <a:ext cx="7493000" cy="2336800"/>
          </a:xfrm>
          <a:custGeom>
            <a:avLst/>
            <a:gdLst/>
            <a:ahLst/>
            <a:cxnLst/>
            <a:rect l="l" t="t" r="r" b="b"/>
            <a:pathLst>
              <a:path w="7493000" h="2336800">
                <a:moveTo>
                  <a:pt x="50800" y="0"/>
                </a:moveTo>
                <a:lnTo>
                  <a:pt x="7340594" y="0"/>
                </a:lnTo>
                <a:cubicBezTo>
                  <a:pt x="7424765" y="0"/>
                  <a:pt x="7493000" y="68235"/>
                  <a:pt x="7493000" y="152406"/>
                </a:cubicBezTo>
                <a:lnTo>
                  <a:pt x="7493000" y="2184394"/>
                </a:lnTo>
                <a:cubicBezTo>
                  <a:pt x="7493000" y="2268565"/>
                  <a:pt x="7424765" y="2336800"/>
                  <a:pt x="7340594" y="2336800"/>
                </a:cubicBez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33400" y="7264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5080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50800" y="2336800"/>
                </a:lnTo>
                <a:cubicBezTo>
                  <a:pt x="22763" y="2336800"/>
                  <a:pt x="0" y="2314037"/>
                  <a:pt x="0" y="228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5" name="Shape 22"/>
          <p:cNvSpPr/>
          <p:nvPr/>
        </p:nvSpPr>
        <p:spPr>
          <a:xfrm>
            <a:off x="762000" y="7467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39800" y="7645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0"/>
                </a:moveTo>
                <a:cubicBezTo>
                  <a:pt x="74166" y="0"/>
                  <a:pt x="63500" y="10666"/>
                  <a:pt x="63500" y="23812"/>
                </a:cubicBezTo>
                <a:lnTo>
                  <a:pt x="63500" y="127000"/>
                </a:lnTo>
                <a:cubicBezTo>
                  <a:pt x="63500" y="140146"/>
                  <a:pt x="74166" y="150813"/>
                  <a:pt x="87313" y="150813"/>
                </a:cubicBezTo>
                <a:lnTo>
                  <a:pt x="119063" y="150813"/>
                </a:lnTo>
                <a:cubicBezTo>
                  <a:pt x="132209" y="150813"/>
                  <a:pt x="142875" y="140146"/>
                  <a:pt x="142875" y="127000"/>
                </a:cubicBezTo>
                <a:lnTo>
                  <a:pt x="142875" y="95250"/>
                </a:lnTo>
                <a:lnTo>
                  <a:pt x="158750" y="95250"/>
                </a:lnTo>
                <a:cubicBezTo>
                  <a:pt x="193824" y="95250"/>
                  <a:pt x="222250" y="123676"/>
                  <a:pt x="222250" y="158750"/>
                </a:cubicBezTo>
                <a:cubicBezTo>
                  <a:pt x="222250" y="193824"/>
                  <a:pt x="193824" y="222250"/>
                  <a:pt x="158750" y="222250"/>
                </a:cubicBezTo>
                <a:lnTo>
                  <a:pt x="15875" y="222250"/>
                </a:lnTo>
                <a:cubicBezTo>
                  <a:pt x="7094" y="222250"/>
                  <a:pt x="0" y="229344"/>
                  <a:pt x="0" y="238125"/>
                </a:cubicBezTo>
                <a:cubicBezTo>
                  <a:pt x="0" y="246906"/>
                  <a:pt x="7094" y="254000"/>
                  <a:pt x="15875" y="254000"/>
                </a:cubicBezTo>
                <a:lnTo>
                  <a:pt x="238125" y="254000"/>
                </a:lnTo>
                <a:cubicBezTo>
                  <a:pt x="246906" y="254000"/>
                  <a:pt x="254000" y="246906"/>
                  <a:pt x="254000" y="238125"/>
                </a:cubicBezTo>
                <a:cubicBezTo>
                  <a:pt x="254000" y="229344"/>
                  <a:pt x="246906" y="222250"/>
                  <a:pt x="238125" y="222250"/>
                </a:cubicBezTo>
                <a:lnTo>
                  <a:pt x="229741" y="222250"/>
                </a:lnTo>
                <a:cubicBezTo>
                  <a:pt x="244822" y="205383"/>
                  <a:pt x="254000" y="183158"/>
                  <a:pt x="254000" y="158750"/>
                </a:cubicBezTo>
                <a:cubicBezTo>
                  <a:pt x="254000" y="106164"/>
                  <a:pt x="211336" y="63500"/>
                  <a:pt x="158750" y="63500"/>
                </a:cubicBezTo>
                <a:lnTo>
                  <a:pt x="142875" y="63500"/>
                </a:lnTo>
                <a:lnTo>
                  <a:pt x="142875" y="23812"/>
                </a:lnTo>
                <a:cubicBezTo>
                  <a:pt x="142875" y="10666"/>
                  <a:pt x="132209" y="0"/>
                  <a:pt x="119063" y="0"/>
                </a:cubicBezTo>
                <a:lnTo>
                  <a:pt x="87313" y="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46844" y="198438"/>
                </a:lnTo>
                <a:cubicBezTo>
                  <a:pt x="153442" y="198438"/>
                  <a:pt x="158750" y="193129"/>
                  <a:pt x="158750" y="186531"/>
                </a:cubicBezTo>
                <a:cubicBezTo>
                  <a:pt x="158750" y="179933"/>
                  <a:pt x="153442" y="174625"/>
                  <a:pt x="146844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7" name="Text 24"/>
          <p:cNvSpPr/>
          <p:nvPr/>
        </p:nvSpPr>
        <p:spPr>
          <a:xfrm>
            <a:off x="1524000" y="74676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Companions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24000" y="79248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insights across papers, projects, and research notes with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cross-referencing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524000" y="8686800"/>
            <a:ext cx="6299200" cy="711200"/>
          </a:xfrm>
          <a:custGeom>
            <a:avLst/>
            <a:gdLst/>
            <a:ahLst/>
            <a:cxnLst/>
            <a:rect l="l" t="t" r="r" b="b"/>
            <a:pathLst>
              <a:path w="6299200" h="711200">
                <a:moveTo>
                  <a:pt x="101602" y="0"/>
                </a:moveTo>
                <a:lnTo>
                  <a:pt x="6197598" y="0"/>
                </a:lnTo>
                <a:cubicBezTo>
                  <a:pt x="6253711" y="0"/>
                  <a:pt x="6299200" y="45489"/>
                  <a:pt x="6299200" y="101602"/>
                </a:cubicBezTo>
                <a:lnTo>
                  <a:pt x="6299200" y="609598"/>
                </a:lnTo>
                <a:cubicBezTo>
                  <a:pt x="6299200" y="665711"/>
                  <a:pt x="6253711" y="711200"/>
                  <a:pt x="6197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1524000" y="8686800"/>
            <a:ext cx="6388100" cy="711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"Find all notes related to transformer architectures from my reading list"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255000" y="2540000"/>
            <a:ext cx="7493000" cy="2082800"/>
          </a:xfrm>
          <a:custGeom>
            <a:avLst/>
            <a:gdLst/>
            <a:ahLst/>
            <a:cxnLst/>
            <a:rect l="l" t="t" r="r" b="b"/>
            <a:pathLst>
              <a:path w="7493000" h="2082800">
                <a:moveTo>
                  <a:pt x="50800" y="0"/>
                </a:moveTo>
                <a:lnTo>
                  <a:pt x="7340602" y="0"/>
                </a:lnTo>
                <a:cubicBezTo>
                  <a:pt x="7424769" y="0"/>
                  <a:pt x="7493000" y="68231"/>
                  <a:pt x="7493000" y="152398"/>
                </a:cubicBezTo>
                <a:lnTo>
                  <a:pt x="7493000" y="1930402"/>
                </a:lnTo>
                <a:cubicBezTo>
                  <a:pt x="7493000" y="2014569"/>
                  <a:pt x="7424769" y="2082800"/>
                  <a:pt x="7340602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8255000" y="25400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3" name="Shape 30"/>
          <p:cNvSpPr/>
          <p:nvPr/>
        </p:nvSpPr>
        <p:spPr>
          <a:xfrm>
            <a:off x="8483600" y="2743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8677275" y="2921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152995" y="113457"/>
                </a:moveTo>
                <a:cubicBezTo>
                  <a:pt x="156468" y="107900"/>
                  <a:pt x="154781" y="100558"/>
                  <a:pt x="149225" y="97036"/>
                </a:cubicBezTo>
                <a:cubicBezTo>
                  <a:pt x="143669" y="93514"/>
                  <a:pt x="136327" y="95250"/>
                  <a:pt x="132804" y="100806"/>
                </a:cubicBezTo>
                <a:lnTo>
                  <a:pt x="102344" y="149572"/>
                </a:lnTo>
                <a:lnTo>
                  <a:pt x="88950" y="131713"/>
                </a:lnTo>
                <a:cubicBezTo>
                  <a:pt x="84981" y="126454"/>
                  <a:pt x="77539" y="125363"/>
                  <a:pt x="72281" y="129332"/>
                </a:cubicBezTo>
                <a:cubicBezTo>
                  <a:pt x="67022" y="133300"/>
                  <a:pt x="65931" y="140742"/>
                  <a:pt x="69900" y="146000"/>
                </a:cubicBezTo>
                <a:lnTo>
                  <a:pt x="93712" y="177750"/>
                </a:lnTo>
                <a:cubicBezTo>
                  <a:pt x="96044" y="180876"/>
                  <a:pt x="99814" y="182662"/>
                  <a:pt x="103733" y="182513"/>
                </a:cubicBezTo>
                <a:cubicBezTo>
                  <a:pt x="107652" y="182364"/>
                  <a:pt x="111224" y="180280"/>
                  <a:pt x="113308" y="176907"/>
                </a:cubicBezTo>
                <a:lnTo>
                  <a:pt x="152995" y="11340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35" name="Text 32"/>
          <p:cNvSpPr/>
          <p:nvPr/>
        </p:nvSpPr>
        <p:spPr>
          <a:xfrm>
            <a:off x="9245600" y="27432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Weekly Reflections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245600" y="32004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synthesizes new notes, suggests organization, and creates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personalized weekly summaries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9245600" y="3962400"/>
            <a:ext cx="6299200" cy="457200"/>
          </a:xfrm>
          <a:custGeom>
            <a:avLst/>
            <a:gdLst/>
            <a:ahLst/>
            <a:cxnLst/>
            <a:rect l="l" t="t" r="r" b="b"/>
            <a:pathLst>
              <a:path w="6299200" h="457200">
                <a:moveTo>
                  <a:pt x="101599" y="0"/>
                </a:moveTo>
                <a:lnTo>
                  <a:pt x="6197601" y="0"/>
                </a:lnTo>
                <a:cubicBezTo>
                  <a:pt x="6253713" y="0"/>
                  <a:pt x="6299200" y="45487"/>
                  <a:pt x="6299200" y="101599"/>
                </a:cubicBezTo>
                <a:lnTo>
                  <a:pt x="6299200" y="355601"/>
                </a:lnTo>
                <a:cubicBezTo>
                  <a:pt x="6299200" y="411713"/>
                  <a:pt x="6253713" y="457200"/>
                  <a:pt x="619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9245600" y="3962400"/>
            <a:ext cx="63881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"Review my week's notes and suggest where to file each one"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55000" y="4775200"/>
            <a:ext cx="7493000" cy="2082800"/>
          </a:xfrm>
          <a:custGeom>
            <a:avLst/>
            <a:gdLst/>
            <a:ahLst/>
            <a:cxnLst/>
            <a:rect l="l" t="t" r="r" b="b"/>
            <a:pathLst>
              <a:path w="7493000" h="2082800">
                <a:moveTo>
                  <a:pt x="50800" y="0"/>
                </a:moveTo>
                <a:lnTo>
                  <a:pt x="7340602" y="0"/>
                </a:lnTo>
                <a:cubicBezTo>
                  <a:pt x="7424769" y="0"/>
                  <a:pt x="7493000" y="68231"/>
                  <a:pt x="7493000" y="152398"/>
                </a:cubicBezTo>
                <a:lnTo>
                  <a:pt x="7493000" y="1930402"/>
                </a:lnTo>
                <a:cubicBezTo>
                  <a:pt x="7493000" y="2014569"/>
                  <a:pt x="7424769" y="2082800"/>
                  <a:pt x="7340602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255000" y="47752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Shape 38"/>
          <p:cNvSpPr/>
          <p:nvPr/>
        </p:nvSpPr>
        <p:spPr>
          <a:xfrm>
            <a:off x="8483600" y="4978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4A373">
              <a:alpha val="2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8661400" y="5156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3" name="Text 40"/>
          <p:cNvSpPr/>
          <p:nvPr/>
        </p:nvSpPr>
        <p:spPr>
          <a:xfrm>
            <a:off x="9245600" y="49784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Knowledge Management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245600" y="54356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project summaries, decision tracking, and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updates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new information arrives.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9245600" y="6197600"/>
            <a:ext cx="6299200" cy="457200"/>
          </a:xfrm>
          <a:custGeom>
            <a:avLst/>
            <a:gdLst/>
            <a:ahLst/>
            <a:cxnLst/>
            <a:rect l="l" t="t" r="r" b="b"/>
            <a:pathLst>
              <a:path w="6299200" h="457200">
                <a:moveTo>
                  <a:pt x="101599" y="0"/>
                </a:moveTo>
                <a:lnTo>
                  <a:pt x="6197601" y="0"/>
                </a:lnTo>
                <a:cubicBezTo>
                  <a:pt x="6253713" y="0"/>
                  <a:pt x="6299200" y="45487"/>
                  <a:pt x="6299200" y="101599"/>
                </a:cubicBezTo>
                <a:lnTo>
                  <a:pt x="6299200" y="355601"/>
                </a:lnTo>
                <a:cubicBezTo>
                  <a:pt x="6299200" y="411713"/>
                  <a:pt x="6253713" y="457200"/>
                  <a:pt x="619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9245600" y="6197600"/>
            <a:ext cx="63881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"Update the project summary with today's meeting decisions"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8255000" y="7010400"/>
            <a:ext cx="7493000" cy="2082800"/>
          </a:xfrm>
          <a:custGeom>
            <a:avLst/>
            <a:gdLst/>
            <a:ahLst/>
            <a:cxnLst/>
            <a:rect l="l" t="t" r="r" b="b"/>
            <a:pathLst>
              <a:path w="7493000" h="2082800">
                <a:moveTo>
                  <a:pt x="50800" y="0"/>
                </a:moveTo>
                <a:lnTo>
                  <a:pt x="7340602" y="0"/>
                </a:lnTo>
                <a:cubicBezTo>
                  <a:pt x="7424769" y="0"/>
                  <a:pt x="7493000" y="68231"/>
                  <a:pt x="7493000" y="152398"/>
                </a:cubicBezTo>
                <a:lnTo>
                  <a:pt x="7493000" y="1930402"/>
                </a:lnTo>
                <a:cubicBezTo>
                  <a:pt x="7493000" y="2014569"/>
                  <a:pt x="7424769" y="2082800"/>
                  <a:pt x="7340602" y="2082800"/>
                </a:cubicBez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8255000" y="70104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5080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50800" y="2082800"/>
                </a:lnTo>
                <a:cubicBezTo>
                  <a:pt x="22763" y="2082800"/>
                  <a:pt x="0" y="2060037"/>
                  <a:pt x="0" y="203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9" name="Shape 46"/>
          <p:cNvSpPr/>
          <p:nvPr/>
        </p:nvSpPr>
        <p:spPr>
          <a:xfrm>
            <a:off x="8483600" y="7213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8677275" y="73914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1125" y="31750"/>
                </a:moveTo>
                <a:cubicBezTo>
                  <a:pt x="71934" y="31750"/>
                  <a:pt x="39340" y="60176"/>
                  <a:pt x="32891" y="97582"/>
                </a:cubicBezTo>
                <a:cubicBezTo>
                  <a:pt x="37505" y="96093"/>
                  <a:pt x="42466" y="95250"/>
                  <a:pt x="47625" y="95250"/>
                </a:cubicBezTo>
                <a:lnTo>
                  <a:pt x="55563" y="95250"/>
                </a:lnTo>
                <a:cubicBezTo>
                  <a:pt x="68709" y="95250"/>
                  <a:pt x="79375" y="105916"/>
                  <a:pt x="79375" y="119063"/>
                </a:cubicBezTo>
                <a:lnTo>
                  <a:pt x="79375" y="166688"/>
                </a:lnTo>
                <a:cubicBezTo>
                  <a:pt x="79375" y="179834"/>
                  <a:pt x="68709" y="190500"/>
                  <a:pt x="55563" y="190500"/>
                </a:cubicBezTo>
                <a:lnTo>
                  <a:pt x="47625" y="190500"/>
                </a:lnTo>
                <a:cubicBezTo>
                  <a:pt x="21332" y="190500"/>
                  <a:pt x="0" y="169168"/>
                  <a:pt x="0" y="142875"/>
                </a:cubicBezTo>
                <a:lnTo>
                  <a:pt x="0" y="111125"/>
                </a:lnTo>
                <a:cubicBezTo>
                  <a:pt x="0" y="49758"/>
                  <a:pt x="49758" y="0"/>
                  <a:pt x="111125" y="0"/>
                </a:cubicBezTo>
                <a:cubicBezTo>
                  <a:pt x="172492" y="0"/>
                  <a:pt x="222250" y="49758"/>
                  <a:pt x="222250" y="111125"/>
                </a:cubicBezTo>
                <a:lnTo>
                  <a:pt x="222250" y="194518"/>
                </a:lnTo>
                <a:cubicBezTo>
                  <a:pt x="222250" y="227409"/>
                  <a:pt x="195560" y="254050"/>
                  <a:pt x="162669" y="254050"/>
                </a:cubicBezTo>
                <a:lnTo>
                  <a:pt x="119062" y="254000"/>
                </a:lnTo>
                <a:lnTo>
                  <a:pt x="103187" y="254000"/>
                </a:lnTo>
                <a:cubicBezTo>
                  <a:pt x="90041" y="254000"/>
                  <a:pt x="79375" y="243334"/>
                  <a:pt x="79375" y="230188"/>
                </a:cubicBezTo>
                <a:cubicBezTo>
                  <a:pt x="79375" y="217041"/>
                  <a:pt x="90041" y="206375"/>
                  <a:pt x="103187" y="206375"/>
                </a:cubicBezTo>
                <a:lnTo>
                  <a:pt x="119062" y="206375"/>
                </a:lnTo>
                <a:cubicBezTo>
                  <a:pt x="132209" y="206375"/>
                  <a:pt x="142875" y="217041"/>
                  <a:pt x="142875" y="230188"/>
                </a:cubicBezTo>
                <a:lnTo>
                  <a:pt x="142875" y="230188"/>
                </a:lnTo>
                <a:lnTo>
                  <a:pt x="162719" y="230188"/>
                </a:lnTo>
                <a:cubicBezTo>
                  <a:pt x="182463" y="230188"/>
                  <a:pt x="198438" y="214213"/>
                  <a:pt x="198438" y="194469"/>
                </a:cubicBezTo>
                <a:lnTo>
                  <a:pt x="198438" y="184100"/>
                </a:lnTo>
                <a:cubicBezTo>
                  <a:pt x="191443" y="188168"/>
                  <a:pt x="183307" y="190450"/>
                  <a:pt x="174625" y="190450"/>
                </a:cubicBezTo>
                <a:lnTo>
                  <a:pt x="166688" y="190450"/>
                </a:lnTo>
                <a:cubicBezTo>
                  <a:pt x="153541" y="190450"/>
                  <a:pt x="142875" y="179784"/>
                  <a:pt x="142875" y="166638"/>
                </a:cubicBezTo>
                <a:lnTo>
                  <a:pt x="142875" y="119013"/>
                </a:lnTo>
                <a:cubicBezTo>
                  <a:pt x="142875" y="105866"/>
                  <a:pt x="153541" y="95200"/>
                  <a:pt x="166688" y="95200"/>
                </a:cubicBezTo>
                <a:lnTo>
                  <a:pt x="174625" y="95200"/>
                </a:lnTo>
                <a:cubicBezTo>
                  <a:pt x="179784" y="95200"/>
                  <a:pt x="184696" y="95994"/>
                  <a:pt x="189359" y="97532"/>
                </a:cubicBezTo>
                <a:cubicBezTo>
                  <a:pt x="182910" y="60176"/>
                  <a:pt x="150366" y="31700"/>
                  <a:pt x="111125" y="3170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51" name="Text 48"/>
          <p:cNvSpPr/>
          <p:nvPr/>
        </p:nvSpPr>
        <p:spPr>
          <a:xfrm>
            <a:off x="9245600" y="7213600"/>
            <a:ext cx="6426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Personalized Customer Support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9245600" y="7670800"/>
            <a:ext cx="6400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 remember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past interactions, preferences, and context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truly personalized service.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245600" y="8432800"/>
            <a:ext cx="6299200" cy="457200"/>
          </a:xfrm>
          <a:custGeom>
            <a:avLst/>
            <a:gdLst/>
            <a:ahLst/>
            <a:cxnLst/>
            <a:rect l="l" t="t" r="r" b="b"/>
            <a:pathLst>
              <a:path w="6299200" h="457200">
                <a:moveTo>
                  <a:pt x="101599" y="0"/>
                </a:moveTo>
                <a:lnTo>
                  <a:pt x="6197601" y="0"/>
                </a:lnTo>
                <a:cubicBezTo>
                  <a:pt x="6253713" y="0"/>
                  <a:pt x="6299200" y="45487"/>
                  <a:pt x="6299200" y="101599"/>
                </a:cubicBezTo>
                <a:lnTo>
                  <a:pt x="6299200" y="355601"/>
                </a:lnTo>
                <a:cubicBezTo>
                  <a:pt x="6299200" y="411713"/>
                  <a:pt x="6253713" y="457200"/>
                  <a:pt x="6197601" y="457200"/>
                </a:cubicBezTo>
                <a:lnTo>
                  <a:pt x="101599" y="457200"/>
                </a:lnTo>
                <a:cubicBezTo>
                  <a:pt x="45525" y="457200"/>
                  <a:pt x="0" y="411675"/>
                  <a:pt x="0" y="3556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70196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9245600" y="8432800"/>
            <a:ext cx="638810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pPr>
              <a:lnSpc>
                <a:spcPct val="120000"/>
              </a:lnSpc>
            </a:pPr>
            <a:r>
              <a:rPr lang="en-US" sz="14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"Based on their history, suggest solutions for this customer's issue"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514350" y="9759950"/>
            <a:ext cx="15227300" cy="1536700"/>
          </a:xfrm>
          <a:custGeom>
            <a:avLst/>
            <a:gdLst/>
            <a:ahLst/>
            <a:cxnLst/>
            <a:rect l="l" t="t" r="r" b="b"/>
            <a:pathLst>
              <a:path w="15227300" h="1536700">
                <a:moveTo>
                  <a:pt x="152395" y="0"/>
                </a:moveTo>
                <a:lnTo>
                  <a:pt x="15074905" y="0"/>
                </a:lnTo>
                <a:cubicBezTo>
                  <a:pt x="15159071" y="0"/>
                  <a:pt x="15227300" y="68229"/>
                  <a:pt x="15227300" y="152395"/>
                </a:cubicBezTo>
                <a:lnTo>
                  <a:pt x="15227300" y="1384305"/>
                </a:lnTo>
                <a:cubicBezTo>
                  <a:pt x="15227300" y="1468471"/>
                  <a:pt x="15159071" y="1536700"/>
                  <a:pt x="15074905" y="1536700"/>
                </a:cubicBezTo>
                <a:lnTo>
                  <a:pt x="152395" y="1536700"/>
                </a:lnTo>
                <a:cubicBezTo>
                  <a:pt x="68229" y="1536700"/>
                  <a:pt x="0" y="1468471"/>
                  <a:pt x="0" y="13843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50000">
                <a:srgbClr val="D4A373">
                  <a:alpha val="30000"/>
                </a:srgbClr>
              </a:gs>
              <a:gs pos="100000">
                <a:srgbClr val="788A9C">
                  <a:alpha val="30000"/>
                </a:srgbClr>
              </a:gs>
            </a:gsLst>
            <a:lin ang="0" scaled="1"/>
          </a:gradFill>
          <a:ln w="1270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2325" y="103378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7" name="Text 54"/>
          <p:cNvSpPr/>
          <p:nvPr/>
        </p:nvSpPr>
        <p:spPr>
          <a:xfrm>
            <a:off x="1403350" y="9969500"/>
            <a:ext cx="14262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Common Thread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403350" y="10426700"/>
            <a:ext cx="142367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application leverages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own knowledge base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contextually relevant, personalized assistance. The AI doesn't just respond—it understands your context, remembers your preferences, and builds on your accumulated knowledge.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19855cfc6e7e314b4a65cff8b1cc6a586515e1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2687" b="1268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0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7C59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944989" y="-577850"/>
            <a:ext cx="4368800" cy="571500"/>
          </a:xfrm>
          <a:custGeom>
            <a:avLst/>
            <a:gdLst/>
            <a:ahLst/>
            <a:cxnLst/>
            <a:rect l="l" t="t" r="r" b="b"/>
            <a:pathLst>
              <a:path w="4368800" h="571500">
                <a:moveTo>
                  <a:pt x="101601" y="0"/>
                </a:moveTo>
                <a:lnTo>
                  <a:pt x="4267199" y="0"/>
                </a:lnTo>
                <a:cubicBezTo>
                  <a:pt x="4323312" y="0"/>
                  <a:pt x="4368800" y="45488"/>
                  <a:pt x="4368800" y="101601"/>
                </a:cubicBezTo>
                <a:lnTo>
                  <a:pt x="4368800" y="469899"/>
                </a:lnTo>
                <a:cubicBezTo>
                  <a:pt x="4368800" y="526012"/>
                  <a:pt x="4323312" y="571500"/>
                  <a:pt x="42671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7C59">
              <a:alpha val="20000"/>
            </a:srgbClr>
          </a:solidFill>
          <a:ln w="1270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99037" y="-431800"/>
            <a:ext cx="38577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spc="180" kern="0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FUTURE OF PERSONAL 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77445" y="304800"/>
            <a:ext cx="57023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Your Knowledge,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4A7C5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Your Agent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908800" y="2514600"/>
            <a:ext cx="2438400" cy="76200"/>
          </a:xfrm>
          <a:custGeom>
            <a:avLst/>
            <a:gdLst/>
            <a:ahLst/>
            <a:cxnLst/>
            <a:rect l="l" t="t" r="r" b="b"/>
            <a:pathLst>
              <a:path w="2438400" h="76200">
                <a:moveTo>
                  <a:pt x="0" y="0"/>
                </a:moveTo>
                <a:lnTo>
                  <a:pt x="2438400" y="0"/>
                </a:lnTo>
                <a:lnTo>
                  <a:pt x="2438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00000">
                  <a:alpha val="0"/>
                </a:srgbClr>
              </a:gs>
              <a:gs pos="50000">
                <a:srgbClr val="D4A373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2362200" y="3200400"/>
            <a:ext cx="11531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convergence of </a:t>
            </a:r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RAG</a:t>
            </a:r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knowledge management</a:t>
            </a:r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 algn="ctr">
              <a:lnSpc>
                <a:spcPct val="140000"/>
              </a:lnSpc>
            </a:pPr>
            <a:r>
              <a:rPr lang="en-US" sz="24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agents</a:t>
            </a:r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E0E2E5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a paradigm shift from generic assistants to truly personal collaborators.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74900" y="4495800"/>
            <a:ext cx="11506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grounding AI in your Obsidian vault—your curated knowledge, preferences, and thinking patterns—you create agents that don't just respond, but </a:t>
            </a:r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</a:t>
            </a:r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631950" y="5721350"/>
            <a:ext cx="4114800" cy="2197100"/>
          </a:xfrm>
          <a:custGeom>
            <a:avLst/>
            <a:gdLst/>
            <a:ahLst/>
            <a:cxnLst/>
            <a:rect l="l" t="t" r="r" b="b"/>
            <a:pathLst>
              <a:path w="4114800" h="2197100">
                <a:moveTo>
                  <a:pt x="152391" y="0"/>
                </a:moveTo>
                <a:lnTo>
                  <a:pt x="3962409" y="0"/>
                </a:lnTo>
                <a:cubicBezTo>
                  <a:pt x="4046516" y="0"/>
                  <a:pt x="4114800" y="68284"/>
                  <a:pt x="4114800" y="152391"/>
                </a:cubicBezTo>
                <a:lnTo>
                  <a:pt x="4114800" y="2044709"/>
                </a:lnTo>
                <a:cubicBezTo>
                  <a:pt x="4114800" y="2128872"/>
                  <a:pt x="4046572" y="2197100"/>
                  <a:pt x="39624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 w="12700">
            <a:solidFill>
              <a:srgbClr val="4A7C59">
                <a:alpha val="4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2734" y="598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2" name="Text 9"/>
          <p:cNvSpPr/>
          <p:nvPr/>
        </p:nvSpPr>
        <p:spPr>
          <a:xfrm>
            <a:off x="1828800" y="6591300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841500" y="7048500"/>
            <a:ext cx="369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Leverages vast LLM reasoning capabilities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68417" y="5721350"/>
            <a:ext cx="4114800" cy="2197100"/>
          </a:xfrm>
          <a:custGeom>
            <a:avLst/>
            <a:gdLst/>
            <a:ahLst/>
            <a:cxnLst/>
            <a:rect l="l" t="t" r="r" b="b"/>
            <a:pathLst>
              <a:path w="4114800" h="2197100">
                <a:moveTo>
                  <a:pt x="152391" y="0"/>
                </a:moveTo>
                <a:lnTo>
                  <a:pt x="3962409" y="0"/>
                </a:lnTo>
                <a:cubicBezTo>
                  <a:pt x="4046516" y="0"/>
                  <a:pt x="4114800" y="68284"/>
                  <a:pt x="4114800" y="152391"/>
                </a:cubicBezTo>
                <a:lnTo>
                  <a:pt x="4114800" y="2044709"/>
                </a:lnTo>
                <a:cubicBezTo>
                  <a:pt x="4114800" y="2128872"/>
                  <a:pt x="4046572" y="2197100"/>
                  <a:pt x="39624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 w="12700">
            <a:solidFill>
              <a:srgbClr val="D4A373">
                <a:alpha val="4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27777" y="59817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00025" y="221456"/>
                </a:moveTo>
                <a:cubicBezTo>
                  <a:pt x="259166" y="221456"/>
                  <a:pt x="307181" y="173441"/>
                  <a:pt x="307181" y="114300"/>
                </a:cubicBezTo>
                <a:cubicBezTo>
                  <a:pt x="307181" y="55159"/>
                  <a:pt x="259166" y="7144"/>
                  <a:pt x="200025" y="7144"/>
                </a:cubicBezTo>
                <a:cubicBezTo>
                  <a:pt x="140884" y="7144"/>
                  <a:pt x="92869" y="55159"/>
                  <a:pt x="92869" y="114300"/>
                </a:cubicBezTo>
                <a:cubicBezTo>
                  <a:pt x="92869" y="173441"/>
                  <a:pt x="140884" y="221456"/>
                  <a:pt x="200025" y="221456"/>
                </a:cubicBezTo>
                <a:close/>
                <a:moveTo>
                  <a:pt x="173504" y="271463"/>
                </a:moveTo>
                <a:cubicBezTo>
                  <a:pt x="85546" y="271463"/>
                  <a:pt x="14288" y="342721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42721"/>
                  <a:pt x="314504" y="271463"/>
                  <a:pt x="226546" y="271463"/>
                </a:cubicBezTo>
                <a:lnTo>
                  <a:pt x="173504" y="27146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6" name="Text 13"/>
          <p:cNvSpPr/>
          <p:nvPr/>
        </p:nvSpPr>
        <p:spPr>
          <a:xfrm>
            <a:off x="6265267" y="6591300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77967" y="7048500"/>
            <a:ext cx="369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in your intimate knowledge context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504884" y="5721350"/>
            <a:ext cx="4114800" cy="2197100"/>
          </a:xfrm>
          <a:custGeom>
            <a:avLst/>
            <a:gdLst/>
            <a:ahLst/>
            <a:cxnLst/>
            <a:rect l="l" t="t" r="r" b="b"/>
            <a:pathLst>
              <a:path w="4114800" h="2197100">
                <a:moveTo>
                  <a:pt x="152391" y="0"/>
                </a:moveTo>
                <a:lnTo>
                  <a:pt x="3962409" y="0"/>
                </a:lnTo>
                <a:cubicBezTo>
                  <a:pt x="4046516" y="0"/>
                  <a:pt x="4114800" y="68284"/>
                  <a:pt x="4114800" y="152391"/>
                </a:cubicBezTo>
                <a:lnTo>
                  <a:pt x="4114800" y="2044709"/>
                </a:lnTo>
                <a:cubicBezTo>
                  <a:pt x="4114800" y="2128872"/>
                  <a:pt x="4046572" y="2197100"/>
                  <a:pt x="3962409" y="2197100"/>
                </a:cubicBezTo>
                <a:lnTo>
                  <a:pt x="152391" y="2197100"/>
                </a:lnTo>
                <a:cubicBezTo>
                  <a:pt x="68284" y="2197100"/>
                  <a:pt x="0" y="2128816"/>
                  <a:pt x="0" y="204470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2D3136">
              <a:alpha val="70196"/>
            </a:srgbClr>
          </a:solidFill>
          <a:ln w="12700">
            <a:solidFill>
              <a:srgbClr val="788A9C">
                <a:alpha val="4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2335669" y="5981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0" name="Text 17"/>
          <p:cNvSpPr/>
          <p:nvPr/>
        </p:nvSpPr>
        <p:spPr>
          <a:xfrm>
            <a:off x="10701734" y="6591300"/>
            <a:ext cx="3721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Transformative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14434" y="7048500"/>
            <a:ext cx="3695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how you interact with AI forever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291086" y="8337550"/>
            <a:ext cx="9677400" cy="1384300"/>
          </a:xfrm>
          <a:custGeom>
            <a:avLst/>
            <a:gdLst/>
            <a:ahLst/>
            <a:cxnLst/>
            <a:rect l="l" t="t" r="r" b="b"/>
            <a:pathLst>
              <a:path w="9677400" h="1384300">
                <a:moveTo>
                  <a:pt x="152398" y="0"/>
                </a:moveTo>
                <a:lnTo>
                  <a:pt x="9525002" y="0"/>
                </a:lnTo>
                <a:cubicBezTo>
                  <a:pt x="9609169" y="0"/>
                  <a:pt x="9677400" y="68231"/>
                  <a:pt x="9677400" y="152398"/>
                </a:cubicBezTo>
                <a:lnTo>
                  <a:pt x="9677400" y="1231902"/>
                </a:lnTo>
                <a:cubicBezTo>
                  <a:pt x="9677400" y="1316069"/>
                  <a:pt x="9609169" y="1384300"/>
                  <a:pt x="9525002" y="1384300"/>
                </a:cubicBezTo>
                <a:lnTo>
                  <a:pt x="152398" y="1384300"/>
                </a:lnTo>
                <a:cubicBezTo>
                  <a:pt x="68287" y="1384300"/>
                  <a:pt x="0" y="1316013"/>
                  <a:pt x="0" y="12319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gradFill rotWithShape="1" flip="none">
            <a:gsLst>
              <a:gs pos="0">
                <a:srgbClr val="4A7C59">
                  <a:alpha val="30000"/>
                </a:srgbClr>
              </a:gs>
              <a:gs pos="50000">
                <a:srgbClr val="D4A373">
                  <a:alpha val="30000"/>
                </a:srgbClr>
              </a:gs>
              <a:gs pos="100000">
                <a:srgbClr val="788A9C">
                  <a:alpha val="30000"/>
                </a:srgbClr>
              </a:gs>
            </a:gsLst>
            <a:lin ang="0" scaled="1"/>
          </a:gradFill>
          <a:ln w="12700">
            <a:solidFill>
              <a:srgbClr val="4A7C59">
                <a:alpha val="50196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49861" y="86868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0" y="107156"/>
                </a:moveTo>
                <a:cubicBezTo>
                  <a:pt x="0" y="74265"/>
                  <a:pt x="26640" y="47625"/>
                  <a:pt x="59531" y="47625"/>
                </a:cubicBezTo>
                <a:lnTo>
                  <a:pt x="63500" y="47625"/>
                </a:lnTo>
                <a:cubicBezTo>
                  <a:pt x="72281" y="47625"/>
                  <a:pt x="79375" y="54719"/>
                  <a:pt x="79375" y="63500"/>
                </a:cubicBezTo>
                <a:cubicBezTo>
                  <a:pt x="79375" y="72281"/>
                  <a:pt x="72281" y="79375"/>
                  <a:pt x="63500" y="79375"/>
                </a:cubicBezTo>
                <a:lnTo>
                  <a:pt x="59531" y="79375"/>
                </a:lnTo>
                <a:cubicBezTo>
                  <a:pt x="44202" y="79375"/>
                  <a:pt x="31750" y="91827"/>
                  <a:pt x="31750" y="107156"/>
                </a:cubicBezTo>
                <a:lnTo>
                  <a:pt x="31750" y="111125"/>
                </a:lnTo>
                <a:lnTo>
                  <a:pt x="63500" y="111125"/>
                </a:lnTo>
                <a:cubicBezTo>
                  <a:pt x="81012" y="111125"/>
                  <a:pt x="95250" y="125363"/>
                  <a:pt x="95250" y="142875"/>
                </a:cubicBezTo>
                <a:lnTo>
                  <a:pt x="95250" y="174625"/>
                </a:lnTo>
                <a:cubicBezTo>
                  <a:pt x="95250" y="192137"/>
                  <a:pt x="81012" y="206375"/>
                  <a:pt x="63500" y="206375"/>
                </a:cubicBezTo>
                <a:lnTo>
                  <a:pt x="31750" y="206375"/>
                </a:lnTo>
                <a:cubicBezTo>
                  <a:pt x="14238" y="206375"/>
                  <a:pt x="0" y="192137"/>
                  <a:pt x="0" y="174625"/>
                </a:cubicBezTo>
                <a:lnTo>
                  <a:pt x="0" y="107156"/>
                </a:lnTo>
                <a:close/>
                <a:moveTo>
                  <a:pt x="127000" y="107156"/>
                </a:moveTo>
                <a:cubicBezTo>
                  <a:pt x="127000" y="74265"/>
                  <a:pt x="153640" y="47625"/>
                  <a:pt x="186531" y="47625"/>
                </a:cubicBezTo>
                <a:lnTo>
                  <a:pt x="190500" y="47625"/>
                </a:lnTo>
                <a:cubicBezTo>
                  <a:pt x="199281" y="47625"/>
                  <a:pt x="206375" y="54719"/>
                  <a:pt x="206375" y="63500"/>
                </a:cubicBezTo>
                <a:cubicBezTo>
                  <a:pt x="206375" y="72281"/>
                  <a:pt x="199281" y="79375"/>
                  <a:pt x="190500" y="79375"/>
                </a:cubicBezTo>
                <a:lnTo>
                  <a:pt x="186531" y="79375"/>
                </a:lnTo>
                <a:cubicBezTo>
                  <a:pt x="171202" y="79375"/>
                  <a:pt x="158750" y="91827"/>
                  <a:pt x="158750" y="107156"/>
                </a:cubicBezTo>
                <a:lnTo>
                  <a:pt x="158750" y="111125"/>
                </a:lnTo>
                <a:lnTo>
                  <a:pt x="190500" y="111125"/>
                </a:lnTo>
                <a:cubicBezTo>
                  <a:pt x="208012" y="111125"/>
                  <a:pt x="222250" y="125363"/>
                  <a:pt x="222250" y="142875"/>
                </a:cubicBezTo>
                <a:lnTo>
                  <a:pt x="222250" y="174625"/>
                </a:lnTo>
                <a:cubicBezTo>
                  <a:pt x="222250" y="192137"/>
                  <a:pt x="208012" y="206375"/>
                  <a:pt x="190500" y="206375"/>
                </a:cubicBezTo>
                <a:lnTo>
                  <a:pt x="158750" y="206375"/>
                </a:lnTo>
                <a:cubicBezTo>
                  <a:pt x="141238" y="206375"/>
                  <a:pt x="127000" y="192137"/>
                  <a:pt x="127000" y="174625"/>
                </a:cubicBezTo>
                <a:lnTo>
                  <a:pt x="127000" y="10715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1"/>
          <p:cNvSpPr/>
          <p:nvPr/>
        </p:nvSpPr>
        <p:spPr>
          <a:xfrm>
            <a:off x="3957836" y="8648700"/>
            <a:ext cx="876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building your retrieval-augmented personalization system today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551436" y="9105900"/>
            <a:ext cx="915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5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Transform how you work, learn, and create with AI that truly knows you.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Retrieval-Augmented Personalization of AI Agents via Obsidian Vaults</dc:title>
  <dc:subject>Retrieval-Augmented Personalization of AI Agents via Obsidian Vaults</dc:subject>
  <dc:creator>Kimi</dc:creator>
  <cp:lastModifiedBy>Kimi</cp:lastModifiedBy>
  <cp:revision>1</cp:revision>
  <dcterms:created xsi:type="dcterms:W3CDTF">2026-03-25T06:01:54Z</dcterms:created>
  <dcterms:modified xsi:type="dcterms:W3CDTF">2026-03-25T06:01:54Z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{"Label":"Retrieval-Augmented Personalization of AI Agents via Obsidian Vaults","ContentProducer":"001191110108MACG2KBH8F10000","ProduceID":"19d22f11-dda2-8651-8000-0000341be6c0","ReservedCode1":"","ContentPropagator":"001191110108MACG2KBH8F20000","PropagateID":"19d22f11-dda2-8651-8000-0000341be6c0","ReservedCode2":""}</vt:lpwstr>
  </property>
</Properties>
</file>